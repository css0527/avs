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87B5E79-CF44-4ED4-B6E1-D2DD9D4DFCF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页 救援无人车仿真系统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各位评委老师好，我代表 </a:t>
            </a:r>
            <a:r>
              <a:rPr b="0" lang="en-US" sz="2000" spc="-1" strike="noStrike">
                <a:latin typeface="Arial"/>
              </a:rPr>
              <a:t>Simulator </a:t>
            </a:r>
            <a:r>
              <a:rPr b="0" lang="zh-CN" sz="2000" spc="-1" strike="noStrike">
                <a:latin typeface="Arial"/>
              </a:rPr>
              <a:t>队汇报我们的救援无人车仿真系统。我们围绕巡检、清障、标定和返航，完成了一套自主运行的救援勘探流程。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我们的作品面向封闭厂区事故后的初步勘探。无人车从起点出发，先识别走廊中的五类初级灾害标识，再推开核心救援室入口的障碍物，进入室内完成四类核心灾情的识别和地图标定，最后返回起点。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我们使用</a:t>
            </a:r>
            <a:r>
              <a:rPr b="0" lang="en-US" sz="2000" spc="-1" strike="noStrike">
                <a:latin typeface="Arial"/>
              </a:rPr>
              <a:t>Ubuntu 22.04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ROS 2 Humble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Gazebo Classic 11</a:t>
            </a:r>
            <a:r>
              <a:rPr b="0" lang="zh-CN" sz="2000" spc="-1" strike="noStrike">
                <a:latin typeface="Arial"/>
              </a:rPr>
              <a:t>实现系统。</a:t>
            </a:r>
            <a:r>
              <a:rPr b="0" lang="en-US" sz="2000" spc="-1" strike="noStrike">
                <a:latin typeface="Arial"/>
              </a:rPr>
              <a:t>ROS 2</a:t>
            </a:r>
            <a:r>
              <a:rPr b="0" lang="zh-CN" sz="2000" spc="-1" strike="noStrike">
                <a:latin typeface="Arial"/>
              </a:rPr>
              <a:t>连接传感器、视觉、导航和任务控制，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提供车辆、场地和接触动力学。封面的车辆图是依据我们当前</a:t>
            </a:r>
            <a:r>
              <a:rPr b="0" lang="en-US" sz="2000" spc="-1" strike="noStrike">
                <a:latin typeface="Arial"/>
              </a:rPr>
              <a:t>SDF</a:t>
            </a:r>
            <a:r>
              <a:rPr b="0" lang="zh-CN" sz="2000" spc="-1" strike="noStrike">
                <a:latin typeface="Arial"/>
              </a:rPr>
              <a:t>模型渲染的结构图。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问：你们的系统主要难在哪里？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难点在于四个环节要连续衔接。侧墙标识需要稳定观察，入口箱体需要真实接触，清障后旧地图可能仍挡住通道，转动相机的观测还要正确转换成地图坐标。我们分别处理这些问题，再用同一次完整运行验证系统是否完成任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问：你们做的是仿真还是实车？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我们当前完成的是仿真系统，车辆具有质量、惯量、摩擦和碰撞体，箱体是可推动的动态刚体。实车还需要完成传感器标定、驱动适配和接触参数验证。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9D4F69-0542-460F-B602-A30E0AF7A93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页 自建厂区：走廊巡检、清障入室、标定与返航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我们自主搭建了三米见方的厂区，并用激光完成二维建图。按照规则，我们设计了九种不同图案：走廊五类用于分类，核心四类嵌入 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，用于识别和地图标定。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</a:t>
            </a:r>
            <a:r>
              <a:rPr b="0" lang="en-US" sz="2000" spc="-1" strike="noStrike">
                <a:latin typeface="Arial"/>
              </a:rPr>
              <a:t>world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SDF</a:t>
            </a:r>
            <a:r>
              <a:rPr b="0" lang="zh-CN" sz="2000" spc="-1" strike="noStrike">
                <a:latin typeface="Arial"/>
              </a:rPr>
              <a:t>描述三维厂区，包括外围走廊、核心救援室、入口、起点、五块走廊标识、四块核心标识和动态箱体。场地为</a:t>
            </a:r>
            <a:r>
              <a:rPr b="0" lang="en-US" sz="2000" spc="-1" strike="noStrike">
                <a:latin typeface="Arial"/>
              </a:rPr>
              <a:t>3 m × 3 m</a:t>
            </a:r>
            <a:r>
              <a:rPr b="0" lang="zh-CN" sz="2000" spc="-1" strike="noStrike">
                <a:latin typeface="Arial"/>
              </a:rPr>
              <a:t>，核心入口宽</a:t>
            </a:r>
            <a:r>
              <a:rPr b="0" lang="en-US" sz="2000" spc="-1" strike="noStrike">
                <a:latin typeface="Arial"/>
              </a:rPr>
              <a:t>0.50 m</a:t>
            </a:r>
            <a:r>
              <a:rPr b="0" lang="zh-CN" sz="2000" spc="-1" strike="noStrike">
                <a:latin typeface="Arial"/>
              </a:rPr>
              <a:t>，箱体边长</a:t>
            </a:r>
            <a:r>
              <a:rPr b="0" lang="en-US" sz="2000" spc="-1" strike="noStrike">
                <a:latin typeface="Arial"/>
              </a:rPr>
              <a:t>0.30 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</a:t>
            </a:r>
            <a:r>
              <a:rPr b="0" lang="en-US" sz="2000" spc="-1" strike="noStrike">
                <a:latin typeface="Arial"/>
              </a:rPr>
              <a:t>slam_toolbox</a:t>
            </a:r>
            <a:r>
              <a:rPr b="0" lang="zh-CN" sz="2000" spc="-1" strike="noStrike">
                <a:latin typeface="Arial"/>
              </a:rPr>
              <a:t>根据激光扫描生成二维占据栅格地图，地图分辨率为</a:t>
            </a:r>
            <a:r>
              <a:rPr b="0" lang="en-US" sz="2000" spc="-1" strike="noStrike">
                <a:latin typeface="Arial"/>
              </a:rPr>
              <a:t>0.02 m</a:t>
            </a:r>
            <a:r>
              <a:rPr b="0" lang="zh-CN" sz="2000" spc="-1" strike="noStrike">
                <a:latin typeface="Arial"/>
              </a:rPr>
              <a:t>。运行导航时，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在保存地图上估计车辆位置，</a:t>
            </a:r>
            <a:r>
              <a:rPr b="0" lang="en-US" sz="2000" spc="-1" strike="noStrike">
                <a:latin typeface="Arial"/>
              </a:rPr>
              <a:t>Smac2D</a:t>
            </a:r>
            <a:r>
              <a:rPr b="0" lang="zh-CN" sz="2000" spc="-1" strike="noStrike">
                <a:latin typeface="Arial"/>
              </a:rPr>
              <a:t>规划路径，</a:t>
            </a:r>
            <a:r>
              <a:rPr b="0" lang="en-US" sz="2000" spc="-1" strike="noStrike">
                <a:latin typeface="Arial"/>
              </a:rPr>
              <a:t>RPP</a:t>
            </a:r>
            <a:r>
              <a:rPr b="0" lang="zh-CN" sz="2000" spc="-1" strike="noStrike">
                <a:latin typeface="Arial"/>
              </a:rPr>
              <a:t>控制器跟踪路径。本页右侧展示我们的在线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地图留档。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规则要求所有标识由参赛队自行设计，九种图案互不相同，四种核心标识附加或嵌套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。我们按这些要求生成图案和纹理。评分依次是环境建图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分、走廊识别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分、入口清障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分、核心标定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分、返航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分、创新答辩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我们自主组合场地、标识和物理交互任务，使侧墙观察、窄门通行、推障和返航在同一个场景中接受验证。三维场景、二维地图和任务配置分别管理，便于检查场地变化对导航和识别的影响。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问：地图是手工画的吗？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我们手工搭建的是三维场景，二维导航地图由车辆激光数据建出。</a:t>
            </a:r>
            <a:r>
              <a:rPr b="0" lang="en-US" sz="2000" spc="-1" strike="noStrike">
                <a:latin typeface="Arial"/>
              </a:rPr>
              <a:t>PGM</a:t>
            </a:r>
            <a:r>
              <a:rPr b="0" lang="zh-CN" sz="2000" spc="-1" strike="noStrike">
                <a:latin typeface="Arial"/>
              </a:rPr>
              <a:t>保存占据栅格，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保存分辨率、原点等信息；导航时再结合实时激光和里程计定位。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是不是同时给车辆定位？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我们正式导航使用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和保存地图。验收时额外运行独立</a:t>
            </a:r>
            <a:r>
              <a:rPr b="0" lang="en-US" sz="2000" spc="-1" strike="noStrike">
                <a:latin typeface="Arial"/>
              </a:rPr>
              <a:t>slam_toolbox</a:t>
            </a:r>
            <a:r>
              <a:rPr b="0" lang="zh-CN" sz="2000" spc="-1" strike="noStrike">
                <a:latin typeface="Arial"/>
              </a:rPr>
              <a:t>留档，它不向导航定位链发布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，也不替换导航地图。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问：三米场地和五十厘米门宽是规则规定的吗？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这是我们自己的场地参数。规则要求场景要素齐全、入口能够清障、地图轮廓清晰，没有把这两个尺寸规定为统一标准。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A4CCF0-23E9-413C-BDE3-DFE66202100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920" cy="3770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8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3</a:t>
            </a:r>
            <a:r>
              <a:rPr b="0" lang="zh-CN" sz="2000" spc="-1" strike="noStrike">
                <a:latin typeface="Arial"/>
              </a:rPr>
              <a:t>页 完整任务演示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下面请看我们的完整任务录屏。左侧是 </a:t>
            </a:r>
            <a:r>
              <a:rPr b="0" lang="en-US" sz="2000" spc="-1" strike="noStrike">
                <a:latin typeface="Arial"/>
              </a:rPr>
              <a:t>Gazebo </a:t>
            </a:r>
            <a:r>
              <a:rPr b="0" lang="zh-CN" sz="2000" spc="-1" strike="noStrike">
                <a:latin typeface="Arial"/>
              </a:rPr>
              <a:t>和车载相机，右侧是 </a:t>
            </a:r>
            <a:r>
              <a:rPr b="0" lang="en-US" sz="2000" spc="-1" strike="noStrike">
                <a:latin typeface="Arial"/>
              </a:rPr>
              <a:t>RViz </a:t>
            </a:r>
            <a:r>
              <a:rPr b="0" lang="zh-CN" sz="2000" spc="-1" strike="noStrike">
                <a:latin typeface="Arial"/>
              </a:rPr>
              <a:t>地图和终端。视频全程两倍速，展示从走廊识别、接触清障、核心标定到返回起点的全过程。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视频前半段：车辆依次确认五类走廊标识，终端打印对应类别。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视频</a:t>
            </a:r>
            <a:r>
              <a:rPr b="0" lang="en-US" sz="2000" spc="-1" strike="noStrike">
                <a:latin typeface="Arial"/>
              </a:rPr>
              <a:t>00:48–00:57</a:t>
            </a:r>
            <a:r>
              <a:rPr b="0" lang="zh-CN" sz="2000" spc="-1" strike="noStrike">
                <a:latin typeface="Arial"/>
              </a:rPr>
              <a:t>：车辆对正入口，推板接触箱体并将它推开。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视频</a:t>
            </a:r>
            <a:r>
              <a:rPr b="0" lang="en-US" sz="2000" spc="-1" strike="noStrike">
                <a:latin typeface="Arial"/>
              </a:rPr>
              <a:t>01:16–01:25</a:t>
            </a:r>
            <a:r>
              <a:rPr b="0" lang="zh-CN" sz="2000" spc="-1" strike="noStrike">
                <a:latin typeface="Arial"/>
              </a:rPr>
              <a:t>：进入核心区后，四个标签陆续确认，地图出现对应标记。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视频</a:t>
            </a:r>
            <a:r>
              <a:rPr b="0" lang="en-US" sz="2000" spc="-1" strike="noStrike">
                <a:latin typeface="Arial"/>
              </a:rPr>
              <a:t>01:54–02:08</a:t>
            </a:r>
            <a:r>
              <a:rPr b="0" lang="zh-CN" sz="2000" spc="-1" strike="noStrike">
                <a:latin typeface="Arial"/>
              </a:rPr>
              <a:t>：车辆通过门洞离开核心区，沿规划路径返航。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视频</a:t>
            </a:r>
            <a:r>
              <a:rPr b="0" lang="en-US" sz="2000" spc="-1" strike="noStrike">
                <a:latin typeface="Arial"/>
              </a:rPr>
              <a:t>02:41</a:t>
            </a:r>
            <a:r>
              <a:rPr b="0" lang="zh-CN" sz="2000" spc="-1" strike="noStrike">
                <a:latin typeface="Arial"/>
              </a:rPr>
              <a:t>之后：终端报告任务完成，车辆返回起点并停车。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这段演示来自我们更新云台后的同一次完整运行，记录目录为</a:t>
            </a:r>
            <a:r>
              <a:rPr b="0" lang="en-US" sz="2000" spc="-1" strike="noStrike">
                <a:latin typeface="Arial"/>
              </a:rPr>
              <a:t>recording_submission_20261013_gimbal_run2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PPT</a:t>
            </a:r>
            <a:r>
              <a:rPr b="0" lang="zh-CN" sz="2000" spc="-1" strike="noStrike">
                <a:latin typeface="Arial"/>
              </a:rPr>
              <a:t>中的任务视频长</a:t>
            </a:r>
            <a:r>
              <a:rPr b="0" lang="en-US" sz="2000" spc="-1" strike="noStrike">
                <a:latin typeface="Arial"/>
              </a:rPr>
              <a:t>170.934</a:t>
            </a:r>
            <a:r>
              <a:rPr b="0" lang="zh-CN" sz="2000" spc="-1" strike="noStrike">
                <a:latin typeface="Arial"/>
              </a:rPr>
              <a:t>秒，统一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倍速，保留了等待、观察和转向过程，画面显示系统时间和倍速。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步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任务配置安排导航、观察、推障、脱离、入室和返航。任务节点发出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目标并等待结果，读取视觉确认事件和里程计反馈。启动前，我们检查导航生命周期、动作服务、地图和新鲜里程计；到点后先验证停车，再进入观察阶段。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我们的云台扫描节点持续运行。底盘行驶时相机也会观察，抵达观察点后，任务状态机保持停车并等待所需目标确认。画面中的框表示当前观测，终端确认表示已经满足任务条件。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我们用确认事件推动任务，而不是只按固定时间切换动作。导航、视觉和推障分别反馈完成条件，最终再检查五类走廊和四个核心标签是否齐全，使完整流程具有明确的成功和失败出口。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问：你们是不是提前写好轨迹，让车辆照着走？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我们在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中配置任务目标点、朝向和阶段条件，实际路径由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根据代价地图规划，控制器根据当前位置跟踪。观察需要视觉确认，推进需要里程计反馈。我们目前验证的是已知场地中的自主任务执行。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问：规则说车辆移动需导航，推障为什么发速度指令？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我们的行驶、到点和转向使用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；到达清障位置后，物理推障采用专门的里程计闭环动作，距离、速度、偏差和超时均放在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中配置。我们没有通过改变模型位姿移动车辆或箱体。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问：如果一直识别不到目标怎么办？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我们的观察窗口最长</a:t>
            </a:r>
            <a:r>
              <a:rPr b="0" lang="en-US" sz="2000" spc="-1" strike="noStrike">
                <a:latin typeface="Arial"/>
              </a:rPr>
              <a:t>28</a:t>
            </a:r>
            <a:r>
              <a:rPr b="0" lang="zh-CN" sz="2000" spc="-1" strike="noStrike">
                <a:latin typeface="Arial"/>
              </a:rPr>
              <a:t>秒，超时就停车并报告失败。导航允许一次重新请求，仍失败则中止；推障偏离、里程计丢失或持续安全受阻也会停止任务。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120" cy="5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372B41-1DCC-4AA3-87CF-CA49B39CD6A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4</a:t>
            </a:r>
            <a:r>
              <a:rPr b="0" lang="zh-CN" sz="2000" spc="-1" strike="noStrike">
                <a:latin typeface="Arial"/>
              </a:rPr>
              <a:t>页 新版云台与被动</a:t>
            </a:r>
            <a:r>
              <a:rPr b="0" lang="en-US" sz="2000" spc="-1" strike="noStrike">
                <a:latin typeface="Arial"/>
              </a:rPr>
              <a:t>V</a:t>
            </a:r>
            <a:r>
              <a:rPr b="0" lang="zh-CN" sz="2000" spc="-1" strike="noStrike">
                <a:latin typeface="Arial"/>
              </a:rPr>
              <a:t>形推板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我们采用两轮差速底盘，车头增加被动</a:t>
            </a:r>
            <a:r>
              <a:rPr b="0" lang="en-US" sz="2000" spc="-1" strike="noStrike">
                <a:latin typeface="Arial"/>
              </a:rPr>
              <a:t>V</a:t>
            </a:r>
            <a:r>
              <a:rPr b="0" lang="zh-CN" sz="2000" spc="-1" strike="noStrike">
                <a:latin typeface="Arial"/>
              </a:rPr>
              <a:t>形推板，上方安装单轴旋转云台。推板引导箱体接触，云台观察两侧墙面；机构、碰撞模型和导航轮廓保持对应，让车辆兼顾观察与清障。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我们车辆的左右驱动轮直径</a:t>
            </a:r>
            <a:r>
              <a:rPr b="0" lang="en-US" sz="2000" spc="-1" strike="noStrike">
                <a:latin typeface="Arial"/>
              </a:rPr>
              <a:t>0.17 m</a:t>
            </a:r>
            <a:r>
              <a:rPr b="0" lang="zh-CN" sz="2000" spc="-1" strike="noStrike">
                <a:latin typeface="Arial"/>
              </a:rPr>
              <a:t>，轮距</a:t>
            </a:r>
            <a:r>
              <a:rPr b="0" lang="en-US" sz="2000" spc="-1" strike="noStrike">
                <a:latin typeface="Arial"/>
              </a:rPr>
              <a:t>0.24 m</a:t>
            </a:r>
            <a:r>
              <a:rPr b="0" lang="zh-CN" sz="2000" spc="-1" strike="noStrike">
                <a:latin typeface="Arial"/>
              </a:rPr>
              <a:t>，通过左右轮速度差实现转向。底盘主体长</a:t>
            </a:r>
            <a:r>
              <a:rPr b="0" lang="en-US" sz="2000" spc="-1" strike="noStrike">
                <a:latin typeface="Arial"/>
              </a:rPr>
              <a:t>0.42 m</a:t>
            </a:r>
            <a:r>
              <a:rPr b="0" lang="zh-CN" sz="2000" spc="-1" strike="noStrike">
                <a:latin typeface="Arial"/>
              </a:rPr>
              <a:t>、宽</a:t>
            </a:r>
            <a:r>
              <a:rPr b="0" lang="en-US" sz="2000" spc="-1" strike="noStrike">
                <a:latin typeface="Arial"/>
              </a:rPr>
              <a:t>0.24 m</a:t>
            </a:r>
            <a:r>
              <a:rPr b="0" lang="zh-CN" sz="2000" spc="-1" strike="noStrike">
                <a:latin typeface="Arial"/>
              </a:rPr>
              <a:t>，车轮外缘决定的整车最大宽度约</a:t>
            </a:r>
            <a:r>
              <a:rPr b="0" lang="en-US" sz="2000" spc="-1" strike="noStrike">
                <a:latin typeface="Arial"/>
              </a:rPr>
              <a:t>0.285 m</a:t>
            </a:r>
            <a:r>
              <a:rPr b="0" lang="zh-CN" sz="2000" spc="-1" strike="noStrike">
                <a:latin typeface="Arial"/>
              </a:rPr>
              <a:t>。前部推板由横梁和两侧斜翼组成，横梁宽</a:t>
            </a:r>
            <a:r>
              <a:rPr b="0" lang="en-US" sz="2000" spc="-1" strike="noStrike">
                <a:latin typeface="Arial"/>
              </a:rPr>
              <a:t>0.28 m</a:t>
            </a:r>
            <a:r>
              <a:rPr b="0" lang="zh-CN" sz="2000" spc="-1" strike="noStrike">
                <a:latin typeface="Arial"/>
              </a:rPr>
              <a:t>，固定在车头，没有独立开合电机。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我们的相机通过安装底板、支撑柱、固定旋转底座和随相机转动的顶盖安装在底盘上，旋转关节绕竖直轴运动。插件根据目标角与实际角之差设置关节电机速度，并限制速度和力矩；实际角通过</a:t>
            </a:r>
            <a:r>
              <a:rPr b="0" lang="en-US" sz="2000" spc="-1" strike="noStrike">
                <a:latin typeface="Arial"/>
              </a:rPr>
              <a:t>joint_states</a:t>
            </a:r>
            <a:r>
              <a:rPr b="0" lang="zh-CN" sz="2000" spc="-1" strike="noStrike">
                <a:latin typeface="Arial"/>
              </a:rPr>
              <a:t>进入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。新增安装板、支柱和外壳主要完善结构表达，没有新增俯仰轴。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我们在后部设置支撑球，并将底盘主体惯性中心后移</a:t>
            </a:r>
            <a:r>
              <a:rPr b="0" lang="en-US" sz="2000" spc="-1" strike="noStrike">
                <a:latin typeface="Arial"/>
              </a:rPr>
              <a:t>0.06 m</a:t>
            </a:r>
            <a:r>
              <a:rPr b="0" lang="zh-CN" sz="2000" spc="-1" strike="noStrike">
                <a:latin typeface="Arial"/>
              </a:rPr>
              <a:t>，让后支撑保持承载，减少车身前倾造成平面雷达倾斜的问题。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我们用被动推板的几何引导配合软件横偏、航向约束，减少主动夹持机构的复杂度；用独立云台观察侧墙，减少为了看标识而反复转动车体。我们同时维护物理结构、可视模型、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和导航轮廓，使机构改动能够进入感知与控制链。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问：车尾下面那块黑色的是什么？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这是我们模型中的后部支撑球，我们用球体近似万向支撑轮。它与左右两个驱动轮共同支撑底盘，帮助车身保持平衡。球体直径</a:t>
            </a:r>
            <a:r>
              <a:rPr b="0" lang="en-US" sz="2000" spc="-1" strike="noStrike">
                <a:latin typeface="Arial"/>
              </a:rPr>
              <a:t>9.4</a:t>
            </a:r>
            <a:r>
              <a:rPr b="0" lang="zh-CN" sz="2000" spc="-1" strike="noStrike">
                <a:latin typeface="Arial"/>
              </a:rPr>
              <a:t>厘米，大部分被车身挡住，所以看起来像露出的一块黑色凸起。我们当前采用固定球体、低摩擦接触的简化仿真结构，摩擦系数为</a:t>
            </a:r>
            <a:r>
              <a:rPr b="0" lang="en-US" sz="2000" spc="-1" strike="noStrike">
                <a:latin typeface="Arial"/>
              </a:rPr>
              <a:t>0.02</a:t>
            </a:r>
            <a:r>
              <a:rPr b="0" lang="zh-CN" sz="2000" spc="-1" strike="noStrike">
                <a:latin typeface="Arial"/>
              </a:rPr>
              <a:t>，外观没有画出真实万向轮的支架。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问：固定球体不会妨碍转向吗？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我们把后支撑的接触摩擦设得较低，使它在承载时能够随车体滑动，近似万向支撑轮的作用。它没有真实轮子的滚动和转向机构，这部分是简化模型。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</a:t>
            </a:r>
            <a:r>
              <a:rPr b="0" lang="en-US" sz="2000" spc="-1" strike="noStrike">
                <a:latin typeface="Arial"/>
              </a:rPr>
              <a:t>V</a:t>
            </a:r>
            <a:r>
              <a:rPr b="0" lang="zh-CN" sz="2000" spc="-1" strike="noStrike">
                <a:latin typeface="Arial"/>
              </a:rPr>
              <a:t>形推板能自动把箱体完全摆正吗？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我们的斜翼对小偏差有几何引导作用，但不能保证任意偏移都自动居中。我们先对正入口，再通过闭环约束控制推进，偏差过大就中止。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问：为什么用单轴云台？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我们的标识主要分布在两侧墙面，左右扫描能够满足当前观察任务。单轴结构更简单，实际关节角也更容易进入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；目前没有实现上下俯仰。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2D0422-6A0E-48BC-BB4F-F77736F81C2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页 真实接触推障：对准、推进、脱离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这三张图分别展示对准、推进和脱离。我们推动的是两公斤动态箱体，位移来自真实接触和摩擦。推进时用里程计计算前进量、横偏和航向，完成后转向脱离，再导航进入核心区。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我们先通过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到达入口并对正，再记录推障起始里程计位姿。推进时，将当前位置相对起点的位移投影到起始航向上，得到前进距离和横向偏差，同时计算航向误差。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我们的推进目标为车体沿起始方向移动</a:t>
            </a:r>
            <a:r>
              <a:rPr b="0" lang="en-US" sz="2000" spc="-1" strike="noStrike">
                <a:latin typeface="Arial"/>
              </a:rPr>
              <a:t>1.08 m</a:t>
            </a:r>
            <a:r>
              <a:rPr b="0" lang="zh-CN" sz="2000" spc="-1" strike="noStrike">
                <a:latin typeface="Arial"/>
              </a:rPr>
              <a:t>，速度上限</a:t>
            </a:r>
            <a:r>
              <a:rPr b="0" lang="en-US" sz="2000" spc="-1" strike="noStrike">
                <a:latin typeface="Arial"/>
              </a:rPr>
              <a:t>0.10 m/s</a:t>
            </a:r>
            <a:r>
              <a:rPr b="0" lang="zh-CN" sz="2000" spc="-1" strike="noStrike">
                <a:latin typeface="Arial"/>
              </a:rPr>
              <a:t>。接近目标时，前进速度按剩余距离降低，最低指令为</a:t>
            </a:r>
            <a:r>
              <a:rPr b="0" lang="en-US" sz="2000" spc="-1" strike="noStrike">
                <a:latin typeface="Arial"/>
              </a:rPr>
              <a:t>0.02 m/s</a:t>
            </a:r>
            <a:r>
              <a:rPr b="0" lang="zh-CN" sz="2000" spc="-1" strike="noStrike">
                <a:latin typeface="Arial"/>
              </a:rPr>
              <a:t>；角速度根据航向和横偏修正，并限制在</a:t>
            </a:r>
            <a:r>
              <a:rPr b="0" lang="en-US" sz="2000" spc="-1" strike="noStrike">
                <a:latin typeface="Arial"/>
              </a:rPr>
              <a:t>±0.10 rad/s</a:t>
            </a:r>
            <a:r>
              <a:rPr b="0" lang="zh-CN" sz="2000" spc="-1" strike="noStrike">
                <a:latin typeface="Arial"/>
              </a:rPr>
              <a:t>。横偏超过</a:t>
            </a:r>
            <a:r>
              <a:rPr b="0" lang="en-US" sz="2000" spc="-1" strike="noStrike">
                <a:latin typeface="Arial"/>
              </a:rPr>
              <a:t>0.04 m</a:t>
            </a:r>
            <a:r>
              <a:rPr b="0" lang="zh-CN" sz="2000" spc="-1" strike="noStrike">
                <a:latin typeface="Arial"/>
              </a:rPr>
              <a:t>、航向偏差超过</a:t>
            </a:r>
            <a:r>
              <a:rPr b="0" lang="en-US" sz="2000" spc="-1" strike="noStrike">
                <a:latin typeface="Arial"/>
              </a:rPr>
              <a:t>0.12 rad</a:t>
            </a:r>
            <a:r>
              <a:rPr b="0" lang="zh-CN" sz="2000" spc="-1" strike="noStrike">
                <a:latin typeface="Arial"/>
              </a:rPr>
              <a:t>、里程计不新鲜或推进超过</a:t>
            </a:r>
            <a:r>
              <a:rPr b="0" lang="en-US" sz="2000" spc="-1" strike="noStrike">
                <a:latin typeface="Arial"/>
              </a:rPr>
              <a:t>24</a:t>
            </a:r>
            <a:r>
              <a:rPr b="0" lang="zh-CN" sz="2000" spc="-1" strike="noStrike">
                <a:latin typeface="Arial"/>
              </a:rPr>
              <a:t>秒时，我们停止任务。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我们的箱体边长</a:t>
            </a:r>
            <a:r>
              <a:rPr b="0" lang="en-US" sz="2000" spc="-1" strike="noStrike">
                <a:latin typeface="Arial"/>
              </a:rPr>
              <a:t>0.30 m</a:t>
            </a:r>
            <a:r>
              <a:rPr b="0" lang="zh-CN" sz="2000" spc="-1" strike="noStrike">
                <a:latin typeface="Arial"/>
              </a:rPr>
              <a:t>、质量</a:t>
            </a:r>
            <a:r>
              <a:rPr b="0" lang="en-US" sz="2000" spc="-1" strike="noStrike">
                <a:latin typeface="Arial"/>
              </a:rPr>
              <a:t>2 kg</a:t>
            </a:r>
            <a:r>
              <a:rPr b="0" lang="zh-CN" sz="2000" spc="-1" strike="noStrike">
                <a:latin typeface="Arial"/>
              </a:rPr>
              <a:t>，摩擦系数</a:t>
            </a:r>
            <a:r>
              <a:rPr b="0" lang="en-US" sz="2000" spc="-1" strike="noStrike">
                <a:latin typeface="Arial"/>
              </a:rPr>
              <a:t>0.35</a:t>
            </a:r>
            <a:r>
              <a:rPr b="0" lang="zh-CN" sz="2000" spc="-1" strike="noStrike">
                <a:latin typeface="Arial"/>
              </a:rPr>
              <a:t>，参与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碰撞和动力学求解。本次实际位移为</a:t>
            </a:r>
            <a:r>
              <a:rPr b="0" lang="en-US" sz="2000" spc="-1" strike="noStrike">
                <a:latin typeface="Arial"/>
              </a:rPr>
              <a:t>0.9960 m</a:t>
            </a:r>
            <a:r>
              <a:rPr b="0" lang="zh-CN" sz="2000" spc="-1" strike="noStrike">
                <a:latin typeface="Arial"/>
              </a:rPr>
              <a:t>。推进完成后先停车稳定，再执行有限转向脱离，随后恢复正常导航入室。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我们将被动接触结构与里程计闭环结合，把清障拆成对准、推进和脱离三个阶段。软件既控制推进进度，也限制偏离，结构负责建立接触，二者共同服务窄门清障。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问：箱体是不是被程序直接移走的？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我们没有改箱体位姿或删除实体。控制器只驱动车辆，箱体受推板碰撞和摩擦移动；录屏展示接触过程，独立验收记录箱体起止位置。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问：推进目标</a:t>
            </a:r>
            <a:r>
              <a:rPr b="0" lang="en-US" sz="2000" spc="-1" strike="noStrike">
                <a:latin typeface="Arial"/>
              </a:rPr>
              <a:t>1.08</a:t>
            </a:r>
            <a:r>
              <a:rPr b="0" lang="zh-CN" sz="2000" spc="-1" strike="noStrike">
                <a:latin typeface="Arial"/>
              </a:rPr>
              <a:t>米，为什么箱体只移动</a:t>
            </a:r>
            <a:r>
              <a:rPr b="0" lang="en-US" sz="2000" spc="-1" strike="noStrike">
                <a:latin typeface="Arial"/>
              </a:rPr>
              <a:t>0.996</a:t>
            </a:r>
            <a:r>
              <a:rPr b="0" lang="zh-CN" sz="2000" spc="-1" strike="noStrike">
                <a:latin typeface="Arial"/>
              </a:rPr>
              <a:t>米？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我们把车体推进距离和箱体位移分开测量。</a:t>
            </a:r>
            <a:r>
              <a:rPr b="0" lang="en-US" sz="2000" spc="-1" strike="noStrike">
                <a:latin typeface="Arial"/>
              </a:rPr>
              <a:t>1.08</a:t>
            </a:r>
            <a:r>
              <a:rPr b="0" lang="zh-CN" sz="2000" spc="-1" strike="noStrike">
                <a:latin typeface="Arial"/>
              </a:rPr>
              <a:t>米是车体里程计目标，</a:t>
            </a:r>
            <a:r>
              <a:rPr b="0" lang="en-US" sz="2000" spc="-1" strike="noStrike">
                <a:latin typeface="Arial"/>
              </a:rPr>
              <a:t>0.996</a:t>
            </a:r>
            <a:r>
              <a:rPr b="0" lang="zh-CN" sz="2000" spc="-1" strike="noStrike">
                <a:latin typeface="Arial"/>
              </a:rPr>
              <a:t>米是箱体起止位置的平面位移，接触前间隙和推进过程使两个量不必相等。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问：有没有力反馈？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我们当前使用里程计反馈，没有接触力传感器。按箱体摩擦系数估算，水平滑动阻力约为</a:t>
            </a:r>
            <a:r>
              <a:rPr b="0" lang="en-US" sz="2000" spc="-1" strike="noStrike">
                <a:latin typeface="Arial"/>
              </a:rPr>
              <a:t>0.35×2×9.81</a:t>
            </a:r>
            <a:r>
              <a:rPr b="0" lang="zh-CN" sz="2000" spc="-1" strike="noStrike">
                <a:latin typeface="Arial"/>
              </a:rPr>
              <a:t>，也就是</a:t>
            </a:r>
            <a:r>
              <a:rPr b="0" lang="en-US" sz="2000" spc="-1" strike="noStrike">
                <a:latin typeface="Arial"/>
              </a:rPr>
              <a:t>6.87</a:t>
            </a:r>
            <a:r>
              <a:rPr b="0" lang="zh-CN" sz="2000" spc="-1" strike="noStrike">
                <a:latin typeface="Arial"/>
              </a:rPr>
              <a:t>牛顿，但这只是量级估算，实际接触由物理引擎求解。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4565F1-7C48-4725-AD55-F33DF486ACA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6</a:t>
            </a:r>
            <a:r>
              <a:rPr b="0" lang="zh-CN" sz="2000" spc="-1" strike="noStrike">
                <a:latin typeface="Arial"/>
              </a:rPr>
              <a:t>页 主动接触的安全边界：保护完整车体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推障需要接触，但不能因此取消整车保护。我们把推板和车轮一起纳入停车扫掠检查，同时考虑指令速度和实际速度。仅在低速推障阶段允许前方受限接触，侧后方继续保护，脱离也有时间和距离限制。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我们将安全节点放在速度平滑器之后、车轮执行之前。它接收激光、里程计和速度指令，将激光点转换到车体坐标，检查包含车轮和推板的多边形轮廓及其运动扫掠范围，额外保留</a:t>
            </a:r>
            <a:r>
              <a:rPr b="0" lang="en-US" sz="2000" spc="-1" strike="noStrike">
                <a:latin typeface="Arial"/>
              </a:rPr>
              <a:t>0.035 m</a:t>
            </a:r>
            <a:r>
              <a:rPr b="0" lang="zh-CN" sz="2000" spc="-1" strike="noStrike">
                <a:latin typeface="Arial"/>
              </a:rPr>
              <a:t>安全余量。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秒反应时间，加上线速度和角速度对应的保守制动时间，估计需要检查的时间范围，再按运动模型采样车体轮廓。指令速度先按配置限幅，实际里程计速度保持原值，二者分别检查，避免惯性速度大于指令时低估风险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推障授权需要持续刷新，线速度另限</a:t>
            </a:r>
            <a:r>
              <a:rPr b="0" lang="en-US" sz="2000" spc="-1" strike="noStrike">
                <a:latin typeface="Arial"/>
              </a:rPr>
              <a:t>0.10 m/s</a:t>
            </a:r>
            <a:r>
              <a:rPr b="0" lang="zh-CN" sz="2000" spc="-1" strike="noStrike">
                <a:latin typeface="Arial"/>
              </a:rPr>
              <a:t>，只排除推板前方窄窗口内的接触点，侧后点继续检查。脱离时，接触例外固定在推完时的箱体区域，最长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秒，车体平移不超过</a:t>
            </a:r>
            <a:r>
              <a:rPr b="0" lang="en-US" sz="2000" spc="-1" strike="noStrike">
                <a:latin typeface="Arial"/>
              </a:rPr>
              <a:t>0.06 m</a:t>
            </a:r>
            <a:r>
              <a:rPr b="0" lang="zh-CN" sz="2000" spc="-1" strike="noStrike">
                <a:latin typeface="Arial"/>
              </a:rPr>
              <a:t>；安全层还要求脱离指令线速度不超过</a:t>
            </a:r>
            <a:r>
              <a:rPr b="0" lang="en-US" sz="2000" spc="-1" strike="noStrike">
                <a:latin typeface="Arial"/>
              </a:rPr>
              <a:t>0.01 m/s</a:t>
            </a:r>
            <a:r>
              <a:rPr b="0" lang="zh-CN" sz="2000" spc="-1" strike="noStrike">
                <a:latin typeface="Arial"/>
              </a:rPr>
              <a:t>。激光、里程计或指令超时</a:t>
            </a:r>
            <a:r>
              <a:rPr b="0" lang="en-US" sz="2000" spc="-1" strike="noStrike">
                <a:latin typeface="Arial"/>
              </a:rPr>
              <a:t>0.35</a:t>
            </a:r>
            <a:r>
              <a:rPr b="0" lang="zh-CN" sz="2000" spc="-1" strike="noStrike">
                <a:latin typeface="Arial"/>
              </a:rPr>
              <a:t>秒，以及必要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不可用时，我们输出零速度。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针对“必须接触”和“仍需避碰”同时存在的任务，设计阶段授权、完整轮廓、实际速度检查和有限脱离。接触授权由任务阶段与几何窗口共同约束，脱离窗口固定在原区域，避免随着车头转向把墙面也纳入例外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问：允许接触的窗口怎么知道里面一定是箱体？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当前依赖已知入口位置、车辆对正和推障阶段授权，再用窄窗口限制接触范围。这个窗口本身不是语义识别器，红箱图像框也不授予权限。因此我们的验证针对当前已知场地，复杂杂物场景还需要增加目标关联和接触检测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问：为什么推完还要保留短暂接触例外？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我们的推板刚推完时仍可能贴着箱体，若立即按普通避障处理，转向脱离可能被阻止。我们只在原箱体区域保留短暂例外，并限制平移、时间和速度。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问：这些检查能证明全程没有碰墙吗？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我们当前实现的是激光和离散轮廓检查，本次墙体重叠采样为空。采样和传感器都有间隔，因此我们不能把它当作连续接触测量。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B9EF31-69B7-4D88-B184-FFFF3B42F73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7</a:t>
            </a:r>
            <a:r>
              <a:rPr b="0" lang="zh-CN" sz="2000" spc="-1" strike="noStrike">
                <a:latin typeface="Arial"/>
              </a:rPr>
              <a:t>页 云台左右观察，任务等待多帧确认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这两张图是同一停车点的两个扫视时刻。我们到点后先验证底盘停稳，再等待云台观察结果。同一目标连续三个空间关联处理帧通过后，才发布确认事件，任务据此继续。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我们的云台按正弦目标扫描，范围</a:t>
            </a:r>
            <a:r>
              <a:rPr b="0" lang="en-US" sz="2000" spc="-1" strike="noStrike">
                <a:latin typeface="Arial"/>
              </a:rPr>
              <a:t>±1.90 rad</a:t>
            </a:r>
            <a:r>
              <a:rPr b="0" lang="zh-CN" sz="2000" spc="-1" strike="noStrike">
                <a:latin typeface="Arial"/>
              </a:rPr>
              <a:t>，周期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秒，扫描节点持续运行。相机输出</a:t>
            </a:r>
            <a:r>
              <a:rPr b="0" lang="en-US" sz="2000" spc="-1" strike="noStrike">
                <a:latin typeface="Arial"/>
              </a:rPr>
              <a:t>640×480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15 Hz</a:t>
            </a:r>
            <a:r>
              <a:rPr b="0" lang="zh-CN" sz="2000" spc="-1" strike="noStrike">
                <a:latin typeface="Arial"/>
              </a:rPr>
              <a:t>图像，视觉节点每两个采集帧选一个处理，实际处理频率还受运行负载影响。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我们到点后至少停车</a:t>
            </a:r>
            <a:r>
              <a:rPr b="0" lang="en-US" sz="2000" spc="-1" strike="noStrike">
                <a:latin typeface="Arial"/>
              </a:rPr>
              <a:t>0.8</a:t>
            </a:r>
            <a:r>
              <a:rPr b="0" lang="zh-CN" sz="2000" spc="-1" strike="noStrike">
                <a:latin typeface="Arial"/>
              </a:rPr>
              <a:t>秒，并检查实际线速度小于</a:t>
            </a:r>
            <a:r>
              <a:rPr b="0" lang="en-US" sz="2000" spc="-1" strike="noStrike">
                <a:latin typeface="Arial"/>
              </a:rPr>
              <a:t>0.015 m/s</a:t>
            </a:r>
            <a:r>
              <a:rPr b="0" lang="zh-CN" sz="2000" spc="-1" strike="noStrike">
                <a:latin typeface="Arial"/>
              </a:rPr>
              <a:t>、角速度小于</a:t>
            </a:r>
            <a:r>
              <a:rPr b="0" lang="en-US" sz="2000" spc="-1" strike="noStrike">
                <a:latin typeface="Arial"/>
              </a:rPr>
              <a:t>0.04 rad/s</a:t>
            </a:r>
            <a:r>
              <a:rPr b="0" lang="zh-CN" sz="2000" spc="-1" strike="noStrike">
                <a:latin typeface="Arial"/>
              </a:rPr>
              <a:t>，确认停稳后进入最长</a:t>
            </a:r>
            <a:r>
              <a:rPr b="0" lang="en-US" sz="2000" spc="-1" strike="noStrike">
                <a:latin typeface="Arial"/>
              </a:rPr>
              <a:t>28</a:t>
            </a:r>
            <a:r>
              <a:rPr b="0" lang="zh-CN" sz="2000" spc="-1" strike="noStrike">
                <a:latin typeface="Arial"/>
              </a:rPr>
              <a:t>秒的观察窗口。观察阶段至少保持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秒，所需类别已经确认后才推进任务。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对同一类别目标检查面积比例、中心位移和边界重叠。关联成功，连续计数加一；目标在某个处理帧消失，当前显示和连续计数就清除。显示框在当前核验通过后即可出现，首次任务确认需要连续三个关联处理帧。本页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B</a:t>
            </a:r>
            <a:r>
              <a:rPr b="0" lang="zh-CN" sz="2000" spc="-1" strike="noStrike">
                <a:latin typeface="Arial"/>
              </a:rPr>
              <a:t>是历史运行同一停车点的扫描样例。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我们让持续云台观察、到点停稳、多帧关联和任务等待协同工作。轮廓平滑围绕当前目标中心进行，使云台转动时框跟随当前目标，减少旧框滞后和单帧误报对任务的影响。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问：云台是停车以后才开始转的吗？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我们的云台扫描持续运行。停车改变的是任务状态：底盘保持静止，状态机等待指定目标的确认结果；扫描节点不会在每个观察点重新启动。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问：为什么选择三帧？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我们希望在单帧响应速度和确认可靠性之间取得平衡。三个关联处理帧能排除部分瞬时结果，同时不让等待过长；目前这个参数服务于当前图案和扫描配置，没有证明对所有场景最优。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问：已经在行驶中确认目标，到观察点还会重新识别吗？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我们的任务保留已确认类别。到观察点仍要完成停车和最短观察等待，若所需类别已经确认，可以继续；若尚未确认，就在观察窗口内等待。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68580B-FDA1-446E-8C39-AC97D74B581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8</a:t>
            </a:r>
            <a:r>
              <a:rPr b="0" lang="zh-CN" sz="2000" spc="-1" strike="noStrike">
                <a:latin typeface="Arial"/>
              </a:rPr>
              <a:t>页 走廊识别：火灾、化学、辐射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这里展示火灾、化学和辐射三类实际识别。我们针对自行设计的图案训练轻量模型，再用图案和牌边核验约束结果。绿色框表示当前分类，多帧确认后才记入任务。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我们的三类标识分别为</a:t>
            </a:r>
            <a:r>
              <a:rPr b="0" lang="en-US" sz="2000" spc="-1" strike="noStrike">
                <a:latin typeface="Arial"/>
              </a:rPr>
              <a:t>FIRE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CHEMICAL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RADIATION</a:t>
            </a:r>
            <a:r>
              <a:rPr b="0" lang="zh-CN" sz="2000" spc="-1" strike="noStrike">
                <a:latin typeface="Arial"/>
              </a:rPr>
              <a:t>，另外两类是</a:t>
            </a:r>
            <a:r>
              <a:rPr b="0" lang="en-US" sz="2000" spc="-1" strike="noStrike">
                <a:latin typeface="Arial"/>
              </a:rPr>
              <a:t>ELECTRICAL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BIOHAZARD</a:t>
            </a:r>
            <a:r>
              <a:rPr b="0" lang="zh-CN" sz="2000" spc="-1" strike="noStrike">
                <a:latin typeface="Arial"/>
              </a:rPr>
              <a:t>。五种走廊图案均由我们自行生成，本页截图保留了当前运行中的检测框和类别。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我们在项目内实现轻量</a:t>
            </a:r>
            <a:r>
              <a:rPr b="0" lang="en-US" sz="2000" spc="-1" strike="noStrike">
                <a:latin typeface="Arial"/>
              </a:rPr>
              <a:t>YOLOv5</a:t>
            </a:r>
            <a:r>
              <a:rPr b="0" lang="zh-CN" sz="2000" spc="-1" strike="noStrike">
                <a:latin typeface="Arial"/>
              </a:rPr>
              <a:t>风格网络，采用</a:t>
            </a:r>
            <a:r>
              <a:rPr b="0" lang="en-US" sz="2000" spc="-1" strike="noStrike">
                <a:latin typeface="Arial"/>
              </a:rPr>
              <a:t>C3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SPPF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PAN</a:t>
            </a:r>
            <a:r>
              <a:rPr b="0" lang="zh-CN" sz="2000" spc="-1" strike="noStrike">
                <a:latin typeface="Arial"/>
              </a:rPr>
              <a:t>和三个检测尺度，输入</a:t>
            </a:r>
            <a:r>
              <a:rPr b="0" lang="en-US" sz="2000" spc="-1" strike="noStrike">
                <a:latin typeface="Arial"/>
              </a:rPr>
              <a:t>320×320</a:t>
            </a:r>
            <a:r>
              <a:rPr b="0" lang="zh-CN" sz="2000" spc="-1" strike="noStrike">
                <a:latin typeface="Arial"/>
              </a:rPr>
              <a:t>，导出</a:t>
            </a:r>
            <a:r>
              <a:rPr b="0" lang="en-US" sz="2000" spc="-1" strike="noStrike">
                <a:latin typeface="Arial"/>
              </a:rPr>
              <a:t>TorchScript</a:t>
            </a:r>
            <a:r>
              <a:rPr b="0" lang="zh-CN" sz="2000" spc="-1" strike="noStrike">
                <a:latin typeface="Arial"/>
              </a:rPr>
              <a:t>后在</a:t>
            </a:r>
            <a:r>
              <a:rPr b="0" lang="en-US" sz="2000" spc="-1" strike="noStrike">
                <a:latin typeface="Arial"/>
              </a:rPr>
              <a:t>CPU</a:t>
            </a:r>
            <a:r>
              <a:rPr b="0" lang="zh-CN" sz="2000" spc="-1" strike="noStrike">
                <a:latin typeface="Arial"/>
              </a:rPr>
              <a:t>推理。当前权重由我们先前训练的项目权重续训，当前训练配置为</a:t>
            </a:r>
            <a:r>
              <a:rPr b="0" lang="en-US" sz="2000" spc="-1" strike="noStrike">
                <a:latin typeface="Arial"/>
              </a:rPr>
              <a:t>1000</a:t>
            </a:r>
            <a:r>
              <a:rPr b="0" lang="zh-CN" sz="2000" spc="-1" strike="noStrike">
                <a:latin typeface="Arial"/>
              </a:rPr>
              <a:t>张合成样本、</a:t>
            </a:r>
            <a:r>
              <a:rPr b="0" lang="en-US" sz="2000" spc="-1" strike="noStrike">
                <a:latin typeface="Arial"/>
              </a:rPr>
              <a:t>25</a:t>
            </a:r>
            <a:r>
              <a:rPr b="0" lang="zh-CN" sz="2000" spc="-1" strike="noStrike">
                <a:latin typeface="Arial"/>
              </a:rPr>
              <a:t>轮，独立验证</a:t>
            </a:r>
            <a:r>
              <a:rPr b="0" lang="en-US" sz="2000" spc="-1" strike="noStrike">
                <a:latin typeface="Arial"/>
              </a:rPr>
              <a:t>160</a:t>
            </a:r>
            <a:r>
              <a:rPr b="0" lang="zh-CN" sz="2000" spc="-1" strike="noStrike">
                <a:latin typeface="Arial"/>
              </a:rPr>
              <a:t>张。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我们的训练覆盖远近、透视、亮暗、模糊、噪声和遮挡，约</a:t>
            </a:r>
            <a:r>
              <a:rPr b="0" lang="en-US" sz="2000" spc="-1" strike="noStrike">
                <a:latin typeface="Arial"/>
              </a:rPr>
              <a:t>35%</a:t>
            </a:r>
            <a:r>
              <a:rPr b="0" lang="zh-CN" sz="2000" spc="-1" strike="noStrike">
                <a:latin typeface="Arial"/>
              </a:rPr>
              <a:t>的训练图不含目标。我们加入红色箱体、蓝色起点、黄色车身、同色空白牌、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和纯背景负例，针对曾出现的同色误报进行改进。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我们围绕比赛图案建立合成数据和同色负例，并在模型候选后加入注册白色图案核验与牌边拟合。颜色用于寻找候选牌面，白色图案与几何条件进一步验证，使纯色背景不容易仅凭颜色通过。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问：为什么用轻量模型？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我们需要在</a:t>
            </a:r>
            <a:r>
              <a:rPr b="0" lang="en-US" sz="2000" spc="-1" strike="noStrike">
                <a:latin typeface="Arial"/>
              </a:rPr>
              <a:t>CPU</a:t>
            </a:r>
            <a:r>
              <a:rPr b="0" lang="zh-CN" sz="2000" spc="-1" strike="noStrike">
                <a:latin typeface="Arial"/>
              </a:rPr>
              <a:t>上同时运行仿真、导航、视觉和录屏。轻量三尺度模型兼顾计算量和不同大小的图案，</a:t>
            </a:r>
            <a:r>
              <a:rPr b="0" lang="en-US" sz="2000" spc="-1" strike="noStrike">
                <a:latin typeface="Arial"/>
              </a:rPr>
              <a:t>320</a:t>
            </a:r>
            <a:r>
              <a:rPr b="0" lang="zh-CN" sz="2000" spc="-1" strike="noStrike">
                <a:latin typeface="Arial"/>
              </a:rPr>
              <a:t>输入不足以覆盖的部分小目标再由局部重检补充。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问：是不是下载官方权重直接用？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我们参考</a:t>
            </a:r>
            <a:r>
              <a:rPr b="0" lang="en-US" sz="2000" spc="-1" strike="noStrike">
                <a:latin typeface="Arial"/>
              </a:rPr>
              <a:t>YOLOv5</a:t>
            </a:r>
            <a:r>
              <a:rPr b="0" lang="zh-CN" sz="2000" spc="-1" strike="noStrike">
                <a:latin typeface="Arial"/>
              </a:rPr>
              <a:t>架构思想，在项目内实现网络、训练、导出和推理接口，使用自己的合成图案数据训练，没有使用官方预训练权重。</a:t>
            </a:r>
            <a:r>
              <a:rPr b="0" lang="en-US" sz="2000" spc="-1" strike="noStrike">
                <a:latin typeface="Arial"/>
              </a:rPr>
              <a:t>C3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SPPF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PAN</a:t>
            </a:r>
            <a:r>
              <a:rPr b="0" lang="zh-CN" sz="2000" spc="-1" strike="noStrike">
                <a:latin typeface="Arial"/>
              </a:rPr>
              <a:t>等基础结构仍明确属于已有技术。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问：为什么还需要传统图像处理？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我们的图案是自行设计的，形状和牌面结构已知。模型先提供候选，图案匹配和边界拟合再利用这些先验过滤同色物体，并收紧检测范围。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892BC7-9EDE-4D4D-A084-BD314D57BFE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9</a:t>
            </a:r>
            <a:r>
              <a:rPr b="0" lang="zh-CN" sz="2000" spc="-1" strike="noStrike">
                <a:latin typeface="Arial"/>
              </a:rPr>
              <a:t>页 走廊识别：电气、生物危害与终端打印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电气和生物危害是另外两类。我们将五类确认结果逐项打印到终端，并在进入核心区前完成确认，让老师能够同时核对图像分类和任务记录。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我们的电气类别为</a:t>
            </a:r>
            <a:r>
              <a:rPr b="0" lang="en-US" sz="2000" spc="-1" strike="noStrike">
                <a:latin typeface="Arial"/>
              </a:rPr>
              <a:t>ELECTRICAL</a:t>
            </a:r>
            <a:r>
              <a:rPr b="0" lang="zh-CN" sz="2000" spc="-1" strike="noStrike">
                <a:latin typeface="Arial"/>
              </a:rPr>
              <a:t>，生物危害为</a:t>
            </a:r>
            <a:r>
              <a:rPr b="0" lang="en-US" sz="2000" spc="-1" strike="noStrike">
                <a:latin typeface="Arial"/>
              </a:rPr>
              <a:t>BIOHAZARD</a:t>
            </a:r>
            <a:r>
              <a:rPr b="0" lang="zh-CN" sz="2000" spc="-1" strike="noStrike">
                <a:latin typeface="Arial"/>
              </a:rPr>
              <a:t>。危险标识使用绿色框，独立箱体检测使用紫红色</a:t>
            </a:r>
            <a:r>
              <a:rPr b="0" lang="en-US" sz="2000" spc="-1" strike="noStrike">
                <a:latin typeface="Arial"/>
              </a:rPr>
              <a:t>PUSH BARRIER</a:t>
            </a:r>
            <a:r>
              <a:rPr b="0" lang="zh-CN" sz="2000" spc="-1" strike="noStrike">
                <a:latin typeface="Arial"/>
              </a:rPr>
              <a:t>框；图案自身底色不决定检测框颜色。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我们首次满足三帧确认时发布类别事件，包含类型、类别和检测后端等信息，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结果还记录置信度。终端打印</a:t>
            </a:r>
            <a:r>
              <a:rPr b="0" lang="en-US" sz="2000" spc="-1" strike="noStrike">
                <a:latin typeface="Arial"/>
              </a:rPr>
              <a:t>CORRIDOR</a:t>
            </a:r>
            <a:r>
              <a:rPr b="0" lang="zh-CN" sz="2000" spc="-1" strike="noStrike">
                <a:latin typeface="Arial"/>
              </a:rPr>
              <a:t>确认记录，任务节点据此维护已发现类别集合。当前框、历史</a:t>
            </a:r>
            <a:r>
              <a:rPr b="0" lang="en-US" sz="2000" spc="-1" strike="noStrike">
                <a:latin typeface="Arial"/>
              </a:rPr>
              <a:t>confirmed</a:t>
            </a:r>
            <a:r>
              <a:rPr b="0" lang="zh-CN" sz="2000" spc="-1" strike="noStrike">
                <a:latin typeface="Arial"/>
              </a:rPr>
              <a:t>计数和新确认事件分别表达当前观测、历史发现和首次确认。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规则要求在核心区入口前识别五个初级灾害标识并打印，正确分类每类</a:t>
            </a:r>
            <a:r>
              <a:rPr b="0" lang="en-US" sz="2000" spc="-1" strike="noStrike">
                <a:latin typeface="Arial"/>
              </a:rPr>
              <a:t>3</a:t>
            </a:r>
            <a:r>
              <a:rPr b="0" lang="zh-CN" sz="2000" spc="-1" strike="noStrike">
                <a:latin typeface="Arial"/>
              </a:rPr>
              <a:t>分、共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分，终端打印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分；原文还规定未展示终端打印结果不得分。我们因此在这页同时展示两类图像和五类日志。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我们将视觉检测转为明确的任务事件，保存检测后端和确认记录，使视觉、状态机和展示证据能够对应。箱体显示与灾害分类分开，避免把红色箱体当成火灾类别，或让显示框直接驱动车辆。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问：显示</a:t>
            </a:r>
            <a:r>
              <a:rPr b="0" lang="en-US" sz="2000" spc="-1" strike="noStrike">
                <a:latin typeface="Arial"/>
              </a:rPr>
              <a:t>5/5</a:t>
            </a:r>
            <a:r>
              <a:rPr b="0" lang="zh-CN" sz="2000" spc="-1" strike="noStrike">
                <a:latin typeface="Arial"/>
              </a:rPr>
              <a:t>时，有的图案为什么没有框？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</a:t>
            </a:r>
            <a:r>
              <a:rPr b="0" lang="en-US" sz="2000" spc="-1" strike="noStrike">
                <a:latin typeface="Arial"/>
              </a:rPr>
              <a:t>5/5</a:t>
            </a:r>
            <a:r>
              <a:rPr b="0" lang="zh-CN" sz="2000" spc="-1" strike="noStrike">
                <a:latin typeface="Arial"/>
              </a:rPr>
              <a:t>是历史已确认类别数，当前框只表示这一处理帧的观测。目标斜视、遮挡或离开视野时可以没有框，但已经完成的类别不会被删除。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问：红箱检测框参与推障控制吗？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我们的箱体图像检测发布像素框供显示，没有用它直接控制导航或授予接触权限。推障靠入口目标、对正、任务授权和里程计反馈完成。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无法加载时怎么办？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我们的配置允许启用</a:t>
            </a:r>
            <a:r>
              <a:rPr b="0" lang="en-US" sz="2000" spc="-1" strike="noStrike">
                <a:latin typeface="Arial"/>
              </a:rPr>
              <a:t>SIFT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RANSAC</a:t>
            </a:r>
            <a:r>
              <a:rPr b="0" lang="zh-CN" sz="2000" spc="-1" strike="noStrike">
                <a:latin typeface="Arial"/>
              </a:rPr>
              <a:t>和颜色匹配回退，同时打印告警并把后端记录为</a:t>
            </a:r>
            <a:r>
              <a:rPr b="0" lang="en-US" sz="2000" spc="-1" strike="noStrike">
                <a:latin typeface="Arial"/>
              </a:rPr>
              <a:t>sift</a:t>
            </a:r>
            <a:r>
              <a:rPr b="0" lang="zh-CN" sz="2000" spc="-1" strike="noStrike">
                <a:latin typeface="Arial"/>
              </a:rPr>
              <a:t>。我们也能关闭回退，使权重或依赖缺失时直接启动失败；结果来自哪个后端会明确记录。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D13D49-9F56-4413-91E0-2FB2D24C7DC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页 同帧局部放大重检，恢复部分小目标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远处或斜视图案在全图缩放后容易漏检。我们用已注册图案找到并核验候选区域，裁剪放大后再次交给模型分类，再经过时序确认。本页用同一帧回放展示部分小目标的恢复。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我们先执行全图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，置信度下限</a:t>
            </a:r>
            <a:r>
              <a:rPr b="0" lang="en-US" sz="2000" spc="-1" strike="noStrike">
                <a:latin typeface="Arial"/>
              </a:rPr>
              <a:t>0.45</a:t>
            </a:r>
            <a:r>
              <a:rPr b="0" lang="zh-CN" sz="2000" spc="-1" strike="noStrike">
                <a:latin typeface="Arial"/>
              </a:rPr>
              <a:t>，对候选进行图案核验和牌边拟合，再做类别内非极大值抑制。对于全图结果中缺失的类别，我们还会搜索已注册图案；找到通过核验的牌面后，检查内部颜色比例和形状，排除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色带、窄条等干扰。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我们对通过这些条件的区域加边缘留白并裁剪，再重新进行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分类和几何核验，局部置信度下限</a:t>
            </a:r>
            <a:r>
              <a:rPr b="0" lang="en-US" sz="2000" spc="-1" strike="noStrike">
                <a:latin typeface="Arial"/>
              </a:rPr>
              <a:t>0.25</a:t>
            </a:r>
            <a:r>
              <a:rPr b="0" lang="zh-CN" sz="2000" spc="-1" strike="noStrike">
                <a:latin typeface="Arial"/>
              </a:rPr>
              <a:t>。局部结果转换回原图坐标，只接受与候选图案一致的类别，随后交给空间关联和三帧确认。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本页对照来自历史</a:t>
            </a:r>
            <a:r>
              <a:rPr b="0" lang="en-US" sz="2000" spc="-1" strike="noStrike">
                <a:latin typeface="Arial"/>
              </a:rPr>
              <a:t>v19</a:t>
            </a:r>
            <a:r>
              <a:rPr b="0" lang="zh-CN" sz="2000" spc="-1" strike="noStrike">
                <a:latin typeface="Arial"/>
              </a:rPr>
              <a:t>的</a:t>
            </a:r>
            <a:r>
              <a:rPr b="0" lang="en-US" sz="2000" spc="-1" strike="noStrike">
                <a:latin typeface="Arial"/>
              </a:rPr>
              <a:t>image_0462</a:t>
            </a:r>
            <a:r>
              <a:rPr b="0" lang="zh-CN" sz="2000" spc="-1" strike="noStrike">
                <a:latin typeface="Arial"/>
              </a:rPr>
              <a:t>同输入离线回放。我们展示的是同帧算法机制，当前完整任务结果另由同次录屏和验收记录支撑。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我们的区域恢复能够为全图模型漏掉的类别提出已核验候选，再要求模型重新分类。图案先验、局部有效像素、几何约束和时序确认共同处理小目标问题，避免把简单放大或单纯降阈值当作完整方案。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问：全图已经漏检了，裁剪区域从哪里来？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我们对缺失类别使用注册图案核验器搜索牌面，通过颜色候选、白色图案和边界条件提出区域。它可以在全图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没有保留该类别时启动，裁剪后的结果仍要由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重新分类。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问：局部阈值降低会不会误报？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我们用图案、内部颜色比例、形状和再次分类限制候选，结果还要经过时序确认。降低阈值仍存在风险，目前没有真实视频逐帧对照统计证明误报完全不增加。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问：你们的识别指标是多少？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我们的模型在</a:t>
            </a:r>
            <a:r>
              <a:rPr b="0" lang="en-US" sz="2000" spc="-1" strike="noStrike">
                <a:latin typeface="Arial"/>
              </a:rPr>
              <a:t>160</a:t>
            </a:r>
            <a:r>
              <a:rPr b="0" lang="zh-CN" sz="2000" spc="-1" strike="noStrike">
                <a:latin typeface="Arial"/>
              </a:rPr>
              <a:t>张独立合成验证图、匹配</a:t>
            </a:r>
            <a:r>
              <a:rPr b="0" lang="en-US" sz="2000" spc="-1" strike="noStrike">
                <a:latin typeface="Arial"/>
              </a:rPr>
              <a:t>IoU</a:t>
            </a:r>
            <a:r>
              <a:rPr b="0" lang="zh-CN" sz="2000" spc="-1" strike="noStrike">
                <a:latin typeface="Arial"/>
              </a:rPr>
              <a:t>至少</a:t>
            </a:r>
            <a:r>
              <a:rPr b="0" lang="en-US" sz="2000" spc="-1" strike="noStrike">
                <a:latin typeface="Arial"/>
              </a:rPr>
              <a:t>0.50</a:t>
            </a:r>
            <a:r>
              <a:rPr b="0" lang="zh-CN" sz="2000" spc="-1" strike="noStrike">
                <a:latin typeface="Arial"/>
              </a:rPr>
              <a:t>、置信度</a:t>
            </a:r>
            <a:r>
              <a:rPr b="0" lang="en-US" sz="2000" spc="-1" strike="noStrike">
                <a:latin typeface="Arial"/>
              </a:rPr>
              <a:t>0.45</a:t>
            </a:r>
            <a:r>
              <a:rPr b="0" lang="zh-CN" sz="2000" spc="-1" strike="noStrike">
                <a:latin typeface="Arial"/>
              </a:rPr>
              <a:t>下，</a:t>
            </a:r>
            <a:r>
              <a:rPr b="0" lang="en-US" sz="2000" spc="-1" strike="noStrike">
                <a:latin typeface="Arial"/>
              </a:rPr>
              <a:t>TP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131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FP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、漏检</a:t>
            </a:r>
            <a:r>
              <a:rPr b="0" lang="en-US" sz="2000" spc="-1" strike="noStrike">
                <a:latin typeface="Arial"/>
              </a:rPr>
              <a:t>54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Precision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85.62%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Recall</a:t>
            </a:r>
            <a:r>
              <a:rPr b="0" lang="zh-CN" sz="2000" spc="-1" strike="noStrike">
                <a:latin typeface="Arial"/>
              </a:rPr>
              <a:t>为</a:t>
            </a:r>
            <a:r>
              <a:rPr b="0" lang="en-US" sz="2000" spc="-1" strike="noStrike">
                <a:latin typeface="Arial"/>
              </a:rPr>
              <a:t>70.81%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59</a:t>
            </a:r>
            <a:r>
              <a:rPr b="0" lang="zh-CN" sz="2000" spc="-1" strike="noStrike">
                <a:latin typeface="Arial"/>
              </a:rPr>
              <a:t>张无目标图中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张误报，图像级误报率</a:t>
            </a:r>
            <a:r>
              <a:rPr b="0" lang="en-US" sz="2000" spc="-1" strike="noStrike">
                <a:latin typeface="Arial"/>
              </a:rPr>
              <a:t>3.39%</a:t>
            </a:r>
            <a:r>
              <a:rPr b="0" lang="zh-CN" sz="2000" spc="-1" strike="noStrike">
                <a:latin typeface="Arial"/>
              </a:rPr>
              <a:t>。这些是模型候选检测指标，完整核验链和实际录屏还需要逐帧标注评估。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CB824F-D1F4-4932-B47C-71CF6D2083A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11</a:t>
            </a:r>
            <a:r>
              <a:rPr b="0" lang="zh-CN" sz="2000" spc="-1" strike="noStrike">
                <a:latin typeface="Arial"/>
              </a:rPr>
              <a:t>页 核心标识：坍塌与有毒泄漏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进入核心区后，我们识别坍塌和有毒泄漏，分别对应零号和一号标签。灾情图案各不相同，标签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确定类别，图像测量确定位置。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我们将</a:t>
            </a:r>
            <a:r>
              <a:rPr b="0" lang="en-US" sz="2000" spc="-1" strike="noStrike">
                <a:latin typeface="Arial"/>
              </a:rPr>
              <a:t>AprilTag 36h11</a:t>
            </a:r>
            <a:r>
              <a:rPr b="0" lang="zh-CN" sz="2000" spc="-1" strike="noStrike">
                <a:latin typeface="Arial"/>
              </a:rPr>
              <a:t>的</a:t>
            </a:r>
            <a:r>
              <a:rPr b="0" lang="en-US" sz="2000" spc="-1" strike="noStrike">
                <a:latin typeface="Arial"/>
              </a:rPr>
              <a:t>ID 0</a:t>
            </a:r>
            <a:r>
              <a:rPr b="0" lang="zh-CN" sz="2000" spc="-1" strike="noStrike">
                <a:latin typeface="Arial"/>
              </a:rPr>
              <a:t>关联到</a:t>
            </a:r>
            <a:r>
              <a:rPr b="0" lang="en-US" sz="2000" spc="-1" strike="noStrike">
                <a:latin typeface="Arial"/>
              </a:rPr>
              <a:t>COLLAPSE</a:t>
            </a:r>
            <a:r>
              <a:rPr b="0" lang="zh-CN" sz="2000" spc="-1" strike="noStrike">
                <a:latin typeface="Arial"/>
              </a:rPr>
              <a:t>，即坍塌；</a:t>
            </a:r>
            <a:r>
              <a:rPr b="0" lang="en-US" sz="2000" spc="-1" strike="noStrike">
                <a:latin typeface="Arial"/>
              </a:rPr>
              <a:t>ID 1</a:t>
            </a:r>
            <a:r>
              <a:rPr b="0" lang="zh-CN" sz="2000" spc="-1" strike="noStrike">
                <a:latin typeface="Arial"/>
              </a:rPr>
              <a:t>关联到</a:t>
            </a:r>
            <a:r>
              <a:rPr b="0" lang="en-US" sz="2000" spc="-1" strike="noStrike">
                <a:latin typeface="Arial"/>
              </a:rPr>
              <a:t>TOXIC_LEAK</a:t>
            </a:r>
            <a:r>
              <a:rPr b="0" lang="zh-CN" sz="2000" spc="-1" strike="noStrike">
                <a:latin typeface="Arial"/>
              </a:rPr>
              <a:t>，即有毒泄漏。两块灾情图案不同，并各自嵌入标签，本页显示当前运行中的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、类别和估计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坐标。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我们用相机图像解码标签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并提取四角，利用相机内参和标签尺寸求相机坐标，再转到地图。核心识别只在车辆定位进入配置的室内边界后启用，这个边界用于限定任务阶段。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我们将灾情图案、标签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、语义表和地图标记统一对应，让相机里的目标可以在</a:t>
            </a:r>
            <a:r>
              <a:rPr b="0" lang="en-US" sz="2000" spc="-1" strike="noStrike">
                <a:latin typeface="Arial"/>
              </a:rPr>
              <a:t>RViz</a:t>
            </a:r>
            <a:r>
              <a:rPr b="0" lang="zh-CN" sz="2000" spc="-1" strike="noStrike">
                <a:latin typeface="Arial"/>
              </a:rPr>
              <a:t>中按相同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核对。核心类别关联与走廊图案分类采用两条明确的处理链。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问：核心灾情也是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识别的吗？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我们当前核心类别由</a:t>
            </a:r>
            <a:r>
              <a:rPr b="0" lang="en-US" sz="2000" spc="-1" strike="noStrike">
                <a:latin typeface="Arial"/>
              </a:rPr>
              <a:t>AprilTag ID</a:t>
            </a:r>
            <a:r>
              <a:rPr b="0" lang="zh-CN" sz="2000" spc="-1" strike="noStrike">
                <a:latin typeface="Arial"/>
              </a:rPr>
              <a:t>与语义表关联，位置由四角测量和坐标变换求得。</a:t>
            </a:r>
            <a:r>
              <a:rPr b="0" lang="en-US" sz="2000" spc="-1" strike="noStrike">
                <a:latin typeface="Arial"/>
              </a:rPr>
              <a:t>YOLO</a:t>
            </a:r>
            <a:r>
              <a:rPr b="0" lang="zh-CN" sz="2000" spc="-1" strike="noStrike">
                <a:latin typeface="Arial"/>
              </a:rPr>
              <a:t>负责五类走廊图案，不负责这四个核心类别的直接分类。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问：预设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与类别是不是提前知道答案？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我们预设的是编码含义，就像给标签建立字典。是否检测到标签、标签四角和地图位置仍由运行时图像与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计算，控制和视觉不读取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里的标识真值坐标。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问：为什么要进入房间以后才处理核心标签？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我们按规则区分走廊巡检和室内标定，用车辆的地图定位判断阶段，避免从门外偶然看到标签就提前记作核心任务完成。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79BFE8-38A6-4B66-90F4-3B95605A0B5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页 核心标识：被困人员与高温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另外两类是被困人员和高温，分别对应二号和三号。我们将四类识别结果与地图标记一一对应，完成核心区灾情标定。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我们将</a:t>
            </a:r>
            <a:r>
              <a:rPr b="0" lang="en-US" sz="2000" spc="-1" strike="noStrike">
                <a:latin typeface="Arial"/>
              </a:rPr>
              <a:t>ID 2</a:t>
            </a:r>
            <a:r>
              <a:rPr b="0" lang="zh-CN" sz="2000" spc="-1" strike="noStrike">
                <a:latin typeface="Arial"/>
              </a:rPr>
              <a:t>关联到</a:t>
            </a:r>
            <a:r>
              <a:rPr b="0" lang="en-US" sz="2000" spc="-1" strike="noStrike">
                <a:latin typeface="Arial"/>
              </a:rPr>
              <a:t>TRAPPED_PERSON</a:t>
            </a:r>
            <a:r>
              <a:rPr b="0" lang="zh-CN" sz="2000" spc="-1" strike="noStrike">
                <a:latin typeface="Arial"/>
              </a:rPr>
              <a:t>，即被困人员；</a:t>
            </a:r>
            <a:r>
              <a:rPr b="0" lang="en-US" sz="2000" spc="-1" strike="noStrike">
                <a:latin typeface="Arial"/>
              </a:rPr>
              <a:t>ID 3</a:t>
            </a:r>
            <a:r>
              <a:rPr b="0" lang="zh-CN" sz="2000" spc="-1" strike="noStrike">
                <a:latin typeface="Arial"/>
              </a:rPr>
              <a:t>关联到</a:t>
            </a:r>
            <a:r>
              <a:rPr b="0" lang="en-US" sz="2000" spc="-1" strike="noStrike">
                <a:latin typeface="Arial"/>
              </a:rPr>
              <a:t>HIGH_TEMPERATURE</a:t>
            </a:r>
            <a:r>
              <a:rPr b="0" lang="zh-CN" sz="2000" spc="-1" strike="noStrike">
                <a:latin typeface="Arial"/>
              </a:rPr>
              <a:t>，即高温。四个核心标识分别采用不同图案和标签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，标签实际边长为</a:t>
            </a:r>
            <a:r>
              <a:rPr b="0" lang="en-US" sz="2000" spc="-1" strike="noStrike">
                <a:latin typeface="Arial"/>
              </a:rPr>
              <a:t>0.1875 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我们配置了多个核心观察步骤，其中南墙目标可以在同一安全停车点用云台观察，不需要为了每个标签都逼近墙面或转动整辆车。只有形成至少四次有效位置观测并发布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后，任务才获得相应核心确认。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我们把观察点、云台视野和多目标确认结合，让同一停车点支持不同目标的标定，减少为切换观察对象而移动底盘的需要。四个目标使用同一套质量筛选和融合流程。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问：系统能真的发现被困人员或测量温度吗？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我们当前识别的是代表这两类灾情的模拟标识，没有配置人体检测、生命探测或热成像设备，不能把标签识别结果当成实际人员或温度测量。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问：四个标签都看到一次就可以吗？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我们需要每个标签至少四次有效位置观测，再发布对应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。单次解码成功只是观测，核心任务还要求地图位置与实际布局吻合。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问：为什么没有为每个标签单独移动到更近的位置？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我们利用云台扩大观察方向，在安全停车点已经能获得有效观测时就不继续逼近墙面。能否采用同一点取决于当前布局、遮挡和视野，换场地需要重新验证。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A56300D-8F82-4097-BE27-C9D3B49DFA7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13</a:t>
            </a:r>
            <a:r>
              <a:rPr b="0" lang="zh-CN" sz="2000" spc="-1" strike="noStrike">
                <a:latin typeface="Arial"/>
              </a:rPr>
              <a:t>页 拍摄时刻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，让视觉结果对应</a:t>
            </a:r>
            <a:r>
              <a:rPr b="0" lang="en-US" sz="2000" spc="-1" strike="noStrike">
                <a:latin typeface="Arial"/>
              </a:rPr>
              <a:t>RViz</a:t>
            </a:r>
            <a:r>
              <a:rPr b="0" lang="zh-CN" sz="2000" spc="-1" strike="noStrike">
                <a:latin typeface="Arial"/>
              </a:rPr>
              <a:t>地图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云台转动时，我们让图像匹配拍摄时刻的实际关节角。先用标签四角求相机坐标，再通过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转到地图；至少四次有效观测经过质量筛选和稳健融合后发布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，右侧展示四个对应位置。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我们从</a:t>
            </a:r>
            <a:r>
              <a:rPr b="0" lang="en-US" sz="2000" spc="-1" strike="noStrike">
                <a:latin typeface="Arial"/>
              </a:rPr>
              <a:t>camera_info</a:t>
            </a:r>
            <a:r>
              <a:rPr b="0" lang="zh-CN" sz="2000" spc="-1" strike="noStrike">
                <a:latin typeface="Arial"/>
              </a:rPr>
              <a:t>读取相机内参和畸变参数，使用已知</a:t>
            </a:r>
            <a:r>
              <a:rPr b="0" lang="en-US" sz="2000" spc="-1" strike="noStrike">
                <a:latin typeface="Arial"/>
              </a:rPr>
              <a:t>0.1875 m</a:t>
            </a:r>
            <a:r>
              <a:rPr b="0" lang="zh-CN" sz="2000" spc="-1" strike="noStrike">
                <a:latin typeface="Arial"/>
              </a:rPr>
              <a:t>标签边长及图像四角，通过</a:t>
            </a:r>
            <a:r>
              <a:rPr b="0" lang="en-US" sz="2000" spc="-1" strike="noStrike">
                <a:latin typeface="Arial"/>
              </a:rPr>
              <a:t>IPPE_SQUARE</a:t>
            </a:r>
            <a:r>
              <a:rPr b="0" lang="zh-CN" sz="2000" spc="-1" strike="noStrike">
                <a:latin typeface="Arial"/>
              </a:rPr>
              <a:t>求位置。结果必须是有限数值、正深度，平均重投影误差不超过</a:t>
            </a:r>
            <a:r>
              <a:rPr b="0" lang="en-US" sz="2000" spc="-1" strike="noStrike">
                <a:latin typeface="Arial"/>
              </a:rPr>
              <a:t>2.5</a:t>
            </a:r>
            <a:r>
              <a:rPr b="0" lang="zh-CN" sz="2000" spc="-1" strike="noStrike">
                <a:latin typeface="Arial"/>
              </a:rPr>
              <a:t>像素。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我们使用图像</a:t>
            </a:r>
            <a:r>
              <a:rPr b="0" lang="en-US" sz="2000" spc="-1" strike="noStrike">
                <a:latin typeface="Arial"/>
              </a:rPr>
              <a:t>header</a:t>
            </a:r>
            <a:r>
              <a:rPr b="0" lang="zh-CN" sz="2000" spc="-1" strike="noStrike">
                <a:latin typeface="Arial"/>
              </a:rPr>
              <a:t>的时间戳查询</a:t>
            </a:r>
            <a:r>
              <a:rPr b="0" lang="en-US" sz="2000" spc="-1" strike="noStrike">
                <a:latin typeface="Arial"/>
              </a:rPr>
              <a:t>camera_optical_frame</a:t>
            </a:r>
            <a:r>
              <a:rPr b="0" lang="zh-CN" sz="2000" spc="-1" strike="noStrike">
                <a:latin typeface="Arial"/>
              </a:rPr>
              <a:t>到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的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，其中包含实际云台姿态、底盘里程计和地图定位变换。待处理图像至少等待</a:t>
            </a:r>
            <a:r>
              <a:rPr b="0" lang="en-US" sz="2000" spc="-1" strike="noStrike">
                <a:latin typeface="Arial"/>
              </a:rPr>
              <a:t>0.15</a:t>
            </a:r>
            <a:r>
              <a:rPr b="0" lang="zh-CN" sz="2000" spc="-1" strike="noStrike">
                <a:latin typeface="Arial"/>
              </a:rPr>
              <a:t>秒，让相应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有机会到达；超过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秒的旧帧丢弃。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我们为每个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保留最近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个有效位置样本，至少四次有效观测后取中值。已有稳定位置附近超过</a:t>
            </a:r>
            <a:r>
              <a:rPr b="0" lang="en-US" sz="2000" spc="-1" strike="noStrike">
                <a:latin typeface="Arial"/>
              </a:rPr>
              <a:t>0.20 m</a:t>
            </a:r>
            <a:r>
              <a:rPr b="0" lang="zh-CN" sz="2000" spc="-1" strike="noStrike">
                <a:latin typeface="Arial"/>
              </a:rPr>
              <a:t>的异常观测拒收，再用</a:t>
            </a:r>
            <a:r>
              <a:rPr b="0" lang="en-US" sz="2000" spc="-1" strike="noStrike">
                <a:latin typeface="Arial"/>
              </a:rPr>
              <a:t>0.35</a:t>
            </a:r>
            <a:r>
              <a:rPr b="0" lang="zh-CN" sz="2000" spc="-1" strike="noStrike">
                <a:latin typeface="Arial"/>
              </a:rPr>
              <a:t>权重平滑新位置。样本不要求连续，标签暂时缺帧不会清空已有样本。我们在</a:t>
            </a:r>
            <a:r>
              <a:rPr b="0" lang="en-US" sz="2000" spc="-1" strike="noStrike">
                <a:latin typeface="Arial"/>
              </a:rPr>
              <a:t>RViz</a:t>
            </a:r>
            <a:r>
              <a:rPr b="0" lang="zh-CN" sz="2000" spc="-1" strike="noStrike">
                <a:latin typeface="Arial"/>
              </a:rPr>
              <a:t>发布彩色立方体及类别、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文字，平面位置与相机估计对应。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我们处理运动云台下的图像与姿态时间错配，将实际关节反馈、拍摄时间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、重投影筛选和稳健位置融合接入同一标定链，减少使用处理时刻姿态或单帧位置导致的漂移。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问：为什么不能直接用最新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我们处理图片时，云台可能已经转到另一个角度。最新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会用错误方向解释旧图像，因此我们按拍摄时间查询实际姿态。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问：重投影误差是什么意思？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我们用估计位姿把标签的四个空间角点投回图像，比较投影点与检测角点的像素距离。差距过大，说明该次位姿与图像不一致，就不纳入融合。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问：至少四次观测与走廊三帧有什么区别？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我们走廊要求连续三个空间关联处理帧，用于类别事件确认；核心要求至少四次有效位置观测，不要求连续，用于位置融合和标定。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为什么可能有十几厘米误差？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我们的最终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位置同时受四角测量、相机参数、云台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和地图漂移影响。中值与平滑主要处理观测波动，不能消除所有系统偏差。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870A8D-F0CC-41FA-843D-E86CA00CF34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14</a:t>
            </a:r>
            <a:r>
              <a:rPr b="0" lang="zh-CN" sz="2000" spc="-1" strike="noStrike">
                <a:latin typeface="Arial"/>
              </a:rPr>
              <a:t>页 门洞残留栅格清理区：让旧占用不再堵路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箱体推走后，静态地图的旧占用仍可能堵住门洞。我们在限定区域累计激光自由证据，同一栅格获得三次不同扫描支持后才清理派生导航图，固定墙体和实时障碍保护继续保留。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我们保留原始</a:t>
            </a:r>
            <a:r>
              <a:rPr b="0" lang="en-US" sz="2000" spc="-1" strike="noStrike">
                <a:latin typeface="Arial"/>
              </a:rPr>
              <a:t>PGM</a:t>
            </a:r>
            <a:r>
              <a:rPr b="0" lang="zh-CN" sz="2000" spc="-1" strike="noStrike">
                <a:latin typeface="Arial"/>
              </a:rPr>
              <a:t>和地图输入，在派生</a:t>
            </a:r>
            <a:r>
              <a:rPr b="0" lang="en-US" sz="2000" spc="-1" strike="noStrike">
                <a:latin typeface="Arial"/>
              </a:rPr>
              <a:t>navigation_map</a:t>
            </a:r>
            <a:r>
              <a:rPr b="0" lang="zh-CN" sz="2000" spc="-1" strike="noStrike">
                <a:latin typeface="Arial"/>
              </a:rPr>
              <a:t>中处理可移动箱体区域和门洞残留栅格区。配置的箱体区域为</a:t>
            </a:r>
            <a:r>
              <a:rPr b="0" lang="en-US" sz="2000" spc="-1" strike="noStrike">
                <a:latin typeface="Arial"/>
              </a:rPr>
              <a:t>x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1.18–1.72 m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y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0.70–1.70 m</a:t>
            </a:r>
            <a:r>
              <a:rPr b="0" lang="zh-CN" sz="2000" spc="-1" strike="noStrike">
                <a:latin typeface="Arial"/>
              </a:rPr>
              <a:t>；门洞小区域为</a:t>
            </a:r>
            <a:r>
              <a:rPr b="0" lang="en-US" sz="2000" spc="-1" strike="noStrike">
                <a:latin typeface="Arial"/>
              </a:rPr>
              <a:t>x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1.30–1.42 m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y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2.00–2.11 m</a:t>
            </a:r>
            <a:r>
              <a:rPr b="0" lang="zh-CN" sz="2000" spc="-1" strike="noStrike">
                <a:latin typeface="Arial"/>
              </a:rPr>
              <a:t>。两个矩形按当前布局避开固定墙体。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我们按扫描时间戳查询激光到地图的变换，沿有限有效量测射线累计自由栅格。射线在测得障碍前</a:t>
            </a:r>
            <a:r>
              <a:rPr b="0" lang="en-US" sz="2000" spc="-1" strike="noStrike">
                <a:latin typeface="Arial"/>
              </a:rPr>
              <a:t>0.08 m</a:t>
            </a:r>
            <a:r>
              <a:rPr b="0" lang="zh-CN" sz="2000" spc="-1" strike="noStrike">
                <a:latin typeface="Arial"/>
              </a:rPr>
              <a:t>截止，最大处理</a:t>
            </a:r>
            <a:r>
              <a:rPr b="0" lang="en-US" sz="2000" spc="-1" strike="noStrike">
                <a:latin typeface="Arial"/>
              </a:rPr>
              <a:t>4 m</a:t>
            </a:r>
            <a:r>
              <a:rPr b="0" lang="zh-CN" sz="2000" spc="-1" strike="noStrike">
                <a:latin typeface="Arial"/>
              </a:rPr>
              <a:t>，按半栅格步长采样。同一栅格在一张扫描中只记一次，累计三个不同时间戳的扫描后才置为空闲，不要求连续扫描。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我们的全局静态层订阅派生地图，实时激光障碍层继续标记箱体新位置。本页是实际</a:t>
            </a:r>
            <a:r>
              <a:rPr b="0" lang="en-US" sz="2000" spc="-1" strike="noStrike">
                <a:latin typeface="Arial"/>
              </a:rPr>
              <a:t>PGM</a:t>
            </a:r>
            <a:r>
              <a:rPr b="0" lang="zh-CN" sz="2000" spc="-1" strike="noStrike">
                <a:latin typeface="Arial"/>
              </a:rPr>
              <a:t>与配置允许区叠加，逐格清理前后过程尚未保存。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我们针对旧箱体和门洞残影阻断规划的问题，将场地区域先验与多次自由射线证据结合，局部修正导航静态占用，同时保留实时障碍信息。这是有区域先验的导航图更新方法。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问：为什么不直接清空所有代价地图？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我们需要保留固定墙体和真实障碍。整图清空会丢失有用约束，而且静态层可能重新载入旧占用，所以我们只更新指定区域中有重复自由证据的格子。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问：墙体是不是由算法自动识别并排除？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我们当前通过配置矩形避开墙体，没有实现通用墙体语义分割。区域要根据场地和定位误差核对，换地图后需要重新配置验证。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问：箱体推到别处，会不会也被清掉？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我们的自由射线停在障碍前，不穿过箱体本体；实时障碍层继续记录它的新位置。更新的是已有自由证据支持的残留格。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问：这算动态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我们是在保存地图上处理已知区域的旧占用，没有实现通用动态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，也没有完成未知场景自主探索。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5A9795-3B9C-49E8-BFE5-14BB23CFCC4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页 按任务阶段选速度：完整任务平均缩短</a:t>
            </a:r>
            <a:r>
              <a:rPr b="0" lang="en-US" sz="2000" spc="-1" strike="noStrike">
                <a:latin typeface="Arial"/>
              </a:rPr>
              <a:t>7.6%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我们根据任务阶段选速度：普通路段零点二米每秒，精细阶段零点一二，推障零点一。保持识别与停车条件后，历史完整任务平均从三百一十点八二秒降到二百八十七点二秒，缩短百分之七点六。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我们为普通导航配置</a:t>
            </a:r>
            <a:r>
              <a:rPr b="0" lang="en-US" sz="2000" spc="-1" strike="noStrike">
                <a:latin typeface="Arial"/>
              </a:rPr>
              <a:t>0.20 m/s</a:t>
            </a:r>
            <a:r>
              <a:rPr b="0" lang="zh-CN" sz="2000" spc="-1" strike="noStrike">
                <a:latin typeface="Arial"/>
              </a:rPr>
              <a:t>，门洞、推障对正和最终起点使用</a:t>
            </a:r>
            <a:r>
              <a:rPr b="0" lang="en-US" sz="2000" spc="-1" strike="noStrike">
                <a:latin typeface="Arial"/>
              </a:rPr>
              <a:t>0.12 m/s</a:t>
            </a:r>
            <a:r>
              <a:rPr b="0" lang="zh-CN" sz="2000" spc="-1" strike="noStrike">
                <a:latin typeface="Arial"/>
              </a:rPr>
              <a:t>，实体推障保留</a:t>
            </a:r>
            <a:r>
              <a:rPr b="0" lang="en-US" sz="2000" spc="-1" strike="noStrike">
                <a:latin typeface="Arial"/>
              </a:rPr>
              <a:t>0.10 m/s</a:t>
            </a:r>
            <a:r>
              <a:rPr b="0" lang="zh-CN" sz="2000" spc="-1" strike="noStrike">
                <a:latin typeface="Arial"/>
              </a:rPr>
              <a:t>。普通位置容差</a:t>
            </a:r>
            <a:r>
              <a:rPr b="0" lang="en-US" sz="2000" spc="-1" strike="noStrike">
                <a:latin typeface="Arial"/>
              </a:rPr>
              <a:t>0.05 m</a:t>
            </a:r>
            <a:r>
              <a:rPr b="0" lang="zh-CN" sz="2000" spc="-1" strike="noStrike">
                <a:latin typeface="Arial"/>
              </a:rPr>
              <a:t>，到点减速距离</a:t>
            </a:r>
            <a:r>
              <a:rPr b="0" lang="en-US" sz="2000" spc="-1" strike="noStrike">
                <a:latin typeface="Arial"/>
              </a:rPr>
              <a:t>0.20 m</a:t>
            </a:r>
            <a:r>
              <a:rPr b="0" lang="zh-CN" sz="2000" spc="-1" strike="noStrike">
                <a:latin typeface="Arial"/>
              </a:rPr>
              <a:t>；精细阶段保留</a:t>
            </a:r>
            <a:r>
              <a:rPr b="0" lang="en-US" sz="2000" spc="-1" strike="noStrike">
                <a:latin typeface="Arial"/>
              </a:rPr>
              <a:t>0.025 m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0.40 m</a:t>
            </a:r>
            <a:r>
              <a:rPr b="0" lang="zh-CN" sz="2000" spc="-1" strike="noStrike">
                <a:latin typeface="Arial"/>
              </a:rPr>
              <a:t>，朝向容差</a:t>
            </a:r>
            <a:r>
              <a:rPr b="0" lang="en-US" sz="2000" spc="-1" strike="noStrike">
                <a:latin typeface="Arial"/>
              </a:rPr>
              <a:t>0.045 rad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我们先导航到位置，再基于当前地图位置单独对正朝向，减少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更新后为了追旧终点而反复调整。普通对正角速度为</a:t>
            </a:r>
            <a:r>
              <a:rPr b="0" lang="en-US" sz="2000" spc="-1" strike="noStrike">
                <a:latin typeface="Arial"/>
              </a:rPr>
              <a:t>0.40 rad/s</a:t>
            </a:r>
            <a:r>
              <a:rPr b="0" lang="zh-CN" sz="2000" spc="-1" strike="noStrike">
                <a:latin typeface="Arial"/>
              </a:rPr>
              <a:t>，精细对正</a:t>
            </a:r>
            <a:r>
              <a:rPr b="0" lang="en-US" sz="2000" spc="-1" strike="noStrike">
                <a:latin typeface="Arial"/>
              </a:rPr>
              <a:t>0.35 rad/s</a:t>
            </a:r>
            <a:r>
              <a:rPr b="0" lang="zh-CN" sz="2000" spc="-1" strike="noStrike">
                <a:latin typeface="Arial"/>
              </a:rPr>
              <a:t>，实际速度还受路径曲率、近点减速、平滑器和安全节点约束。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我们的历史无界面试验包含一次原速基准</a:t>
            </a:r>
            <a:r>
              <a:rPr b="0" lang="en-US" sz="2000" spc="-1" strike="noStrike">
                <a:latin typeface="Arial"/>
              </a:rPr>
              <a:t>310.82</a:t>
            </a:r>
            <a:r>
              <a:rPr b="0" lang="zh-CN" sz="2000" spc="-1" strike="noStrike">
                <a:latin typeface="Arial"/>
              </a:rPr>
              <a:t>秒，两次最终配置</a:t>
            </a:r>
            <a:r>
              <a:rPr b="0" lang="en-US" sz="2000" spc="-1" strike="noStrike">
                <a:latin typeface="Arial"/>
              </a:rPr>
              <a:t>286.07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288.32</a:t>
            </a:r>
            <a:r>
              <a:rPr b="0" lang="zh-CN" sz="2000" spc="-1" strike="noStrike">
                <a:latin typeface="Arial"/>
              </a:rPr>
              <a:t>秒，均值</a:t>
            </a:r>
            <a:r>
              <a:rPr b="0" lang="en-US" sz="2000" spc="-1" strike="noStrike">
                <a:latin typeface="Arial"/>
              </a:rPr>
              <a:t>287.20</a:t>
            </a:r>
            <a:r>
              <a:rPr b="0" lang="zh-CN" sz="2000" spc="-1" strike="noStrike">
                <a:latin typeface="Arial"/>
              </a:rPr>
              <a:t>秒；节省</a:t>
            </a:r>
            <a:r>
              <a:rPr b="0" lang="en-US" sz="2000" spc="-1" strike="noStrike">
                <a:latin typeface="Arial"/>
              </a:rPr>
              <a:t>23.62</a:t>
            </a:r>
            <a:r>
              <a:rPr b="0" lang="zh-CN" sz="2000" spc="-1" strike="noStrike">
                <a:latin typeface="Arial"/>
              </a:rPr>
              <a:t>秒，约</a:t>
            </a:r>
            <a:r>
              <a:rPr b="0" lang="en-US" sz="2000" spc="-1" strike="noStrike">
                <a:latin typeface="Arial"/>
              </a:rPr>
              <a:t>7.6%</a:t>
            </a:r>
            <a:r>
              <a:rPr b="0" lang="zh-CN" sz="2000" spc="-1" strike="noStrike">
                <a:latin typeface="Arial"/>
              </a:rPr>
              <a:t>。计时从首次导航至完成，包含观察、推障、对正和返航，排除启动。模型权重、扫描周期、三帧走廊确认、四次标签观测和停车条件保留。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我们以完整任务耗时评价速度配置，将普通段效率与精细操作约束分开，并通过位置、朝向两阶段到达减少重复纠偏。参数按任务阶段预先选择，改进来自任务控制与导航配置协同。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问：为什么速度更高反而可能更慢？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我们试过分档</a:t>
            </a:r>
            <a:r>
              <a:rPr b="0" lang="en-US" sz="2000" spc="-1" strike="noStrike">
                <a:latin typeface="Arial"/>
              </a:rPr>
              <a:t>0.24 m/s</a:t>
            </a:r>
            <a:r>
              <a:rPr b="0" lang="zh-CN" sz="2000" spc="-1" strike="noStrike">
                <a:latin typeface="Arial"/>
              </a:rPr>
              <a:t>，虽然完成任务，但末端对正更多，耗时</a:t>
            </a:r>
            <a:r>
              <a:rPr b="0" lang="en-US" sz="2000" spc="-1" strike="noStrike">
                <a:latin typeface="Arial"/>
              </a:rPr>
              <a:t>296.84</a:t>
            </a:r>
            <a:r>
              <a:rPr b="0" lang="zh-CN" sz="2000" spc="-1" strike="noStrike">
                <a:latin typeface="Arial"/>
              </a:rPr>
              <a:t>秒，比最终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配置更慢。全程</a:t>
            </a:r>
            <a:r>
              <a:rPr b="0" lang="en-US" sz="2000" spc="-1" strike="noStrike">
                <a:latin typeface="Arial"/>
              </a:rPr>
              <a:t>0.24</a:t>
            </a:r>
            <a:r>
              <a:rPr b="0" lang="zh-CN" sz="2000" spc="-1" strike="noStrike">
                <a:latin typeface="Arial"/>
              </a:rPr>
              <a:t>在返航门洞被安全保护阻止，分档</a:t>
            </a:r>
            <a:r>
              <a:rPr b="0" lang="en-US" sz="2000" spc="-1" strike="noStrike">
                <a:latin typeface="Arial"/>
              </a:rPr>
              <a:t>0.30</a:t>
            </a:r>
            <a:r>
              <a:rPr b="0" lang="zh-CN" sz="2000" spc="-1" strike="noStrike">
                <a:latin typeface="Arial"/>
              </a:rPr>
              <a:t>触发异常转向停车。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问：你们是不是减少了观察时间才快？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我们没有缩短</a:t>
            </a:r>
            <a:r>
              <a:rPr b="0" lang="en-US" sz="2000" spc="-1" strike="noStrike">
                <a:latin typeface="Arial"/>
              </a:rPr>
              <a:t>28</a:t>
            </a:r>
            <a:r>
              <a:rPr b="0" lang="zh-CN" sz="2000" spc="-1" strike="noStrike">
                <a:latin typeface="Arial"/>
              </a:rPr>
              <a:t>秒观察上限、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秒扫描周期和最短观察等待，也保留了确认条件。改动主要是普通段速度、位置容差、减速距离以及到点后的对正流程。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问：这组结果和当前视频是同一次吗？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我们这页使用</a:t>
            </a:r>
            <a:r>
              <a:rPr b="0" lang="en-US" sz="2000" spc="-1" strike="noStrike">
                <a:latin typeface="Arial"/>
              </a:rPr>
              <a:t>2026</a:t>
            </a:r>
            <a:r>
              <a:rPr b="0" lang="zh-CN" sz="2000" spc="-1" strike="noStrike">
                <a:latin typeface="Arial"/>
              </a:rPr>
              <a:t>年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月</a:t>
            </a:r>
            <a:r>
              <a:rPr b="0" lang="en-US" sz="2000" spc="-1" strike="noStrike">
                <a:latin typeface="Arial"/>
              </a:rPr>
              <a:t>12</a:t>
            </a:r>
            <a:r>
              <a:rPr b="0" lang="zh-CN" sz="2000" spc="-1" strike="noStrike">
                <a:latin typeface="Arial"/>
              </a:rPr>
              <a:t>日的无界面速度试验。当前视频开启</a:t>
            </a:r>
            <a:r>
              <a:rPr b="0" lang="en-US" sz="2000" spc="-1" strike="noStrike">
                <a:latin typeface="Arial"/>
              </a:rPr>
              <a:t>GUI</a:t>
            </a:r>
            <a:r>
              <a:rPr b="0" lang="zh-CN" sz="2000" spc="-1" strike="noStrike">
                <a:latin typeface="Arial"/>
              </a:rPr>
              <a:t>、在线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和录屏，首次导航至完成为</a:t>
            </a:r>
            <a:r>
              <a:rPr b="0" lang="en-US" sz="2000" spc="-1" strike="noStrike">
                <a:latin typeface="Arial"/>
              </a:rPr>
              <a:t>305.29</a:t>
            </a:r>
            <a:r>
              <a:rPr b="0" lang="zh-CN" sz="2000" spc="-1" strike="noStrike">
                <a:latin typeface="Arial"/>
              </a:rPr>
              <a:t>秒，两组负载不同，分别统计。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</a:t>
            </a:r>
            <a:r>
              <a:rPr b="0" lang="en-US" sz="2000" spc="-1" strike="noStrike">
                <a:latin typeface="Arial"/>
              </a:rPr>
              <a:t>7.6%</a:t>
            </a:r>
            <a:r>
              <a:rPr b="0" lang="zh-CN" sz="2000" spc="-1" strike="noStrike">
                <a:latin typeface="Arial"/>
              </a:rPr>
              <a:t>能代表所有场地吗？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我们的对比只有一次基准和两次最终配置，只能说明这组试验的结果，尚不足以证明跨场地收益、统计显著性或全局最优参数。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3F8458-8046-42FA-B824-729889CEEB1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16</a:t>
            </a:r>
            <a:r>
              <a:rPr b="0" lang="zh-CN" sz="2000" spc="-1" strike="noStrike">
                <a:latin typeface="Arial"/>
              </a:rPr>
              <a:t>页 当前视频的同次验收结果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本次视频中，五类走廊与四个核心标记全部完成。箱体移动零点九九六米，返航误差四点二六厘米；四个标记的地图平面误差为七点五二到十三点九四厘米，通过了我们设置的项目验收。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我们在同一次运行中保存任务事件、原始与标注图像、车辆轨迹、箱体位置、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、坐标变换和源码哈希。独立验收读取</a:t>
            </a:r>
            <a:r>
              <a:rPr b="0" lang="en-US" sz="2000" spc="-1" strike="noStrike">
                <a:latin typeface="Arial"/>
              </a:rPr>
              <a:t>evaluation/model_states</a:t>
            </a:r>
            <a:r>
              <a:rPr b="0" lang="zh-CN" sz="2000" spc="-1" strike="noStrike">
                <a:latin typeface="Arial"/>
              </a:rPr>
              <a:t>记录真值，不向任务、视觉和导航提供目标答案。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本次箱体实际位移为</a:t>
            </a:r>
            <a:r>
              <a:rPr b="0" lang="en-US" sz="2000" spc="-1" strike="noStrike">
                <a:latin typeface="Arial"/>
              </a:rPr>
              <a:t>0.9959845 m</a:t>
            </a:r>
            <a:r>
              <a:rPr b="0" lang="zh-CN" sz="2000" spc="-1" strike="noStrike">
                <a:latin typeface="Arial"/>
              </a:rPr>
              <a:t>，返航位置误差为</a:t>
            </a:r>
            <a:r>
              <a:rPr b="0" lang="en-US" sz="2000" spc="-1" strike="noStrike">
                <a:latin typeface="Arial"/>
              </a:rPr>
              <a:t>0.0425607 m</a:t>
            </a:r>
            <a:r>
              <a:rPr b="0" lang="zh-CN" sz="2000" spc="-1" strike="noStrike">
                <a:latin typeface="Arial"/>
              </a:rPr>
              <a:t>；统一到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坐标后，</a:t>
            </a:r>
            <a:r>
              <a:rPr b="0" lang="en-US" sz="2000" spc="-1" strike="noStrike">
                <a:latin typeface="Arial"/>
              </a:rPr>
              <a:t>ID 0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13.94 cm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ID 1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11.88 cm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ID 2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10.20 cm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ID 3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7.52 cm</a:t>
            </a:r>
            <a:r>
              <a:rPr b="0" lang="zh-CN" sz="2000" spc="-1" strike="noStrike">
                <a:latin typeface="Arial"/>
              </a:rPr>
              <a:t>。五类走廊齐全，四个核心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齐全，独立在线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已留档，完整轮廓墙体重叠采样为空。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我们把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与实际标签位置转换到同一坐标系后计算二维距离；返航误差使用车辆最终真值平面位置与配置起点比较。项目自定验收门限为标签误差小于</a:t>
            </a:r>
            <a:r>
              <a:rPr b="0" lang="en-US" sz="2000" spc="-1" strike="noStrike">
                <a:latin typeface="Arial"/>
              </a:rPr>
              <a:t>15 cm</a:t>
            </a:r>
            <a:r>
              <a:rPr b="0" lang="zh-CN" sz="2000" spc="-1" strike="noStrike">
                <a:latin typeface="Arial"/>
              </a:rPr>
              <a:t>、返航误差小于</a:t>
            </a:r>
            <a:r>
              <a:rPr b="0" lang="en-US" sz="2000" spc="-1" strike="noStrike">
                <a:latin typeface="Arial"/>
              </a:rPr>
              <a:t>10 cm</a:t>
            </a:r>
            <a:r>
              <a:rPr b="0" lang="zh-CN" sz="2000" spc="-1" strike="noStrike">
                <a:latin typeface="Arial"/>
              </a:rPr>
              <a:t>、箱体位移大于</a:t>
            </a:r>
            <a:r>
              <a:rPr b="0" lang="en-US" sz="2000" spc="-1" strike="noStrike">
                <a:latin typeface="Arial"/>
              </a:rPr>
              <a:t>0.50 m</a:t>
            </a:r>
            <a:r>
              <a:rPr b="0" lang="zh-CN" sz="2000" spc="-1" strike="noStrike">
                <a:latin typeface="Arial"/>
              </a:rPr>
              <a:t>，这些不是比赛规则规定的数值标准。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我们用独立旁路验收核对控制系统报告的完成状态，并保留同次图像、日志、坐标变换和源码版本，使结果能够追溯。定位、箱体位移和返航分别测量，避免仅凭终端显示完成判断任务质量。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问：你们怎么计算标签位置误差？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中，标签真值最初在</a:t>
            </a:r>
            <a:r>
              <a:rPr b="0" lang="en-US" sz="2000" spc="-1" strike="noStrike">
                <a:latin typeface="Arial"/>
              </a:rPr>
              <a:t>world/odom</a:t>
            </a:r>
            <a:r>
              <a:rPr b="0" lang="zh-CN" sz="2000" spc="-1" strike="noStrike">
                <a:latin typeface="Arial"/>
              </a:rPr>
              <a:t>参考中。验收使用本次记录的</a:t>
            </a:r>
            <a:r>
              <a:rPr b="0" lang="en-US" sz="2000" spc="-1" strike="noStrike">
                <a:latin typeface="Arial"/>
              </a:rPr>
              <a:t>map←odom</a:t>
            </a:r>
            <a:r>
              <a:rPr b="0" lang="zh-CN" sz="2000" spc="-1" strike="noStrike">
                <a:latin typeface="Arial"/>
              </a:rPr>
              <a:t>变换统一坐标，再计算平面距离；原始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直接相减的数值另行保留。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问：为什么不直接把标签真值发布成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我们的视觉节点只根据图像、内参、标签尺寸和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计算位置，没有订阅验收真值。真值用于旁路测量，不能参与生成识别结果。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问：验收通过是否等于规则满分？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我们的验收是项目自检。规则要求正确识别、位置吻合、顺畅清障和返航，最终评分由评委根据展示判断，没有规定我们使用的厘米门限。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问：五类和四标签齐全，能说识别率</a:t>
            </a:r>
            <a:r>
              <a:rPr b="0" lang="en-US" sz="2000" spc="-1" strike="noStrike">
                <a:latin typeface="Arial"/>
              </a:rPr>
              <a:t>100%</a:t>
            </a:r>
            <a:r>
              <a:rPr b="0" lang="zh-CN" sz="2000" spc="-1" strike="noStrike">
                <a:latin typeface="Arial"/>
              </a:rPr>
              <a:t>吗？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我们只能说本次任务目标全部确认。它不代表每个视频帧都没有误报或漏检，也不代表不同场地的统计成功率。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E7E472-5BEE-4FFF-BF5E-DC8C17FAFC7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17</a:t>
            </a:r>
            <a:r>
              <a:rPr b="0" lang="zh-CN" sz="2000" spc="-1" strike="noStrike">
                <a:latin typeface="Arial"/>
              </a:rPr>
              <a:t>页 团队贡献：结构、感知与导航协同实现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现场讲述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我们的贡献集中在三方面：结构与接触、感知与标定、导航与验收。我们针对具体任务实现协同改进，明确基础技术来源。下一步增加随机条件验证、逐帧评估和接触力检测。谢谢各位老师。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备注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详细说明与创新点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我们完成了厂区与九种图案设计、被动</a:t>
            </a:r>
            <a:r>
              <a:rPr b="0" lang="en-US" sz="2000" spc="-1" strike="noStrike">
                <a:latin typeface="Arial"/>
              </a:rPr>
              <a:t>V</a:t>
            </a:r>
            <a:r>
              <a:rPr b="0" lang="zh-CN" sz="2000" spc="-1" strike="noStrike">
                <a:latin typeface="Arial"/>
              </a:rPr>
              <a:t>形推板、物理云台插件及模型结构；将推板和车轮纳入完整轮廓，设计低速接触授权和有限脱离。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我们在项目内实现轻量模型与合成训练，加入同色负例、图案核验、牌边拟合、局部重检和空间关联；将图像拍摄时间与实际云台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匹配，并通过质量筛选和位置融合完成地图标定。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我们实现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步任务状态机、参数化目标与阶段控制、激光自由证据派生地图更新，以及独立验收和连续录屏工具。我们使用</a:t>
            </a:r>
            <a:r>
              <a:rPr b="0" lang="en-US" sz="2000" spc="-1" strike="noStrike">
                <a:latin typeface="Arial"/>
              </a:rPr>
              <a:t>ROS 2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slam_toolbox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PyTorch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YOLOv5</a:t>
            </a:r>
            <a:r>
              <a:rPr b="0" lang="zh-CN" sz="2000" spc="-1" strike="noStrike">
                <a:latin typeface="Arial"/>
              </a:rPr>
              <a:t>架构思想、</a:t>
            </a:r>
            <a:r>
              <a:rPr b="0" lang="en-US" sz="2000" spc="-1" strike="noStrike">
                <a:latin typeface="Arial"/>
              </a:rPr>
              <a:t>OpenCV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等基础技术，贡献体现在针对任务问题的设计和实现。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我们后续重点增加随机箱体与车辆初始条件、多次完整运行、实际视频逐帧标注，以及接触力检测，检验当前方案的稳定性和适用范围。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可能提问与回答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问：用了开源组件，自己的创新在哪里？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我们围绕实际失效问题做改进：侧墙观察用云台与任务确认协同，同色误报和小目标用多级核验，主动接触用完整轮廓与受限授权，图像姿态错配用拍摄时刻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，旧占用堵门用自由证据更新地图，任务耗时用阶段控制优化。这些机制由我们在项目中实现并留下测试记录。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问：为什么不直接套一套导航模板？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我们任务包含必须主动接触的箱体、侧墙图案和转动相机定位，普通导航模板不能直接解决这些衔接问题。我们保留成熟导航基础，再实现清障、视觉确认、地图更新和任务调度接口。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问：换场地需要改什么？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我们需要重新建图和设置初始定位，审核任务目标、门洞精细阶段和允许地图清理区域；更换图案、相机或标签尺寸后，还要重新训练或标定，并重新执行完整验收。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问：如果继续做，优先改什么？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我们会先增加随机初始条件重复试验和真实录屏逐帧评估，确定失败分布；再增加接触力与目标关联，减少推障对已知位置的依赖，并验证实车适配。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DF6450-80BC-4C1B-B155-728CE5E2B49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18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zh-CN" sz="2000" spc="-1" strike="noStrike">
                <a:latin typeface="Arial"/>
              </a:rPr>
              <a:t>：评分项与证据对应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环境与建图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分：自建场地、清晰地图、在线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留档。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走廊识别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分：入室前五类正确分类与可读终端打印。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核心入口清障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分：真实动态箱体位移与平稳进入核心区。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核心识别标定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分：四类核心灾情、</a:t>
            </a:r>
            <a:r>
              <a:rPr b="0" lang="en-US" sz="2000" spc="-1" strike="noStrike">
                <a:latin typeface="Arial"/>
              </a:rPr>
              <a:t>AprilTag ID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RViz Marker</a:t>
            </a:r>
            <a:r>
              <a:rPr b="0" lang="zh-CN" sz="2000" spc="-1" strike="noStrike">
                <a:latin typeface="Arial"/>
              </a:rPr>
              <a:t>位置对应。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返回起点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分：全流程返航画面与完成事件，本次返航误差</a:t>
            </a:r>
            <a:r>
              <a:rPr b="0" lang="en-US" sz="2000" spc="-1" strike="noStrike">
                <a:latin typeface="Arial"/>
              </a:rPr>
              <a:t>4.26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创新答辩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分：机构、接触安全、视觉核验、时间同步、导航地图与阶段控制的场景化改进。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规则以评委现场判定为准，没有公布</a:t>
            </a:r>
            <a:r>
              <a:rPr b="0" lang="en-US" sz="2000" spc="-1" strike="noStrike">
                <a:latin typeface="Arial"/>
              </a:rPr>
              <a:t>15 cm</a:t>
            </a:r>
            <a:r>
              <a:rPr b="0" lang="zh-CN" sz="2000" spc="-1" strike="noStrike">
                <a:latin typeface="Arial"/>
              </a:rPr>
              <a:t>标记误差或</a:t>
            </a:r>
            <a:r>
              <a:rPr b="0" lang="en-US" sz="2000" spc="-1" strike="noStrike">
                <a:latin typeface="Arial"/>
              </a:rPr>
              <a:t>10 cm</a:t>
            </a:r>
            <a:r>
              <a:rPr b="0" lang="zh-CN" sz="2000" spc="-1" strike="noStrike">
                <a:latin typeface="Arial"/>
              </a:rPr>
              <a:t>返航误差的合格线。</a:t>
            </a:r>
            <a:r>
              <a:rPr b="0" lang="en-US" sz="2000" spc="-1" strike="noStrike">
                <a:latin typeface="Arial"/>
              </a:rPr>
              <a:t>8</a:t>
            </a:r>
            <a:r>
              <a:rPr b="0" lang="zh-CN" sz="2000" spc="-1" strike="noStrike">
                <a:latin typeface="Arial"/>
              </a:rPr>
              <a:t>分钟包含视频与讲解，展示结束后的提问由评委安排。超时达到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秒后，每超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秒扣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分，累计最多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62462A-2C0B-4211-A8FB-8661AF2B8D9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19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B</a:t>
            </a:r>
            <a:r>
              <a:rPr b="0" lang="zh-CN" sz="2000" spc="-1" strike="noStrike">
                <a:latin typeface="Arial"/>
              </a:rPr>
              <a:t>：传感器、任务与导航闭环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激光与里程计支持定位，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在保存地图上定位；</a:t>
            </a:r>
            <a:r>
              <a:rPr b="0" lang="en-US" sz="2000" spc="-1" strike="noStrike">
                <a:latin typeface="Arial"/>
              </a:rPr>
              <a:t>Smac2D</a:t>
            </a:r>
            <a:r>
              <a:rPr b="0" lang="zh-CN" sz="2000" spc="-1" strike="noStrike">
                <a:latin typeface="Arial"/>
              </a:rPr>
              <a:t>规划器生成路径，</a:t>
            </a:r>
            <a:r>
              <a:rPr b="0" lang="en-US" sz="2000" spc="-1" strike="noStrike">
                <a:latin typeface="Arial"/>
              </a:rPr>
              <a:t>RPP</a:t>
            </a:r>
            <a:r>
              <a:rPr b="0" lang="zh-CN" sz="2000" spc="-1" strike="noStrike">
                <a:latin typeface="Arial"/>
              </a:rPr>
              <a:t>控制器跟踪。地图建图使用</a:t>
            </a:r>
            <a:r>
              <a:rPr b="0" lang="en-US" sz="2000" spc="-1" strike="noStrike">
                <a:latin typeface="Arial"/>
              </a:rPr>
              <a:t>slam_toolbox</a:t>
            </a:r>
            <a:r>
              <a:rPr b="0" lang="zh-CN" sz="2000" spc="-1" strike="noStrike">
                <a:latin typeface="Arial"/>
              </a:rPr>
              <a:t>，留档证据与运行导航模式分别说明。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相机与实际云台角发布视觉结果；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步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任务状态机根据到点、稳定与确认事件推进，依次完成观察、推障、入室和返航。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提供任务目标，路径由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规划，移动使用导航；任务目标配置不能宣称未知环境自主探索。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速度平滑后，独立安全层检查包含推板的完整车体停车扫掠范围。验收旁路读取真值记录结果，任务、视觉与控制不利用世界真值取得答案。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0CE01F-78F5-4E9A-94C1-CE70A7EABED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zh-CN" sz="2000" spc="-1" strike="noStrike">
                <a:latin typeface="Arial"/>
              </a:rPr>
              <a:t>：本次定位误差的坐标口径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坐标系，仿真实际位置最初在</a:t>
            </a:r>
            <a:r>
              <a:rPr b="0" lang="en-US" sz="2000" spc="-1" strike="noStrike">
                <a:latin typeface="Arial"/>
              </a:rPr>
              <a:t>world/odom</a:t>
            </a:r>
            <a:r>
              <a:rPr b="0" lang="zh-CN" sz="2000" spc="-1" strike="noStrike">
                <a:latin typeface="Arial"/>
              </a:rPr>
              <a:t>参考。独立验收利用记录的</a:t>
            </a:r>
            <a:r>
              <a:rPr b="0" lang="en-US" sz="2000" spc="-1" strike="noStrike">
                <a:latin typeface="Arial"/>
              </a:rPr>
              <a:t>map←odom</a:t>
            </a:r>
            <a:r>
              <a:rPr b="0" lang="zh-CN" sz="2000" spc="-1" strike="noStrike">
                <a:latin typeface="Arial"/>
              </a:rPr>
              <a:t>变换统一坐标后计算平面误差，原始跨坐标系差值包含定位偏移。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ID 0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COLLAPSE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13.94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15.76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ID 1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TOXIC_LEAK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11.88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14.57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ID 2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TRAPPED_PERSON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10.20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13.88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ID 3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HIGH_TEMPERATURE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7.52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12.26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以上均为当前新版录屏同次数据。此误差同时包含相机测量、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定位与地图漂移，不能称纯视觉或纯</a:t>
            </a:r>
            <a:r>
              <a:rPr b="0" lang="en-US" sz="2000" spc="-1" strike="noStrike">
                <a:latin typeface="Arial"/>
              </a:rPr>
              <a:t>PnP</a:t>
            </a:r>
            <a:r>
              <a:rPr b="0" lang="zh-CN" sz="2000" spc="-1" strike="noStrike">
                <a:latin typeface="Arial"/>
              </a:rPr>
              <a:t>误差。不同运行使用各自保存的变换，不借用另一次运行的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替换。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43CB1C-CB49-406C-BF3A-F2E1374AE96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21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zh-CN" sz="2000" spc="-1" strike="noStrike">
                <a:latin typeface="Arial"/>
              </a:rPr>
              <a:t>：提速试验与失败候选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以下为</a:t>
            </a:r>
            <a:r>
              <a:rPr b="0" lang="en-US" sz="2000" spc="-1" strike="noStrike">
                <a:latin typeface="Arial"/>
              </a:rPr>
              <a:t>2026-10-12</a:t>
            </a:r>
            <a:r>
              <a:rPr b="0" lang="zh-CN" sz="2000" spc="-1" strike="noStrike">
                <a:latin typeface="Arial"/>
              </a:rPr>
              <a:t>历史无界面完整任务试验，不是本次录屏播放时长。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原速基准：</a:t>
            </a:r>
            <a:r>
              <a:rPr b="0" lang="en-US" sz="2000" spc="-1" strike="noStrike">
                <a:latin typeface="Arial"/>
              </a:rPr>
              <a:t>310.82</a:t>
            </a:r>
            <a:r>
              <a:rPr b="0" lang="zh-CN" sz="2000" spc="-1" strike="noStrike">
                <a:latin typeface="Arial"/>
              </a:rPr>
              <a:t>秒，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次，验收通过。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最终分档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次：</a:t>
            </a:r>
            <a:r>
              <a:rPr b="0" lang="en-US" sz="2000" spc="-1" strike="noStrike">
                <a:latin typeface="Arial"/>
              </a:rPr>
              <a:t>286.07</a:t>
            </a:r>
            <a:r>
              <a:rPr b="0" lang="zh-CN" sz="2000" spc="-1" strike="noStrike">
                <a:latin typeface="Arial"/>
              </a:rPr>
              <a:t>秒，验收通过，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7.67–12.83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最终分档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次：</a:t>
            </a:r>
            <a:r>
              <a:rPr b="0" lang="en-US" sz="2000" spc="-1" strike="noStrike">
                <a:latin typeface="Arial"/>
              </a:rPr>
              <a:t>288.32</a:t>
            </a:r>
            <a:r>
              <a:rPr b="0" lang="zh-CN" sz="2000" spc="-1" strike="noStrike">
                <a:latin typeface="Arial"/>
              </a:rPr>
              <a:t>秒，验收通过，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4.41–6.83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分档</a:t>
            </a:r>
            <a:r>
              <a:rPr b="0" lang="en-US" sz="2000" spc="-1" strike="noStrike">
                <a:latin typeface="Arial"/>
              </a:rPr>
              <a:t>0.24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296.84</a:t>
            </a:r>
            <a:r>
              <a:rPr b="0" lang="zh-CN" sz="2000" spc="-1" strike="noStrike">
                <a:latin typeface="Arial"/>
              </a:rPr>
              <a:t>秒，验收通过，但朝向对正耗时较多。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全程</a:t>
            </a:r>
            <a:r>
              <a:rPr b="0" lang="en-US" sz="2000" spc="-1" strike="noStrike">
                <a:latin typeface="Arial"/>
              </a:rPr>
              <a:t>0.24</a:t>
            </a:r>
            <a:r>
              <a:rPr b="0" lang="zh-CN" sz="2000" spc="-1" strike="noStrike">
                <a:latin typeface="Arial"/>
              </a:rPr>
              <a:t>：失败，返航门洞触发激光保护，失败耗时不计提速成绩。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分档</a:t>
            </a:r>
            <a:r>
              <a:rPr b="0" lang="en-US" sz="2000" spc="-1" strike="noStrike">
                <a:latin typeface="Arial"/>
              </a:rPr>
              <a:t>0.30</a:t>
            </a:r>
            <a:r>
              <a:rPr b="0" lang="zh-CN" sz="2000" spc="-1" strike="noStrike">
                <a:latin typeface="Arial"/>
              </a:rPr>
              <a:t>：失败，异常转向触发停车，失败耗时不计提速成绩。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评价对象是包含观察与精细操作的完整任务耗时。一次基准和两次最终配置的样本有限，不足以判断普遍成功率、全局最优速度或统计显著性。</a:t>
            </a:r>
            <a:r>
              <a:rPr b="0" lang="en-US" sz="2000" spc="-1" strike="noStrike">
                <a:latin typeface="Arial"/>
              </a:rPr>
              <a:t>165</a:t>
            </a:r>
            <a:r>
              <a:rPr b="0" lang="zh-CN" sz="2000" spc="-1" strike="noStrike">
                <a:latin typeface="Arial"/>
              </a:rPr>
              <a:t>项回归通过是当时保留的历史验证记录，不称本次重新执行。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393A6E-EE0A-416A-BE2E-7BAABED95BB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zh-CN" sz="2000" spc="-1" strike="noStrike">
                <a:latin typeface="Arial"/>
              </a:rPr>
              <a:t>：视觉指标与确认条件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模型合成验证：</a:t>
            </a:r>
            <a:r>
              <a:rPr b="0" lang="en-US" sz="2000" spc="-1" strike="noStrike">
                <a:latin typeface="Arial"/>
              </a:rPr>
              <a:t>160</a:t>
            </a:r>
            <a:r>
              <a:rPr b="0" lang="zh-CN" sz="2000" spc="-1" strike="noStrike">
                <a:latin typeface="Arial"/>
              </a:rPr>
              <a:t>张，</a:t>
            </a:r>
            <a:r>
              <a:rPr b="0" lang="en-US" sz="2000" spc="-1" strike="noStrike">
                <a:latin typeface="Arial"/>
              </a:rPr>
              <a:t>IoU≥0.50</a:t>
            </a:r>
            <a:r>
              <a:rPr b="0" lang="zh-CN" sz="2000" spc="-1" strike="noStrike">
                <a:latin typeface="Arial"/>
              </a:rPr>
              <a:t>，置信度</a:t>
            </a:r>
            <a:r>
              <a:rPr b="0" lang="en-US" sz="2000" spc="-1" strike="noStrike">
                <a:latin typeface="Arial"/>
              </a:rPr>
              <a:t>0.45</a:t>
            </a:r>
            <a:r>
              <a:rPr b="0" lang="zh-CN" sz="2000" spc="-1" strike="noStrike">
                <a:latin typeface="Arial"/>
              </a:rPr>
              <a:t>；</a:t>
            </a:r>
            <a:r>
              <a:rPr b="0" lang="en-US" sz="2000" spc="-1" strike="noStrike">
                <a:latin typeface="Arial"/>
              </a:rPr>
              <a:t>TP=131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FP=22</a:t>
            </a:r>
            <a:r>
              <a:rPr b="0" lang="zh-CN" sz="2000" spc="-1" strike="noStrike">
                <a:latin typeface="Arial"/>
              </a:rPr>
              <a:t>、漏检</a:t>
            </a:r>
            <a:r>
              <a:rPr b="0" lang="en-US" sz="2000" spc="-1" strike="noStrike">
                <a:latin typeface="Arial"/>
              </a:rPr>
              <a:t>=54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P=85.62%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R=70.81%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59</a:t>
            </a:r>
            <a:r>
              <a:rPr b="0" lang="zh-CN" sz="2000" spc="-1" strike="noStrike">
                <a:latin typeface="Arial"/>
              </a:rPr>
              <a:t>张无目标图中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张误报，图像级误报率</a:t>
            </a:r>
            <a:r>
              <a:rPr b="0" lang="en-US" sz="2000" spc="-1" strike="noStrike">
                <a:latin typeface="Arial"/>
              </a:rPr>
              <a:t>3.39%</a:t>
            </a:r>
            <a:r>
              <a:rPr b="0" lang="zh-CN" sz="2000" spc="-1" strike="noStrike">
                <a:latin typeface="Arial"/>
              </a:rPr>
              <a:t>。这些不是视频逐帧指标，也不是多级核验后整条工程链的准确率。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走廊事件确认：同一目标连续三个空间关联处理帧。当前显示框、历史类别计数和任务确认事件分别处理。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核心定位确认：至少四次有效观测，不要求连续。有效样本经过重投影、离群值筛选和位置融合。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完整任务集齐五类与四个标签，只证明任务级确认完整，不能宣称逐帧零误报、零漏报或</a:t>
            </a:r>
            <a:r>
              <a:rPr b="0" lang="en-US" sz="2000" spc="-1" strike="noStrike">
                <a:latin typeface="Arial"/>
              </a:rPr>
              <a:t>100%</a:t>
            </a:r>
            <a:r>
              <a:rPr b="0" lang="zh-CN" sz="2000" spc="-1" strike="noStrike">
                <a:latin typeface="Arial"/>
              </a:rPr>
              <a:t>准确。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红箱像素框来自独立箱体检测器，用于画面显示，不授予推障权限或直接控制导航。系统另有可配置的</a:t>
            </a:r>
            <a:r>
              <a:rPr b="0" lang="en-US" sz="2000" spc="-1" strike="noStrike">
                <a:latin typeface="Arial"/>
              </a:rPr>
              <a:t>SIFT/RANSAC/</a:t>
            </a:r>
            <a:r>
              <a:rPr b="0" lang="zh-CN" sz="2000" spc="-1" strike="noStrike">
                <a:latin typeface="Arial"/>
              </a:rPr>
              <a:t>颜色验证回退并告警，可配置禁用回退、缺权重即失败。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302ADF-0EF5-4D70-A1B7-034A8368DAB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zh-CN" sz="2000" spc="-1" strike="noStrike">
                <a:latin typeface="Arial"/>
              </a:rPr>
              <a:t>：评委常见追问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为何不是固定运动轨迹？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配置任务目标，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根据当前地图规划路径，状态机等待到点和视觉确认；当前验证有场地先验，不宣称未知场景探索。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如何证明实体推障？展示</a:t>
            </a:r>
            <a:r>
              <a:rPr b="0" lang="en-US" sz="2000" spc="-1" strike="noStrike">
                <a:latin typeface="Arial"/>
              </a:rPr>
              <a:t>2 kg</a:t>
            </a:r>
            <a:r>
              <a:rPr b="0" lang="zh-CN" sz="2000" spc="-1" strike="noStrike">
                <a:latin typeface="Arial"/>
              </a:rPr>
              <a:t>动态箱体、真实接触推进画面及同次独立位移记录。控制是里程计闭环，暂未使用接触力传感器。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清地图会不会忽略障碍？清理区域有边界并排除固定墙体，同栅格需三次不同时间戳的自由证据，实时障碍层继续记录新位置。当前地图图展示原始栅格与允许区，不是实测前后对照。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云台更新了什么？模型增加对应的安装板、支柱、回转座等结构表达，相机由既有竖直旋转关节驱动，实际关节角参与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PPT</a:t>
            </a:r>
            <a:r>
              <a:rPr b="0" lang="zh-CN" sz="2000" spc="-1" strike="noStrike">
                <a:latin typeface="Arial"/>
              </a:rPr>
              <a:t>图片与当前模型对应，不称增加了未经实现的俯仰轴。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为何不宣称基础算法原创？</a:t>
            </a:r>
            <a:r>
              <a:rPr b="0" lang="en-US" sz="2000" spc="-1" strike="noStrike">
                <a:latin typeface="Arial"/>
              </a:rPr>
              <a:t>ROS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YOLOv5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等明确第三方归属，团队贡献落在场景、机构、核验、接触约束、任务控制与验收实现。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2000" spc="-1" strike="noStrike">
                <a:latin typeface="Arial"/>
              </a:rPr>
              <a:t>如何复现？</a:t>
            </a:r>
            <a:r>
              <a:rPr b="0" lang="en-US" sz="2000" spc="-1" strike="noStrike">
                <a:latin typeface="Arial"/>
              </a:rPr>
              <a:t>Ubuntu 22.04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ROS 2 Humble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 11</a:t>
            </a:r>
            <a:r>
              <a:rPr b="0" lang="zh-CN" sz="2000" spc="-1" strike="noStrike">
                <a:latin typeface="Arial"/>
              </a:rPr>
              <a:t>，一键</a:t>
            </a:r>
            <a:r>
              <a:rPr b="0" lang="en-US" sz="2000" spc="-1" strike="noStrike">
                <a:latin typeface="Arial"/>
              </a:rPr>
              <a:t>start.sh</a:t>
            </a:r>
            <a:r>
              <a:rPr b="0" lang="zh-CN" sz="2000" spc="-1" strike="noStrike">
                <a:latin typeface="Arial"/>
              </a:rPr>
              <a:t>与独立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配置。跨场景泛化与真实灾害场景效果尚未评估。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CED8EA-D327-4DBE-B4E1-BBB11C8AA6B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E723C5-C6D6-47C4-8312-0A6658F8AC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36CFA1-196E-4D36-AD73-EB0CC572D0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B35D94-A2E9-40B1-B5DA-099B2886E2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DA51ED-C484-43CA-A9C2-55DD4E9563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7DAAD8-A106-4FCA-A507-D4A307E679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7E3406-BB85-42F3-A1AC-9CAD23D3E1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CCF4B0-6F37-4A49-81CE-99F77A6C2D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284D3D-8C81-447F-8D07-41CC8146AA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88F8F9-D3C4-4880-B600-74070E8C26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8C2535-A8AD-403E-8B27-84CDD4C475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081B31-9DE8-429E-8DB4-35C872AF0F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0FBCFB-BD16-446D-AEF6-D377F2B47E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6D8CCF-E66B-447C-8F20-A7CDE9D9BB9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file:///home/c/AVS/avs_ws/submission/B09018834.mp4" TargetMode="External"/><Relationship Id="rId2" Type="http://schemas.microsoft.com/office/2007/relationships/media" Target="file:///home/c/AVS/avs_ws/submission/B09018834.mp4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救援无人车仿真系统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第十九届先进机器人及仿真技术大赛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无人车仿真组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车辆结构：当前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SDF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几何渲染，与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URDF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可视结构对应。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01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52" name="Picture 6" descr="vehicle_model.png"/>
          <p:cNvPicPr/>
          <p:nvPr/>
        </p:nvPicPr>
        <p:blipFill>
          <a:blip r:embed="rId1"/>
          <a:stretch/>
        </p:blipFill>
        <p:spPr>
          <a:xfrm>
            <a:off x="4617720" y="1239120"/>
            <a:ext cx="7222680" cy="5055480"/>
          </a:xfrm>
          <a:prstGeom prst="rect">
            <a:avLst/>
          </a:prstGeom>
          <a:ln w="0">
            <a:noFill/>
          </a:ln>
        </p:spPr>
      </p:pic>
      <p:sp>
        <p:nvSpPr>
          <p:cNvPr id="53" name="TextBox 7"/>
          <p:cNvSpPr/>
          <p:nvPr/>
        </p:nvSpPr>
        <p:spPr>
          <a:xfrm>
            <a:off x="502920" y="1600200"/>
            <a:ext cx="5119560" cy="99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巡检 </a:t>
            </a:r>
            <a:r>
              <a:rPr b="1" lang="en-US" sz="2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· </a:t>
            </a:r>
            <a:r>
              <a:rPr b="1" lang="zh-CN" sz="2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实体清障</a:t>
            </a:r>
            <a:endParaRPr b="0" lang="en-US" sz="29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地图标定 </a:t>
            </a:r>
            <a:r>
              <a:rPr b="1" lang="en-US" sz="2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· </a:t>
            </a:r>
            <a:r>
              <a:rPr b="1" lang="zh-CN" sz="2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自主返航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502920" y="3246120"/>
            <a:ext cx="530244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Simulator  /  B09018834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502920" y="3977640"/>
            <a:ext cx="5119560" cy="10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队长  陈莎莎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队员  梁辰瑜、赖丽燕、初冉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指导教师  蒋玉莲、王俊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自建厂区：走廊巡检 → 清障入室 → 标定 → 返航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本队场地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3 × 3 m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，入口宽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0.50 m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；九块标识图案各不相同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图：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2026-10-13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Gazebo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录屏及独立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slam_toolbox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留档；评分见本地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B09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规则。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02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61" name="Picture 6" descr="scene.png"/>
          <p:cNvPicPr/>
          <p:nvPr/>
        </p:nvPicPr>
        <p:blipFill>
          <a:blip r:embed="rId1"/>
          <a:stretch/>
        </p:blipFill>
        <p:spPr>
          <a:xfrm>
            <a:off x="320040" y="1646280"/>
            <a:ext cx="6509520" cy="365580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7" descr="slam_map.png"/>
          <p:cNvPicPr/>
          <p:nvPr/>
        </p:nvPicPr>
        <p:blipFill>
          <a:blip r:embed="rId2"/>
          <a:stretch/>
        </p:blipFill>
        <p:spPr>
          <a:xfrm>
            <a:off x="7370280" y="1225440"/>
            <a:ext cx="4149720" cy="4497840"/>
          </a:xfrm>
          <a:prstGeom prst="rect">
            <a:avLst/>
          </a:prstGeom>
          <a:ln w="0">
            <a:noFill/>
          </a:ln>
        </p:spPr>
      </p:pic>
      <p:sp>
        <p:nvSpPr>
          <p:cNvPr id="63" name="TextBox 8"/>
          <p:cNvSpPr/>
          <p:nvPr/>
        </p:nvSpPr>
        <p:spPr>
          <a:xfrm>
            <a:off x="548640" y="5715000"/>
            <a:ext cx="612540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自建 </a:t>
            </a:r>
            <a:r>
              <a:rPr b="1" lang="en-US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Gazebo </a:t>
            </a:r>
            <a:r>
              <a:rPr b="1" lang="zh-CN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场景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TextBox 9"/>
          <p:cNvSpPr/>
          <p:nvPr/>
        </p:nvSpPr>
        <p:spPr>
          <a:xfrm>
            <a:off x="7086600" y="5715000"/>
            <a:ext cx="472644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在线 </a:t>
            </a:r>
            <a:r>
              <a:rPr b="1" lang="en-US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SLAM </a:t>
            </a:r>
            <a:r>
              <a:rPr b="1" lang="zh-CN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地图留档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60" y="0"/>
            <a:ext cx="1219140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云台与被动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V 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形推板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安装底板 → 支撑柱 → 旋转底座；几何引导与受约束控制协同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图：当前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rescue_rover/model.sdf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等比例渲染；与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urdf/rescue_rover.urdf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对应。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04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1" name="Picture 6" descr="vehicle_model.png"/>
          <p:cNvPicPr/>
          <p:nvPr/>
        </p:nvPicPr>
        <p:blipFill>
          <a:blip r:embed="rId1"/>
          <a:stretch/>
        </p:blipFill>
        <p:spPr>
          <a:xfrm>
            <a:off x="235080" y="1097280"/>
            <a:ext cx="7392600" cy="517428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7" descr="vehicle_model_1135_185_1665_735.png"/>
          <p:cNvPicPr/>
          <p:nvPr/>
        </p:nvPicPr>
        <p:blipFill>
          <a:blip r:embed="rId2"/>
          <a:stretch/>
        </p:blipFill>
        <p:spPr>
          <a:xfrm>
            <a:off x="8269920" y="1307520"/>
            <a:ext cx="3100680" cy="3217680"/>
          </a:xfrm>
          <a:prstGeom prst="rect">
            <a:avLst/>
          </a:prstGeom>
          <a:ln w="0">
            <a:noFill/>
          </a:ln>
        </p:spPr>
      </p:pic>
      <p:sp>
        <p:nvSpPr>
          <p:cNvPr id="73" name="Rectangle 8"/>
          <p:cNvSpPr/>
          <p:nvPr/>
        </p:nvSpPr>
        <p:spPr>
          <a:xfrm>
            <a:off x="5568840" y="5609880"/>
            <a:ext cx="1644840" cy="392040"/>
          </a:xfrm>
          <a:prstGeom prst="rect">
            <a:avLst/>
          </a:prstGeom>
          <a:solidFill>
            <a:srgbClr val="101b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9"/>
          <p:cNvSpPr/>
          <p:nvPr/>
        </p:nvSpPr>
        <p:spPr>
          <a:xfrm>
            <a:off x="5614560" y="5641920"/>
            <a:ext cx="15534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V </a:t>
            </a:r>
            <a:r>
              <a:rPr b="1" lang="zh-CN" sz="2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形推板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5" name="Connector 10"/>
          <p:cNvSpPr/>
          <p:nvPr/>
        </p:nvSpPr>
        <p:spPr>
          <a:xfrm flipH="1" flipV="1">
            <a:off x="6035040" y="4809600"/>
            <a:ext cx="356400" cy="118872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6" name="Oval 11"/>
          <p:cNvSpPr/>
          <p:nvPr/>
        </p:nvSpPr>
        <p:spPr>
          <a:xfrm>
            <a:off x="5998320" y="4773240"/>
            <a:ext cx="72000" cy="72000"/>
          </a:xfrm>
          <a:prstGeom prst="ellipse">
            <a:avLst/>
          </a:prstGeom>
          <a:solidFill>
            <a:srgbClr val="42d5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12"/>
          <p:cNvSpPr/>
          <p:nvPr/>
        </p:nvSpPr>
        <p:spPr>
          <a:xfrm>
            <a:off x="7754040" y="4681800"/>
            <a:ext cx="41137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云台安装结构（局部放大）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7891200" y="5376600"/>
            <a:ext cx="3812040" cy="8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整车宽约 </a:t>
            </a:r>
            <a:r>
              <a:rPr b="1" lang="en-US" sz="24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0.285 m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推板宽 </a:t>
            </a:r>
            <a:r>
              <a:rPr b="1" lang="en-US" sz="24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0.28 m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真实接触推障：对准、推进、脱离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 kg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动态箱体；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0.10 m/s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闭环推障；里程计推进目标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1.08 m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三图：新版同次录屏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00:47 / 00:53 / 00:59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，裁去界面背景；框、车辆与箱体原样保留。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320040" y="1188720"/>
            <a:ext cx="372060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①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对准入口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5" name="Picture 7" descr="push_before.png"/>
          <p:cNvPicPr/>
          <p:nvPr/>
        </p:nvPicPr>
        <p:blipFill>
          <a:blip r:embed="rId1"/>
          <a:stretch/>
        </p:blipFill>
        <p:spPr>
          <a:xfrm>
            <a:off x="344520" y="1737360"/>
            <a:ext cx="3671640" cy="4406400"/>
          </a:xfrm>
          <a:prstGeom prst="rect">
            <a:avLst/>
          </a:prstGeom>
          <a:ln w="0">
            <a:noFill/>
          </a:ln>
        </p:spPr>
      </p:pic>
      <p:sp>
        <p:nvSpPr>
          <p:cNvPr id="86" name="TextBox 8"/>
          <p:cNvSpPr/>
          <p:nvPr/>
        </p:nvSpPr>
        <p:spPr>
          <a:xfrm>
            <a:off x="4233600" y="1188720"/>
            <a:ext cx="372060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②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实体推进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7" name="Picture 9" descr="push_during.png"/>
          <p:cNvPicPr/>
          <p:nvPr/>
        </p:nvPicPr>
        <p:blipFill>
          <a:blip r:embed="rId2"/>
          <a:stretch/>
        </p:blipFill>
        <p:spPr>
          <a:xfrm>
            <a:off x="4258080" y="1737360"/>
            <a:ext cx="3671640" cy="4406400"/>
          </a:xfrm>
          <a:prstGeom prst="rect">
            <a:avLst/>
          </a:prstGeom>
          <a:ln w="0">
            <a:noFill/>
          </a:ln>
        </p:spPr>
      </p:pic>
      <p:sp>
        <p:nvSpPr>
          <p:cNvPr id="88" name="TextBox 10"/>
          <p:cNvSpPr/>
          <p:nvPr/>
        </p:nvSpPr>
        <p:spPr>
          <a:xfrm>
            <a:off x="8147160" y="1188720"/>
            <a:ext cx="372060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③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转向脱离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9" name="Picture 11" descr="push_after.png"/>
          <p:cNvPicPr/>
          <p:nvPr/>
        </p:nvPicPr>
        <p:blipFill>
          <a:blip r:embed="rId3"/>
          <a:stretch/>
        </p:blipFill>
        <p:spPr>
          <a:xfrm>
            <a:off x="8171640" y="1737360"/>
            <a:ext cx="3671640" cy="440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主动接触的安全边界：保护完整车体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推板也在停车扫掠范围内；检查指令速度与实际惯性速度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图源：创新点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5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页；当前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footprint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motion_safety.py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绘制的保护原理。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06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5" name="Picture 6" descr="完整轮廓停车保护示意.png"/>
          <p:cNvPicPr/>
          <p:nvPr/>
        </p:nvPicPr>
        <p:blipFill>
          <a:blip r:embed="rId1"/>
          <a:stretch/>
        </p:blipFill>
        <p:spPr>
          <a:xfrm>
            <a:off x="330120" y="1143000"/>
            <a:ext cx="11527560" cy="4854240"/>
          </a:xfrm>
          <a:prstGeom prst="rect">
            <a:avLst/>
          </a:prstGeom>
          <a:ln w="0">
            <a:noFill/>
          </a:ln>
        </p:spPr>
      </p:pic>
      <p:sp>
        <p:nvSpPr>
          <p:cNvPr id="96" name="Rectangle 7"/>
          <p:cNvSpPr/>
          <p:nvPr/>
        </p:nvSpPr>
        <p:spPr>
          <a:xfrm>
            <a:off x="320040" y="5989320"/>
            <a:ext cx="11547720" cy="4377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8"/>
          <p:cNvSpPr/>
          <p:nvPr/>
        </p:nvSpPr>
        <p:spPr>
          <a:xfrm>
            <a:off x="466200" y="6039720"/>
            <a:ext cx="1124604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低速前方接触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·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侧后继续保护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·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脱离 ≤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12 s / ≤6 cm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云台左右观察，任务等待多帧确认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到观察点 → 确认停车 → 扫描 → 连续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3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个关联处理帧 → 继续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图：创新点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页，同一停车点两个扫视时刻；用于机制说明，与本次量化结果分开。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07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03" name="Picture 6" descr="scan_stop_A.png"/>
          <p:cNvPicPr/>
          <p:nvPr/>
        </p:nvPicPr>
        <p:blipFill>
          <a:blip r:embed="rId1"/>
          <a:stretch/>
        </p:blipFill>
        <p:spPr>
          <a:xfrm>
            <a:off x="320040" y="1230840"/>
            <a:ext cx="5677200" cy="4257720"/>
          </a:xfrm>
          <a:prstGeom prst="rect">
            <a:avLst/>
          </a:prstGeom>
          <a:ln w="0">
            <a:noFill/>
          </a:ln>
        </p:spPr>
      </p:pic>
      <p:sp>
        <p:nvSpPr>
          <p:cNvPr id="104" name="TextBox 7"/>
          <p:cNvSpPr/>
          <p:nvPr/>
        </p:nvSpPr>
        <p:spPr>
          <a:xfrm>
            <a:off x="320040" y="5696640"/>
            <a:ext cx="567720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扫视时刻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A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105" name="Picture 8" descr="scan_stop_B.png"/>
          <p:cNvPicPr/>
          <p:nvPr/>
        </p:nvPicPr>
        <p:blipFill>
          <a:blip r:embed="rId2"/>
          <a:stretch/>
        </p:blipFill>
        <p:spPr>
          <a:xfrm>
            <a:off x="6190560" y="1230840"/>
            <a:ext cx="5677200" cy="4257720"/>
          </a:xfrm>
          <a:prstGeom prst="rect">
            <a:avLst/>
          </a:prstGeom>
          <a:ln w="0">
            <a:noFill/>
          </a:ln>
        </p:spPr>
      </p:pic>
      <p:sp>
        <p:nvSpPr>
          <p:cNvPr id="106" name="TextBox 9"/>
          <p:cNvSpPr/>
          <p:nvPr/>
        </p:nvSpPr>
        <p:spPr>
          <a:xfrm>
            <a:off x="6190560" y="5696640"/>
            <a:ext cx="567720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扫视时刻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B</a:t>
            </a:r>
            <a:endParaRPr b="0" lang="en-US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走廊识别：火灾、化学、辐射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绿色框为当前图案分类；三帧确认事件与单帧显示框分别记录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相机图：新版同次运行，保留原检测框与类别；原图与裁剪坐标见素材来源记录。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320040" y="1161360"/>
            <a:ext cx="372060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火灾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FIRE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3" name="Picture 7" descr="fire_large.png"/>
          <p:cNvPicPr/>
          <p:nvPr/>
        </p:nvPicPr>
        <p:blipFill>
          <a:blip r:embed="rId1"/>
          <a:stretch/>
        </p:blipFill>
        <p:spPr>
          <a:xfrm>
            <a:off x="320040" y="1915560"/>
            <a:ext cx="3720600" cy="4123080"/>
          </a:xfrm>
          <a:prstGeom prst="rect">
            <a:avLst/>
          </a:prstGeom>
          <a:ln w="0">
            <a:noFill/>
          </a:ln>
        </p:spPr>
      </p:pic>
      <p:sp>
        <p:nvSpPr>
          <p:cNvPr id="114" name="TextBox 8"/>
          <p:cNvSpPr/>
          <p:nvPr/>
        </p:nvSpPr>
        <p:spPr>
          <a:xfrm>
            <a:off x="4233600" y="1161360"/>
            <a:ext cx="372060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化学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CHEMICAL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5" name="Picture 9" descr="chemical_video_large.png"/>
          <p:cNvPicPr/>
          <p:nvPr/>
        </p:nvPicPr>
        <p:blipFill>
          <a:blip r:embed="rId2"/>
          <a:stretch/>
        </p:blipFill>
        <p:spPr>
          <a:xfrm>
            <a:off x="4233600" y="1868760"/>
            <a:ext cx="3720600" cy="4216680"/>
          </a:xfrm>
          <a:prstGeom prst="rect">
            <a:avLst/>
          </a:prstGeom>
          <a:ln w="0">
            <a:noFill/>
          </a:ln>
        </p:spPr>
      </p:pic>
      <p:sp>
        <p:nvSpPr>
          <p:cNvPr id="116" name="TextBox 10"/>
          <p:cNvSpPr/>
          <p:nvPr/>
        </p:nvSpPr>
        <p:spPr>
          <a:xfrm>
            <a:off x="8147160" y="1161360"/>
            <a:ext cx="372060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辐射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RADIATION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7" name="Picture 11" descr="radiation_large.png"/>
          <p:cNvPicPr/>
          <p:nvPr/>
        </p:nvPicPr>
        <p:blipFill>
          <a:blip r:embed="rId3"/>
          <a:stretch/>
        </p:blipFill>
        <p:spPr>
          <a:xfrm>
            <a:off x="8620200" y="1719000"/>
            <a:ext cx="2774880" cy="451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走廊识别：电气、生物危害与终端打印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规则要求：入室前识别五类标识，并在终端打印结果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相机及终端：新版同次连续录屏；终端原字保留，按行裁剪换行排布，未重写检测结果。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320040" y="1161360"/>
            <a:ext cx="372060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电气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ELECTRICAL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24" name="Picture 7" descr="electrical_large.png"/>
          <p:cNvPicPr/>
          <p:nvPr/>
        </p:nvPicPr>
        <p:blipFill>
          <a:blip r:embed="rId1"/>
          <a:stretch/>
        </p:blipFill>
        <p:spPr>
          <a:xfrm>
            <a:off x="322560" y="1737360"/>
            <a:ext cx="3715920" cy="4388040"/>
          </a:xfrm>
          <a:prstGeom prst="rect">
            <a:avLst/>
          </a:prstGeom>
          <a:ln w="0">
            <a:noFill/>
          </a:ln>
        </p:spPr>
      </p:pic>
      <p:sp>
        <p:nvSpPr>
          <p:cNvPr id="125" name="TextBox 8"/>
          <p:cNvSpPr/>
          <p:nvPr/>
        </p:nvSpPr>
        <p:spPr>
          <a:xfrm>
            <a:off x="4233600" y="1161360"/>
            <a:ext cx="372060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生物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BIOHAZARD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26" name="Picture 9" descr="biohazard_video_large.png"/>
          <p:cNvPicPr/>
          <p:nvPr/>
        </p:nvPicPr>
        <p:blipFill>
          <a:blip r:embed="rId2"/>
          <a:stretch/>
        </p:blipFill>
        <p:spPr>
          <a:xfrm>
            <a:off x="4233600" y="1740240"/>
            <a:ext cx="3720600" cy="4382280"/>
          </a:xfrm>
          <a:prstGeom prst="rect">
            <a:avLst/>
          </a:prstGeom>
          <a:ln w="0">
            <a:noFill/>
          </a:ln>
        </p:spPr>
      </p:pic>
      <p:sp>
        <p:nvSpPr>
          <p:cNvPr id="127" name="TextBox 10"/>
          <p:cNvSpPr/>
          <p:nvPr/>
        </p:nvSpPr>
        <p:spPr>
          <a:xfrm>
            <a:off x="8229600" y="1170360"/>
            <a:ext cx="35650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五类终端确认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28" name="Picture 11" descr="corridor_terminal.png"/>
          <p:cNvPicPr/>
          <p:nvPr/>
        </p:nvPicPr>
        <p:blipFill>
          <a:blip r:embed="rId3"/>
          <a:stretch/>
        </p:blipFill>
        <p:spPr>
          <a:xfrm>
            <a:off x="8229600" y="1980360"/>
            <a:ext cx="3638160" cy="406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同帧局部放大重检，恢复部分小目标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同色负例训练 → 图案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/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牌边核验 → 局部重检 → 时序确认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图源：创新点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7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页；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v19 / image_0462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同输入离线回放，不是两次现场录像。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10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34" name="Picture 6" descr="recovery_same_frame_verified.png"/>
          <p:cNvPicPr/>
          <p:nvPr/>
        </p:nvPicPr>
        <p:blipFill>
          <a:blip r:embed="rId1"/>
          <a:stretch/>
        </p:blipFill>
        <p:spPr>
          <a:xfrm>
            <a:off x="478440" y="1179720"/>
            <a:ext cx="11230560" cy="520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核心标识：坍塌与有毒泄漏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四种图案各不相同；核心标识附加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AprilTag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，类别由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ID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与语义表关联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相机图：新版同次运行，保留原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ID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、类别与估计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坐标；仅裁背景。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320040" y="1170360"/>
            <a:ext cx="567720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T0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坍塌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41" name="Picture 7" descr="tag_0_large.png"/>
          <p:cNvPicPr/>
          <p:nvPr/>
        </p:nvPicPr>
        <p:blipFill>
          <a:blip r:embed="rId1"/>
          <a:stretch/>
        </p:blipFill>
        <p:spPr>
          <a:xfrm>
            <a:off x="667080" y="1774080"/>
            <a:ext cx="4983480" cy="4433760"/>
          </a:xfrm>
          <a:prstGeom prst="rect">
            <a:avLst/>
          </a:prstGeom>
          <a:ln w="0">
            <a:noFill/>
          </a:ln>
        </p:spPr>
      </p:pic>
      <p:sp>
        <p:nvSpPr>
          <p:cNvPr id="142" name="TextBox 8"/>
          <p:cNvSpPr/>
          <p:nvPr/>
        </p:nvSpPr>
        <p:spPr>
          <a:xfrm>
            <a:off x="6190560" y="1170360"/>
            <a:ext cx="567720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T1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有毒泄漏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43" name="Picture 9" descr="tag_1_large.png"/>
          <p:cNvPicPr/>
          <p:nvPr/>
        </p:nvPicPr>
        <p:blipFill>
          <a:blip r:embed="rId2"/>
          <a:stretch/>
        </p:blipFill>
        <p:spPr>
          <a:xfrm>
            <a:off x="6788520" y="1774080"/>
            <a:ext cx="4481280" cy="443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核心标识：被困人员与高温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四种图案各不相同；核心标识附加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AprilTag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，类别由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ID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与语义表关联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相机图：新版同次运行，保留原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ID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、类别与估计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坐标；仅裁背景。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320040" y="1170360"/>
            <a:ext cx="567720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T2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被困人员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50" name="Picture 7" descr="tag_2_large.png"/>
          <p:cNvPicPr/>
          <p:nvPr/>
        </p:nvPicPr>
        <p:blipFill>
          <a:blip r:embed="rId1"/>
          <a:stretch/>
        </p:blipFill>
        <p:spPr>
          <a:xfrm>
            <a:off x="1009440" y="1774080"/>
            <a:ext cx="4298760" cy="4433760"/>
          </a:xfrm>
          <a:prstGeom prst="rect">
            <a:avLst/>
          </a:prstGeom>
          <a:ln w="0">
            <a:noFill/>
          </a:ln>
        </p:spPr>
      </p:pic>
      <p:sp>
        <p:nvSpPr>
          <p:cNvPr id="151" name="TextBox 8"/>
          <p:cNvSpPr/>
          <p:nvPr/>
        </p:nvSpPr>
        <p:spPr>
          <a:xfrm>
            <a:off x="6190560" y="1170360"/>
            <a:ext cx="567720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T3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高温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52" name="Picture 9" descr="tag_3_large.png"/>
          <p:cNvPicPr/>
          <p:nvPr/>
        </p:nvPicPr>
        <p:blipFill>
          <a:blip r:embed="rId2"/>
          <a:stretch/>
        </p:blipFill>
        <p:spPr>
          <a:xfrm>
            <a:off x="6190560" y="1914840"/>
            <a:ext cx="5677200" cy="415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拍摄时刻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TF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，让视觉结果对应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RViz 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地图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实际云台关节角 → 图像拍摄时刻坐标变换 → 多次有效观测融合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地图：新版同次录屏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01:26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的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RViz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；源码机制来自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vision_node.py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，非纯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PnP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误差。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58" name="Picture 6" descr="core_markers.png"/>
          <p:cNvPicPr/>
          <p:nvPr/>
        </p:nvPicPr>
        <p:blipFill>
          <a:blip r:embed="rId1"/>
          <a:stretch/>
        </p:blipFill>
        <p:spPr>
          <a:xfrm>
            <a:off x="703440" y="1179720"/>
            <a:ext cx="7516800" cy="5202000"/>
          </a:xfrm>
          <a:prstGeom prst="rect">
            <a:avLst/>
          </a:prstGeom>
          <a:ln w="0">
            <a:noFill/>
          </a:ln>
        </p:spPr>
      </p:pic>
      <p:sp>
        <p:nvSpPr>
          <p:cNvPr id="159" name="Rectangle 7"/>
          <p:cNvSpPr/>
          <p:nvPr/>
        </p:nvSpPr>
        <p:spPr>
          <a:xfrm>
            <a:off x="8897040" y="1572840"/>
            <a:ext cx="2961720" cy="120600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8"/>
          <p:cNvSpPr/>
          <p:nvPr/>
        </p:nvSpPr>
        <p:spPr>
          <a:xfrm>
            <a:off x="9052560" y="1682640"/>
            <a:ext cx="2650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拍摄时刻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9052560" y="2286000"/>
            <a:ext cx="26506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匹配实际关节姿态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2" name="Rectangle 10"/>
          <p:cNvSpPr/>
          <p:nvPr/>
        </p:nvSpPr>
        <p:spPr>
          <a:xfrm>
            <a:off x="8897040" y="3108960"/>
            <a:ext cx="2961720" cy="120600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11"/>
          <p:cNvSpPr/>
          <p:nvPr/>
        </p:nvSpPr>
        <p:spPr>
          <a:xfrm>
            <a:off x="9052560" y="3218760"/>
            <a:ext cx="2650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质量筛选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9052560" y="3822120"/>
            <a:ext cx="26506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重投影 ≤</a:t>
            </a:r>
            <a:r>
              <a:rPr b="0" lang="en-US" sz="1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2.5 px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5" name="Rectangle 13"/>
          <p:cNvSpPr/>
          <p:nvPr/>
        </p:nvSpPr>
        <p:spPr>
          <a:xfrm>
            <a:off x="8897040" y="4645080"/>
            <a:ext cx="2961720" cy="120600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14"/>
          <p:cNvSpPr/>
          <p:nvPr/>
        </p:nvSpPr>
        <p:spPr>
          <a:xfrm>
            <a:off x="9052560" y="4754880"/>
            <a:ext cx="26506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融合确认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9052560" y="5358240"/>
            <a:ext cx="26506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至少 </a:t>
            </a:r>
            <a:r>
              <a:rPr b="0" lang="en-US" sz="1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4 </a:t>
            </a:r>
            <a:r>
              <a:rPr b="0" lang="zh-CN" sz="19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次有效观测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门洞残留栅格清理区：让旧占用不再堵路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限定区域内，三次不同时间戳的激光自由证据才清理派生导航图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图：实际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rescue_map.pgm + navigation_map.yaml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；配置叠加原理图，未录制逐格清理前后对照。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14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73" name="Picture 6" descr="navigation_map_regions.png"/>
          <p:cNvPicPr/>
          <p:nvPr/>
        </p:nvPicPr>
        <p:blipFill>
          <a:blip r:embed="rId1"/>
          <a:stretch/>
        </p:blipFill>
        <p:spPr>
          <a:xfrm>
            <a:off x="407160" y="1152000"/>
            <a:ext cx="5100840" cy="521100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7" descr="地图门洞放大.png"/>
          <p:cNvPicPr/>
          <p:nvPr/>
        </p:nvPicPr>
        <p:blipFill>
          <a:blip r:embed="rId2"/>
          <a:stretch/>
        </p:blipFill>
        <p:spPr>
          <a:xfrm>
            <a:off x="5824800" y="1226160"/>
            <a:ext cx="6042960" cy="3965400"/>
          </a:xfrm>
          <a:prstGeom prst="rect">
            <a:avLst/>
          </a:prstGeom>
          <a:ln w="0">
            <a:noFill/>
          </a:ln>
        </p:spPr>
      </p:pic>
      <p:sp>
        <p:nvSpPr>
          <p:cNvPr id="175" name="TextBox 8"/>
          <p:cNvSpPr/>
          <p:nvPr/>
        </p:nvSpPr>
        <p:spPr>
          <a:xfrm>
            <a:off x="5989320" y="5495400"/>
            <a:ext cx="572292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原始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PGM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保留</a:t>
            </a:r>
            <a:endParaRPr b="0" lang="en-US" sz="25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新障碍由实时激光层标记</a:t>
            </a:r>
            <a:endParaRPr b="0" lang="en-US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按任务阶段选速度：完整任务平均缩短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7.6%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普通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0.20 m/s 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精细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0.12 m/s 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推障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0.10 m/s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；到位置后单独对正朝向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数据：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2026-10-12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独立无界面速度实验；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1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次基准、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次最终配置，与本次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GUI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录屏分别统计。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502920" y="1280160"/>
            <a:ext cx="850284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首次导航 → 完整任务完成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548640" y="2368440"/>
            <a:ext cx="29707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原速（</a:t>
            </a:r>
            <a:r>
              <a:rPr b="1" lang="en-US" sz="26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1 </a:t>
            </a:r>
            <a:r>
              <a:rPr b="1" lang="zh-CN" sz="26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次）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3703320" y="2176200"/>
            <a:ext cx="5933880" cy="876600"/>
          </a:xfrm>
          <a:prstGeom prst="rect">
            <a:avLst/>
          </a:prstGeom>
          <a:solidFill>
            <a:srgbClr val="b8c7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TextBox 9"/>
          <p:cNvSpPr/>
          <p:nvPr/>
        </p:nvSpPr>
        <p:spPr>
          <a:xfrm>
            <a:off x="9812160" y="2350080"/>
            <a:ext cx="191916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310.82 s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548640" y="3895200"/>
            <a:ext cx="297072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最终（</a:t>
            </a:r>
            <a:r>
              <a:rPr b="1" lang="en-US" sz="26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2 </a:t>
            </a:r>
            <a:r>
              <a:rPr b="1" lang="zh-CN" sz="26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次均值）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86" name="Rectangle 11"/>
          <p:cNvSpPr/>
          <p:nvPr/>
        </p:nvSpPr>
        <p:spPr>
          <a:xfrm>
            <a:off x="3703320" y="3703320"/>
            <a:ext cx="5482800" cy="876600"/>
          </a:xfrm>
          <a:prstGeom prst="rect">
            <a:avLst/>
          </a:prstGeom>
          <a:solidFill>
            <a:srgbClr val="42d5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2"/>
          <p:cNvSpPr/>
          <p:nvPr/>
        </p:nvSpPr>
        <p:spPr>
          <a:xfrm>
            <a:off x="9361080" y="3877200"/>
            <a:ext cx="191916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287.20 s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88" name="TextBox 13"/>
          <p:cNvSpPr/>
          <p:nvPr/>
        </p:nvSpPr>
        <p:spPr>
          <a:xfrm>
            <a:off x="640080" y="5294520"/>
            <a:ext cx="43880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700" spc="-1" strike="noStrike">
                <a:solidFill>
                  <a:srgbClr val="ffc466"/>
                </a:solidFill>
                <a:latin typeface="Noto Sans CJK SC"/>
                <a:ea typeface="DejaVu Sans"/>
              </a:rPr>
              <a:t>节省 </a:t>
            </a:r>
            <a:r>
              <a:rPr b="1" lang="en-US" sz="3700" spc="-1" strike="noStrike">
                <a:solidFill>
                  <a:srgbClr val="ffc466"/>
                </a:solidFill>
                <a:latin typeface="Noto Sans CJK SC"/>
                <a:ea typeface="DejaVu Sans"/>
              </a:rPr>
              <a:t>23.62 s</a:t>
            </a:r>
            <a:endParaRPr b="0" lang="en-US" sz="3700" spc="-1" strike="noStrike">
              <a:latin typeface="Arial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5513760" y="5221080"/>
            <a:ext cx="6125400" cy="96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8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5 </a:t>
            </a:r>
            <a:r>
              <a:rPr b="1" lang="zh-CN" sz="28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类 </a:t>
            </a:r>
            <a:r>
              <a:rPr b="1" lang="en-US" sz="28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+ 4 </a:t>
            </a:r>
            <a:r>
              <a:rPr b="1" lang="zh-CN" sz="28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标签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两次均完成全部目标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当前视频的同次验收结果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完整任务、相机画面、日志、轨迹和源码哈希对应同一运行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evidence/evaluation.json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；墙体轮廓离散采样为空，不等于连续接触测量。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16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95" name="Picture 6" descr="trajectory.png"/>
          <p:cNvPicPr/>
          <p:nvPr/>
        </p:nvPicPr>
        <p:blipFill>
          <a:blip r:embed="rId1"/>
          <a:stretch/>
        </p:blipFill>
        <p:spPr>
          <a:xfrm>
            <a:off x="329760" y="1188720"/>
            <a:ext cx="4889520" cy="5146920"/>
          </a:xfrm>
          <a:prstGeom prst="rect">
            <a:avLst/>
          </a:prstGeom>
          <a:ln w="0">
            <a:noFill/>
          </a:ln>
        </p:spPr>
      </p:pic>
      <p:sp>
        <p:nvSpPr>
          <p:cNvPr id="196" name="Rectangle 7"/>
          <p:cNvSpPr/>
          <p:nvPr/>
        </p:nvSpPr>
        <p:spPr>
          <a:xfrm>
            <a:off x="5440680" y="1325880"/>
            <a:ext cx="3180960" cy="11419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8"/>
          <p:cNvSpPr/>
          <p:nvPr/>
        </p:nvSpPr>
        <p:spPr>
          <a:xfrm>
            <a:off x="5596200" y="1417320"/>
            <a:ext cx="28702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5 / 5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5596200" y="1984320"/>
            <a:ext cx="28702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走廊类别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9" name="Rectangle 10"/>
          <p:cNvSpPr/>
          <p:nvPr/>
        </p:nvSpPr>
        <p:spPr>
          <a:xfrm>
            <a:off x="8686800" y="1325880"/>
            <a:ext cx="3180960" cy="11419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TextBox 11"/>
          <p:cNvSpPr/>
          <p:nvPr/>
        </p:nvSpPr>
        <p:spPr>
          <a:xfrm>
            <a:off x="8842320" y="1417320"/>
            <a:ext cx="28702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4 / 4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8842320" y="1984320"/>
            <a:ext cx="28702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核心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Marker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2" name="Rectangle 13"/>
          <p:cNvSpPr/>
          <p:nvPr/>
        </p:nvSpPr>
        <p:spPr>
          <a:xfrm>
            <a:off x="5440680" y="2788920"/>
            <a:ext cx="3180960" cy="11419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TextBox 14"/>
          <p:cNvSpPr/>
          <p:nvPr/>
        </p:nvSpPr>
        <p:spPr>
          <a:xfrm>
            <a:off x="5596200" y="2880360"/>
            <a:ext cx="28702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0.9960 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5596200" y="3447360"/>
            <a:ext cx="28702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箱体实际位移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Rectangle 16"/>
          <p:cNvSpPr/>
          <p:nvPr/>
        </p:nvSpPr>
        <p:spPr>
          <a:xfrm>
            <a:off x="8686800" y="2788920"/>
            <a:ext cx="3180960" cy="11419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17"/>
          <p:cNvSpPr/>
          <p:nvPr/>
        </p:nvSpPr>
        <p:spPr>
          <a:xfrm>
            <a:off x="8842320" y="2880360"/>
            <a:ext cx="28702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4.26 cm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8842320" y="3447360"/>
            <a:ext cx="28702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返航位置误差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5614560" y="4389120"/>
            <a:ext cx="59425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四标记 </a:t>
            </a:r>
            <a:r>
              <a:rPr b="1" lang="en-US" sz="25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map </a:t>
            </a:r>
            <a:r>
              <a:rPr b="1" lang="zh-CN" sz="25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平面误差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5614560" y="5001840"/>
            <a:ext cx="59425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7.52–13.94 cm</a:t>
            </a:r>
            <a:endParaRPr b="0" lang="en-US" sz="3700" spc="-1" strike="noStrike"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5605200" y="5852160"/>
            <a:ext cx="60796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在线 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SLAM </a:t>
            </a:r>
            <a:r>
              <a:rPr b="0" lang="zh-CN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已留档 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· </a:t>
            </a:r>
            <a:r>
              <a:rPr b="0" lang="zh-CN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项目验收通过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团队贡献：结构、感知与导航协同实现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面向本场地验证；下一步做随机初始条件、逐帧评估与接触力检测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基础算法与框架明确第三方归属，团队贡献可追溯到机构设计、源码及实测。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6" name="Rectangle 6"/>
          <p:cNvSpPr/>
          <p:nvPr/>
        </p:nvSpPr>
        <p:spPr>
          <a:xfrm>
            <a:off x="320040" y="1517760"/>
            <a:ext cx="3720600" cy="30621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TextBox 7"/>
          <p:cNvSpPr/>
          <p:nvPr/>
        </p:nvSpPr>
        <p:spPr>
          <a:xfrm>
            <a:off x="530280" y="1710000"/>
            <a:ext cx="329076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01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530280" y="2386440"/>
            <a:ext cx="3290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结构与接触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530280" y="3163680"/>
            <a:ext cx="329076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新版云台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被动推板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完整轮廓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有界接触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0" name="Rectangle 10"/>
          <p:cNvSpPr/>
          <p:nvPr/>
        </p:nvSpPr>
        <p:spPr>
          <a:xfrm>
            <a:off x="4233600" y="1517760"/>
            <a:ext cx="3720600" cy="30621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11"/>
          <p:cNvSpPr/>
          <p:nvPr/>
        </p:nvSpPr>
        <p:spPr>
          <a:xfrm>
            <a:off x="4443840" y="1710000"/>
            <a:ext cx="329076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02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4443840" y="2386440"/>
            <a:ext cx="3290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感知与标定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4443840" y="3163680"/>
            <a:ext cx="329076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图案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几何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时序核验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拍摄时刻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TF 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位置融合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4" name="Rectangle 14"/>
          <p:cNvSpPr/>
          <p:nvPr/>
        </p:nvSpPr>
        <p:spPr>
          <a:xfrm>
            <a:off x="8147160" y="1517760"/>
            <a:ext cx="3720600" cy="30621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15"/>
          <p:cNvSpPr/>
          <p:nvPr/>
        </p:nvSpPr>
        <p:spPr>
          <a:xfrm>
            <a:off x="8357760" y="1710000"/>
            <a:ext cx="329076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03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26" name="TextBox 16"/>
          <p:cNvSpPr/>
          <p:nvPr/>
        </p:nvSpPr>
        <p:spPr>
          <a:xfrm>
            <a:off x="8357760" y="2386440"/>
            <a:ext cx="3290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导航与复现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8357760" y="3163680"/>
            <a:ext cx="329076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激光自由证据地图处理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阶段控制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独立验收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8" name="TextBox 18"/>
          <p:cNvSpPr/>
          <p:nvPr/>
        </p:nvSpPr>
        <p:spPr>
          <a:xfrm>
            <a:off x="411480" y="5083920"/>
            <a:ext cx="1138320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第三方基础：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ROS 2 · Gazebo · Nav2 · slam_toolbox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YOLOv5 · OpenCV · AprilTag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TextBox 19"/>
          <p:cNvSpPr/>
          <p:nvPr/>
        </p:nvSpPr>
        <p:spPr>
          <a:xfrm>
            <a:off x="411480" y="5943600"/>
            <a:ext cx="11383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谢谢各位老师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A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｜比赛评分与现场证据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国赛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8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分钟包含视频；展示结束后按需回答提问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依据：本地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B09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比赛规则（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2026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年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7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月）；项目验收门限不等同官方评分阈值。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18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35" name="Table 6"/>
          <p:cNvGraphicFramePr/>
          <p:nvPr/>
        </p:nvGraphicFramePr>
        <p:xfrm>
          <a:off x="365760" y="1325880"/>
          <a:ext cx="11429640" cy="467172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7223760"/>
              </a:tblGrid>
              <a:tr h="6674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评分项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分值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现场证据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674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自建环境与单车建图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15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Gazebo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场景与清晰占据栅格地图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五类走廊识别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入室前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类分类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终端打印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674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入口清障交互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真实推箱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平稳驶入核心区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核心识别与标定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四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AprilTag + RViz Marker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与布局吻合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674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返回起点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完整返航画面与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complete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事件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方案创新性答辩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场景、机构、视觉与导航的团队改进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B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｜传感器、任务与执行闭环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YAML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给任务目标，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Nav2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根据地图规划路径；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23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步任务由事件推进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8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来源：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launch/sim_launch.py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mission_node.py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vision_node.py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safety_node.py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1" name="Rectangle 6"/>
          <p:cNvSpPr/>
          <p:nvPr/>
        </p:nvSpPr>
        <p:spPr>
          <a:xfrm>
            <a:off x="502920" y="1920240"/>
            <a:ext cx="3199320" cy="27878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7"/>
          <p:cNvSpPr/>
          <p:nvPr/>
        </p:nvSpPr>
        <p:spPr>
          <a:xfrm>
            <a:off x="667440" y="2121480"/>
            <a:ext cx="287928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感知与定位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667440" y="2871360"/>
            <a:ext cx="287928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激光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+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里程计 →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AMCL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图像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+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云台关节角 → 识别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/ TF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4" name="Rectangle 9"/>
          <p:cNvSpPr/>
          <p:nvPr/>
        </p:nvSpPr>
        <p:spPr>
          <a:xfrm>
            <a:off x="4507920" y="1920240"/>
            <a:ext cx="3199320" cy="27878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10"/>
          <p:cNvSpPr/>
          <p:nvPr/>
        </p:nvSpPr>
        <p:spPr>
          <a:xfrm>
            <a:off x="4672440" y="2121480"/>
            <a:ext cx="287928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任务与导航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4672440" y="2871360"/>
            <a:ext cx="2879280" cy="14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确认事件 → 任务状态机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Smac2D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栅格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A* → RPP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跟踪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7" name="Rectangle 12"/>
          <p:cNvSpPr/>
          <p:nvPr/>
        </p:nvSpPr>
        <p:spPr>
          <a:xfrm>
            <a:off x="8503920" y="1920240"/>
            <a:ext cx="3199320" cy="27878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13"/>
          <p:cNvSpPr/>
          <p:nvPr/>
        </p:nvSpPr>
        <p:spPr>
          <a:xfrm>
            <a:off x="8668440" y="2121480"/>
            <a:ext cx="287928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安全与执行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9" name="TextBox 14"/>
          <p:cNvSpPr/>
          <p:nvPr/>
        </p:nvSpPr>
        <p:spPr>
          <a:xfrm>
            <a:off x="8668440" y="2871360"/>
            <a:ext cx="2879280" cy="11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速度平滑 → 安全检查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完整车体停车扫掠 → 车轮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0" name="Connector 15"/>
          <p:cNvSpPr/>
          <p:nvPr/>
        </p:nvSpPr>
        <p:spPr>
          <a:xfrm>
            <a:off x="3748680" y="3383280"/>
            <a:ext cx="622080" cy="36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1" name="Connector 16"/>
          <p:cNvSpPr/>
          <p:nvPr/>
        </p:nvSpPr>
        <p:spPr>
          <a:xfrm>
            <a:off x="7772400" y="3383280"/>
            <a:ext cx="585000" cy="36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2" name="Rectangle 17"/>
          <p:cNvSpPr/>
          <p:nvPr/>
        </p:nvSpPr>
        <p:spPr>
          <a:xfrm>
            <a:off x="320040" y="5596200"/>
            <a:ext cx="11547720" cy="4377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18"/>
          <p:cNvSpPr/>
          <p:nvPr/>
        </p:nvSpPr>
        <p:spPr>
          <a:xfrm>
            <a:off x="466200" y="5646600"/>
            <a:ext cx="1124604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任务与视觉不读世界真值；独立验收工具旁路记录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C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｜定位误差先统一坐标系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map←odom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变换统一真实位置与估计位置；误差含测距与定位漂移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本次录屏同次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evaluation.json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raw world/map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差不可直接作为定位误差。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58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20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59" name="Table 6"/>
          <p:cNvGraphicFramePr/>
          <p:nvPr/>
        </p:nvGraphicFramePr>
        <p:xfrm>
          <a:off x="365760" y="1554480"/>
          <a:ext cx="11429640" cy="3931200"/>
        </p:xfrm>
        <a:graphic>
          <a:graphicData uri="http://schemas.openxmlformats.org/drawingml/2006/table">
            <a:tbl>
              <a:tblPr/>
              <a:tblGrid>
                <a:gridCol w="914400"/>
                <a:gridCol w="4343400"/>
                <a:gridCol w="2880360"/>
                <a:gridCol w="3291840"/>
              </a:tblGrid>
              <a:tr h="7862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ID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类别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统一 </a:t>
                      </a: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map / cm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原始坐标差 </a:t>
                      </a: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cm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7862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T0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COLLAPSE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13.94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15.76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7862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T1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TOXIC_LEAK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11.88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14.57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78624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T2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TRAPPED_PERSON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10.20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13.88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7866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T3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HIGH_TEMPERATURE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7.52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12.26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  <p:sp>
        <p:nvSpPr>
          <p:cNvPr id="260" name="TextBox 7"/>
          <p:cNvSpPr/>
          <p:nvPr/>
        </p:nvSpPr>
        <p:spPr>
          <a:xfrm>
            <a:off x="548640" y="5824800"/>
            <a:ext cx="1106316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上述数值全部属于新版录屏；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15 cm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是项目自定验收门限。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D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｜更快的候选不一定更快完成任务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62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评价从首次导航到完整任务完成；保留失败候选与完整日志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3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历史速度实验：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speed_tuning_validation.json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，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1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次基准、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次最终配置。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65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21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66" name="Table 6"/>
          <p:cNvGraphicFramePr/>
          <p:nvPr/>
        </p:nvGraphicFramePr>
        <p:xfrm>
          <a:off x="365760" y="1325880"/>
          <a:ext cx="11429640" cy="4800240"/>
        </p:xfrm>
        <a:graphic>
          <a:graphicData uri="http://schemas.openxmlformats.org/drawingml/2006/table">
            <a:tbl>
              <a:tblPr/>
              <a:tblGrid>
                <a:gridCol w="3337560"/>
                <a:gridCol w="2240280"/>
                <a:gridCol w="1188720"/>
                <a:gridCol w="4663440"/>
              </a:tblGrid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配置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任务耗时 </a:t>
                      </a:r>
                      <a:r>
                        <a:rPr b="1" lang="en-US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s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结果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说明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原速基准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310.82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次基准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最终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0.20 /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第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286.07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Marker 7.67–12.83 cm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最终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0.20 /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第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288.32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Marker 4.41–6.83 cm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分档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296.84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末端对正耗时更长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全程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不计成绩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失败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门洞触发激光保护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分档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0.30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不计成绩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失败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横偏与异常转向停车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E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｜视觉指标与工程确认条件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68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单帧显示框、历史确认列表、任务确认事件是不同信息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9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模型合成集指标：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yolov5/hazard_yolov5.json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；时序规则见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tracker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vision_node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22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72" name="Table 6"/>
          <p:cNvGraphicFramePr/>
          <p:nvPr/>
        </p:nvGraphicFramePr>
        <p:xfrm>
          <a:off x="365760" y="1325880"/>
          <a:ext cx="11429280" cy="4800240"/>
        </p:xfrm>
        <a:graphic>
          <a:graphicData uri="http://schemas.openxmlformats.org/drawingml/2006/table">
            <a:tbl>
              <a:tblPr/>
              <a:tblGrid>
                <a:gridCol w="2834640"/>
                <a:gridCol w="3977280"/>
                <a:gridCol w="4617720"/>
              </a:tblGrid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项目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指标 </a:t>
                      </a:r>
                      <a:r>
                        <a:rPr b="1" lang="en-US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</a:t>
                      </a: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条件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解释范围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合成模型验证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P 85.62% / R 70.81%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160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张、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IoU≥0.50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、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conf 0.45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无目标合成图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 / 59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有误报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图像级误报率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3.39%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走廊事件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连续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个关联处理帧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不等于一帧看到框就确认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核心定位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至少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次有效观测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不要求连续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帧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完整任务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类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标签全部确认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不等于逐帧零误报或零漏报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红箱像素框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仅作显示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不参与导航与推障授权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/>
          <p:nvPr/>
        </p:nvSpPr>
        <p:spPr>
          <a:xfrm>
            <a:off x="311040" y="164520"/>
            <a:ext cx="115660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F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｜评委常见追问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74" name="TextBox 2"/>
          <p:cNvSpPr/>
          <p:nvPr/>
        </p:nvSpPr>
        <p:spPr>
          <a:xfrm>
            <a:off x="320040" y="786240"/>
            <a:ext cx="1152036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用源码、原始日志和同次录屏说明机制与验证范围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320040" y="6492240"/>
            <a:ext cx="11547720" cy="1188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4"/>
          <p:cNvSpPr/>
          <p:nvPr/>
        </p:nvSpPr>
        <p:spPr>
          <a:xfrm>
            <a:off x="320040" y="6565320"/>
            <a:ext cx="1097172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复现环境：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Ubuntu 22.04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ROS 2 Humble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Gazebo Classic 11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；一键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start.sh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  <a:ea typeface="DejaVu Sans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11421000" y="6537960"/>
            <a:ext cx="4104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23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8" name="TextBox 6"/>
          <p:cNvSpPr/>
          <p:nvPr/>
        </p:nvSpPr>
        <p:spPr>
          <a:xfrm>
            <a:off x="484560" y="1353240"/>
            <a:ext cx="47080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如何证明真实推障？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5422320" y="1353240"/>
            <a:ext cx="62899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2 kg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动态箱体、物理碰撞与摩擦、独立位移记录。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0" name="TextBox 8"/>
          <p:cNvSpPr/>
          <p:nvPr/>
        </p:nvSpPr>
        <p:spPr>
          <a:xfrm>
            <a:off x="484560" y="2304360"/>
            <a:ext cx="47080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是否按固定速度硬走路线？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1" name="TextBox 9"/>
          <p:cNvSpPr/>
          <p:nvPr/>
        </p:nvSpPr>
        <p:spPr>
          <a:xfrm>
            <a:off x="5422320" y="2304360"/>
            <a:ext cx="62899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YAML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只给任务目标，路径与跟踪由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Nav2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完成。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2" name="TextBox 10"/>
          <p:cNvSpPr/>
          <p:nvPr/>
        </p:nvSpPr>
        <p:spPr>
          <a:xfrm>
            <a:off x="484560" y="3255120"/>
            <a:ext cx="47080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地图清理会忽略真实障碍吗？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3" name="TextBox 11"/>
          <p:cNvSpPr/>
          <p:nvPr/>
        </p:nvSpPr>
        <p:spPr>
          <a:xfrm>
            <a:off x="5422320" y="3255120"/>
            <a:ext cx="62899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限定区域、三次自由证据，实时激光层继续标记。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4" name="TextBox 12"/>
          <p:cNvSpPr/>
          <p:nvPr/>
        </p:nvSpPr>
        <p:spPr>
          <a:xfrm>
            <a:off x="484560" y="4206240"/>
            <a:ext cx="47080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团队创新体现在哪里？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5" name="TextBox 13"/>
          <p:cNvSpPr/>
          <p:nvPr/>
        </p:nvSpPr>
        <p:spPr>
          <a:xfrm>
            <a:off x="5422320" y="4206240"/>
            <a:ext cx="6289920" cy="71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基础算法明确归属，团队实现结构、核验、控制与集成。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6" name="TextBox 14"/>
          <p:cNvSpPr/>
          <p:nvPr/>
        </p:nvSpPr>
        <p:spPr>
          <a:xfrm>
            <a:off x="484560" y="5157360"/>
            <a:ext cx="47080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  <a:ea typeface="DejaVu Sans"/>
              </a:rPr>
              <a:t>已经证明全程绝对无碰撞吗？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7" name="TextBox 15"/>
          <p:cNvSpPr/>
          <p:nvPr/>
        </p:nvSpPr>
        <p:spPr>
          <a:xfrm>
            <a:off x="5422320" y="5157360"/>
            <a:ext cx="62899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  <a:ea typeface="DejaVu Sans"/>
              </a:rPr>
              <a:t>墙体检查是离散采样；尚无连续接触传感器证明。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Simulator · B09018834</dc:creator>
  <dc:description>generated using python-pptx</dc:description>
  <dc:language>en-US</dc:language>
  <cp:lastModifiedBy/>
  <dcterms:modified xsi:type="dcterms:W3CDTF">2026-10-14T13:40:37Z</dcterms:modified>
  <cp:revision>4</cp:revision>
  <dc:subject/>
  <dc:title>救援无人车仿真系统｜国赛答辩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