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12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2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6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8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4.xml.rels" ContentType="application/vnd.openxmlformats-package.relationships+xml"/>
  <Override PartName="/ppt/notesSlides/_rels/notesSlide23.xml.rels" ContentType="application/vnd.openxmlformats-package.relationships+xml"/>
  <Override PartName="/ppt/notesSlides/_rels/notesSlide19.xml.rels" ContentType="application/vnd.openxmlformats-package.relationships+xml"/>
  <Override PartName="/ppt/notesSlides/_rels/notesSlide20.xml.rels" ContentType="application/vnd.openxmlformats-package.relationships+xml"/>
  <Override PartName="/ppt/notesSlides/_rels/notesSlide22.xml.rels" ContentType="application/vnd.openxmlformats-package.relationships+xml"/>
  <Override PartName="/ppt/notesSlides/_rels/notesSlide21.xml.rels" ContentType="application/vnd.openxmlformats-package.relationships+xml"/>
  <Override PartName="/ppt/notesSlides/notesSlide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7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9.png" ContentType="image/png"/>
  <Override PartName="/ppt/media/image13.png" ContentType="image/png"/>
  <Override PartName="/ppt/media/image8.png" ContentType="image/png"/>
  <Override PartName="/ppt/media/image12.png" ContentType="image/png"/>
  <Override PartName="/ppt/media/image7.png" ContentType="image/png"/>
  <Override PartName="/ppt/media/image11.png" ContentType="image/png"/>
  <Override PartName="/ppt/media/image6.png" ContentType="image/png"/>
  <Override PartName="/ppt/media/image10.png" ContentType="image/png"/>
  <Override PartName="/ppt/media/image5.png" ContentType="image/png"/>
  <Override PartName="/ppt/media/image4.png" ContentType="image/png"/>
  <Override PartName="/ppt/media/image27.png" ContentType="image/png"/>
  <Override PartName="/ppt/media/image3.png" ContentType="image/png"/>
  <Override PartName="/ppt/media/image26.png" ContentType="image/png"/>
  <Override PartName="/ppt/media/image23.png" ContentType="image/png"/>
  <Override PartName="/ppt/media/image22.png" ContentType="image/png"/>
  <Override PartName="/ppt/media/image21.png" ContentType="image/png"/>
  <Override PartName="/ppt/media/image19.png" ContentType="image/png"/>
  <Override PartName="/ppt/media/image20.png" ContentType="image/png"/>
  <Override PartName="/ppt/media/image18.png" ContentType="image/png"/>
  <Override PartName="/ppt/media/image17.png" ContentType="image/png"/>
  <Override PartName="/ppt/media/image16.png" ContentType="image/png"/>
  <Override PartName="/ppt/media/image15.png" ContentType="image/png"/>
  <Override PartName="/ppt/media/image14.png" ContentType="image/png"/>
  <Override PartName="/ppt/media/image1.png" ContentType="image/png"/>
  <Override PartName="/ppt/media/image24.png" ContentType="image/png"/>
  <Override PartName="/ppt/media/image2.png" ContentType="image/png"/>
  <Override PartName="/ppt/media/image25.png" ContentType="image/png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21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_rels/slide2.xml.rels" ContentType="application/vnd.openxmlformats-package.relationships+xml"/>
  <Override PartName="/ppt/slides/_rels/slide20.xml.rels" ContentType="application/vnd.openxmlformats-package.relationships+xml"/>
  <Override PartName="/ppt/slides/_rels/slide1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3.xml.rels" ContentType="application/vnd.openxmlformats-package.relationships+xml"/>
  <Override PartName="/ppt/slides/_rels/slide21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23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22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19.xml.rels" ContentType="application/vnd.openxmlformats-package.relationships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move the slide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000" spc="-1" strike="noStrike">
                <a:latin typeface="Arial"/>
              </a:rPr>
              <a:t>Click to edit the notes format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400" spc="-1" strike="noStrike">
                <a:latin typeface="Times New Roman"/>
              </a:rPr>
              <a:t>&lt;header&gt;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dt" idx="4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ftr" idx="5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6" name="PlaceHolder 6"/>
          <p:cNvSpPr>
            <a:spLocks noGrp="1"/>
          </p:cNvSpPr>
          <p:nvPr>
            <p:ph type="sldNum" idx="6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E470D639-43CE-46F3-ADF0-F2787CA8B519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8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## </a:t>
            </a:r>
            <a:r>
              <a:rPr b="0" lang="zh-CN" sz="2000" spc="-1" strike="noStrike">
                <a:latin typeface="Arial"/>
              </a:rPr>
              <a:t>第</a:t>
            </a:r>
            <a:r>
              <a:rPr b="0" lang="en-US" sz="2000" spc="-1" strike="noStrike">
                <a:latin typeface="Arial"/>
              </a:rPr>
              <a:t>1</a:t>
            </a:r>
            <a:r>
              <a:rPr b="0" lang="zh-CN" sz="2000" spc="-1" strike="noStrike">
                <a:latin typeface="Arial"/>
              </a:rPr>
              <a:t>页 救援无人车仿</a:t>
            </a:r>
            <a:r>
              <a:rPr b="0" lang="zh-CN" sz="2000" spc="-1" strike="noStrike">
                <a:latin typeface="Arial"/>
              </a:rPr>
              <a:t>真系统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**</a:t>
            </a:r>
            <a:r>
              <a:rPr b="0" lang="zh-CN" sz="2000" spc="-1" strike="noStrike">
                <a:latin typeface="Arial"/>
              </a:rPr>
              <a:t>累计时间：</a:t>
            </a:r>
            <a:r>
              <a:rPr b="0" lang="en-US" sz="2000" spc="-1" strike="noStrike">
                <a:latin typeface="Arial"/>
              </a:rPr>
              <a:t>00:00–</a:t>
            </a:r>
            <a:r>
              <a:rPr b="0" lang="en-US" sz="2000" spc="-1" strike="noStrike">
                <a:latin typeface="Arial"/>
              </a:rPr>
              <a:t>00:10</a:t>
            </a:r>
            <a:r>
              <a:rPr b="0" lang="zh-CN" sz="2000" spc="-1" strike="noStrike">
                <a:latin typeface="Arial"/>
              </a:rPr>
              <a:t>｜本页</a:t>
            </a:r>
            <a:r>
              <a:rPr b="0" lang="en-US" sz="2000" spc="-1" strike="noStrike">
                <a:latin typeface="Arial"/>
              </a:rPr>
              <a:t>10</a:t>
            </a:r>
            <a:r>
              <a:rPr b="0" lang="zh-CN" sz="2000" spc="-1" strike="noStrike">
                <a:latin typeface="Arial"/>
              </a:rPr>
              <a:t>秒</a:t>
            </a:r>
            <a:r>
              <a:rPr b="0" lang="en-US" sz="2000" spc="-1" strike="noStrike">
                <a:latin typeface="Arial"/>
              </a:rPr>
              <a:t>**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**</a:t>
            </a:r>
            <a:r>
              <a:rPr b="0" lang="zh-CN" sz="2000" spc="-1" strike="noStrike">
                <a:latin typeface="Arial"/>
              </a:rPr>
              <a:t>现场讲述：</a:t>
            </a:r>
            <a:r>
              <a:rPr b="0" lang="en-US" sz="2000" spc="-1" strike="noStrike">
                <a:latin typeface="Arial"/>
              </a:rPr>
              <a:t>**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zh-CN" sz="2000" spc="-1" strike="noStrike">
                <a:latin typeface="Arial"/>
              </a:rPr>
              <a:t>各位评委老师好，我们是 </a:t>
            </a:r>
            <a:r>
              <a:rPr b="0" lang="en-US" sz="2000" spc="-1" strike="noStrike">
                <a:latin typeface="Arial"/>
              </a:rPr>
              <a:t>Simulator </a:t>
            </a:r>
            <a:r>
              <a:rPr b="0" lang="zh-CN" sz="2000" spc="-1" strike="noStrike">
                <a:latin typeface="Arial"/>
              </a:rPr>
              <a:t>队。下面展</a:t>
            </a:r>
            <a:r>
              <a:rPr b="0" lang="zh-CN" sz="2000" spc="-1" strike="noStrike">
                <a:latin typeface="Arial"/>
              </a:rPr>
              <a:t>示救援无人车的任务与</a:t>
            </a:r>
            <a:r>
              <a:rPr b="0" lang="zh-CN" sz="2000" spc="-1" strike="noStrike">
                <a:latin typeface="Arial"/>
              </a:rPr>
              <a:t>设计。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**</a:t>
            </a:r>
            <a:r>
              <a:rPr b="0" lang="zh-CN" sz="2000" spc="-1" strike="noStrike">
                <a:latin typeface="Arial"/>
              </a:rPr>
              <a:t>备注：</a:t>
            </a:r>
            <a:r>
              <a:rPr b="0" lang="en-US" sz="2000" spc="-1" strike="noStrike">
                <a:latin typeface="Arial"/>
              </a:rPr>
              <a:t>**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zh-CN" sz="2000" spc="-1" strike="noStrike">
                <a:latin typeface="Arial"/>
              </a:rPr>
              <a:t>封面车辆结构使用更新后</a:t>
            </a:r>
            <a:r>
              <a:rPr b="0" lang="zh-CN" sz="2000" spc="-1" strike="noStrike">
                <a:latin typeface="Arial"/>
              </a:rPr>
              <a:t>的云台和推板图，与当</a:t>
            </a:r>
            <a:r>
              <a:rPr b="0" lang="zh-CN" sz="2000" spc="-1" strike="noStrike">
                <a:latin typeface="Arial"/>
              </a:rPr>
              <a:t>前 </a:t>
            </a:r>
            <a:r>
              <a:rPr b="0" lang="en-US" sz="2000" spc="-1" strike="noStrike">
                <a:latin typeface="Arial"/>
              </a:rPr>
              <a:t>rescue_rover.urdf</a:t>
            </a:r>
            <a:r>
              <a:rPr b="0" lang="zh-CN" sz="2000" spc="-1" strike="noStrike">
                <a:latin typeface="Arial"/>
              </a:rPr>
              <a:t>、</a:t>
            </a:r>
            <a:r>
              <a:rPr b="0" lang="en-US" sz="2000" spc="-1" strike="noStrike">
                <a:latin typeface="Arial"/>
              </a:rPr>
              <a:t>model.sdf </a:t>
            </a:r>
            <a:r>
              <a:rPr b="0" lang="zh-CN" sz="2000" spc="-1" strike="noStrike">
                <a:latin typeface="Arial"/>
              </a:rPr>
              <a:t>对应。姓名</a:t>
            </a:r>
            <a:r>
              <a:rPr b="0" lang="zh-CN" sz="2000" spc="-1" strike="noStrike">
                <a:latin typeface="Arial"/>
              </a:rPr>
              <a:t>按封面显示，不展开介</a:t>
            </a:r>
            <a:r>
              <a:rPr b="0" lang="zh-CN" sz="2000" spc="-1" strike="noStrike">
                <a:latin typeface="Arial"/>
              </a:rPr>
              <a:t>绍以控制时间。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</p:txBody>
      </p:sp>
      <p:sp>
        <p:nvSpPr>
          <p:cNvPr id="290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24B94696-F770-4C21-B30A-CB9B4E73DD0C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9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## </a:t>
            </a:r>
            <a:r>
              <a:rPr b="0" lang="zh-CN" sz="2000" spc="-1" strike="noStrike">
                <a:latin typeface="Arial"/>
              </a:rPr>
              <a:t>第</a:t>
            </a:r>
            <a:r>
              <a:rPr b="0" lang="en-US" sz="2000" spc="-1" strike="noStrike">
                <a:latin typeface="Arial"/>
              </a:rPr>
              <a:t>2</a:t>
            </a:r>
            <a:r>
              <a:rPr b="0" lang="zh-CN" sz="2000" spc="-1" strike="noStrike">
                <a:latin typeface="Arial"/>
              </a:rPr>
              <a:t>页 自建场地与规</a:t>
            </a:r>
            <a:r>
              <a:rPr b="0" lang="zh-CN" sz="2000" spc="-1" strike="noStrike">
                <a:latin typeface="Arial"/>
              </a:rPr>
              <a:t>则任务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**</a:t>
            </a:r>
            <a:r>
              <a:rPr b="0" lang="zh-CN" sz="2000" spc="-1" strike="noStrike">
                <a:latin typeface="Arial"/>
              </a:rPr>
              <a:t>累计时间：</a:t>
            </a:r>
            <a:r>
              <a:rPr b="0" lang="en-US" sz="2000" spc="-1" strike="noStrike">
                <a:latin typeface="Arial"/>
              </a:rPr>
              <a:t>00:10–</a:t>
            </a:r>
            <a:r>
              <a:rPr b="0" lang="en-US" sz="2000" spc="-1" strike="noStrike">
                <a:latin typeface="Arial"/>
              </a:rPr>
              <a:t>00:28</a:t>
            </a:r>
            <a:r>
              <a:rPr b="0" lang="zh-CN" sz="2000" spc="-1" strike="noStrike">
                <a:latin typeface="Arial"/>
              </a:rPr>
              <a:t>｜本页</a:t>
            </a:r>
            <a:r>
              <a:rPr b="0" lang="en-US" sz="2000" spc="-1" strike="noStrike">
                <a:latin typeface="Arial"/>
              </a:rPr>
              <a:t>18</a:t>
            </a:r>
            <a:r>
              <a:rPr b="0" lang="zh-CN" sz="2000" spc="-1" strike="noStrike">
                <a:latin typeface="Arial"/>
              </a:rPr>
              <a:t>秒</a:t>
            </a:r>
            <a:r>
              <a:rPr b="0" lang="en-US" sz="2000" spc="-1" strike="noStrike">
                <a:latin typeface="Arial"/>
              </a:rPr>
              <a:t>**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**</a:t>
            </a:r>
            <a:r>
              <a:rPr b="0" lang="zh-CN" sz="2000" spc="-1" strike="noStrike">
                <a:latin typeface="Arial"/>
              </a:rPr>
              <a:t>现场讲述：</a:t>
            </a:r>
            <a:r>
              <a:rPr b="0" lang="en-US" sz="2000" spc="-1" strike="noStrike">
                <a:latin typeface="Arial"/>
              </a:rPr>
              <a:t>**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zh-CN" sz="2000" spc="-1" strike="noStrike">
                <a:latin typeface="Arial"/>
              </a:rPr>
              <a:t>我们自主搭建三米见方的</a:t>
            </a:r>
            <a:r>
              <a:rPr b="0" lang="zh-CN" sz="2000" spc="-1" strike="noStrike">
                <a:latin typeface="Arial"/>
              </a:rPr>
              <a:t>厂区并完成建图。任务</a:t>
            </a:r>
            <a:r>
              <a:rPr b="0" lang="zh-CN" sz="2000" spc="-1" strike="noStrike">
                <a:latin typeface="Arial"/>
              </a:rPr>
              <a:t>依次是五类走廊识别、</a:t>
            </a:r>
            <a:r>
              <a:rPr b="0" lang="zh-CN" sz="2000" spc="-1" strike="noStrike">
                <a:latin typeface="Arial"/>
              </a:rPr>
              <a:t>实体清障、四个核心标</a:t>
            </a:r>
            <a:r>
              <a:rPr b="0" lang="zh-CN" sz="2000" spc="-1" strike="noStrike">
                <a:latin typeface="Arial"/>
              </a:rPr>
              <a:t>定和返航。九块图案互</a:t>
            </a:r>
            <a:r>
              <a:rPr b="0" lang="zh-CN" sz="2000" spc="-1" strike="noStrike">
                <a:latin typeface="Arial"/>
              </a:rPr>
              <a:t>不相同，核心标识嵌入 </a:t>
            </a:r>
            <a:r>
              <a:rPr b="0" lang="en-US" sz="2000" spc="-1" strike="noStrike">
                <a:latin typeface="Arial"/>
              </a:rPr>
              <a:t>AprilTag</a:t>
            </a:r>
            <a:r>
              <a:rPr b="0" lang="zh-CN" sz="2000" spc="-1" strike="noStrike">
                <a:latin typeface="Arial"/>
              </a:rPr>
              <a:t>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**</a:t>
            </a:r>
            <a:r>
              <a:rPr b="0" lang="zh-CN" sz="2000" spc="-1" strike="noStrike">
                <a:latin typeface="Arial"/>
              </a:rPr>
              <a:t>备注：</a:t>
            </a:r>
            <a:r>
              <a:rPr b="0" lang="en-US" sz="2000" spc="-1" strike="noStrike">
                <a:latin typeface="Arial"/>
              </a:rPr>
              <a:t>**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zh-CN" sz="2000" spc="-1" strike="noStrike">
                <a:latin typeface="Arial"/>
              </a:rPr>
              <a:t>本队场地尺寸</a:t>
            </a:r>
            <a:r>
              <a:rPr b="0" lang="en-US" sz="2000" spc="-1" strike="noStrike">
                <a:latin typeface="Arial"/>
              </a:rPr>
              <a:t>3 m × 3 </a:t>
            </a:r>
            <a:r>
              <a:rPr b="0" lang="en-US" sz="2000" spc="-1" strike="noStrike">
                <a:latin typeface="Arial"/>
              </a:rPr>
              <a:t>m</a:t>
            </a:r>
            <a:r>
              <a:rPr b="0" lang="zh-CN" sz="2000" spc="-1" strike="noStrike">
                <a:latin typeface="Arial"/>
              </a:rPr>
              <a:t>、核心门宽</a:t>
            </a:r>
            <a:r>
              <a:rPr b="0" lang="en-US" sz="2000" spc="-1" strike="noStrike">
                <a:latin typeface="Arial"/>
              </a:rPr>
              <a:t>0.50 m</a:t>
            </a:r>
            <a:r>
              <a:rPr b="0" lang="zh-CN" sz="2000" spc="-1" strike="noStrike">
                <a:latin typeface="Arial"/>
              </a:rPr>
              <a:t>，</a:t>
            </a:r>
            <a:r>
              <a:rPr b="0" lang="zh-CN" sz="2000" spc="-1" strike="noStrike">
                <a:latin typeface="Arial"/>
              </a:rPr>
              <a:t>均为本队设计。六项分</a:t>
            </a:r>
            <a:r>
              <a:rPr b="0" lang="zh-CN" sz="2000" spc="-1" strike="noStrike">
                <a:latin typeface="Arial"/>
              </a:rPr>
              <a:t>值依次为环境建图</a:t>
            </a:r>
            <a:r>
              <a:rPr b="0" lang="en-US" sz="2000" spc="-1" strike="noStrike">
                <a:latin typeface="Arial"/>
              </a:rPr>
              <a:t>15</a:t>
            </a:r>
            <a:r>
              <a:rPr b="0" lang="zh-CN" sz="2000" spc="-1" strike="noStrike">
                <a:latin typeface="Arial"/>
              </a:rPr>
              <a:t>、</a:t>
            </a:r>
            <a:r>
              <a:rPr b="0" lang="zh-CN" sz="2000" spc="-1" strike="noStrike">
                <a:latin typeface="Arial"/>
              </a:rPr>
              <a:t>走廊识别</a:t>
            </a:r>
            <a:r>
              <a:rPr b="0" lang="en-US" sz="2000" spc="-1" strike="noStrike">
                <a:latin typeface="Arial"/>
              </a:rPr>
              <a:t>20</a:t>
            </a:r>
            <a:r>
              <a:rPr b="0" lang="zh-CN" sz="2000" spc="-1" strike="noStrike">
                <a:latin typeface="Arial"/>
              </a:rPr>
              <a:t>、清障</a:t>
            </a:r>
            <a:r>
              <a:rPr b="0" lang="en-US" sz="2000" spc="-1" strike="noStrike">
                <a:latin typeface="Arial"/>
              </a:rPr>
              <a:t>20</a:t>
            </a:r>
            <a:r>
              <a:rPr b="0" lang="zh-CN" sz="2000" spc="-1" strike="noStrike">
                <a:latin typeface="Arial"/>
              </a:rPr>
              <a:t>、核心识别标定</a:t>
            </a:r>
            <a:r>
              <a:rPr b="0" lang="en-US" sz="2000" spc="-1" strike="noStrike">
                <a:latin typeface="Arial"/>
              </a:rPr>
              <a:t>20</a:t>
            </a:r>
            <a:r>
              <a:rPr b="0" lang="zh-CN" sz="2000" spc="-1" strike="noStrike">
                <a:latin typeface="Arial"/>
              </a:rPr>
              <a:t>、返航</a:t>
            </a:r>
            <a:r>
              <a:rPr b="0" lang="en-US" sz="2000" spc="-1" strike="noStrike">
                <a:latin typeface="Arial"/>
              </a:rPr>
              <a:t>5</a:t>
            </a:r>
            <a:r>
              <a:rPr b="0" lang="zh-CN" sz="2000" spc="-1" strike="noStrike">
                <a:latin typeface="Arial"/>
              </a:rPr>
              <a:t>、创新答辩</a:t>
            </a:r>
            <a:r>
              <a:rPr b="0" lang="en-US" sz="2000" spc="-1" strike="noStrike">
                <a:latin typeface="Arial"/>
              </a:rPr>
              <a:t>20</a:t>
            </a:r>
            <a:r>
              <a:rPr b="0" lang="zh-CN" sz="2000" spc="-1" strike="noStrike">
                <a:latin typeface="Arial"/>
              </a:rPr>
              <a:t>。规则要求图案互不</a:t>
            </a:r>
            <a:r>
              <a:rPr b="0" lang="zh-CN" sz="2000" spc="-1" strike="noStrike">
                <a:latin typeface="Arial"/>
              </a:rPr>
              <a:t>相同，未要求图案必须</a:t>
            </a:r>
            <a:r>
              <a:rPr b="0" lang="zh-CN" sz="2000" spc="-1" strike="noStrike">
                <a:latin typeface="Arial"/>
              </a:rPr>
              <a:t>没有文字。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</p:txBody>
      </p:sp>
      <p:sp>
        <p:nvSpPr>
          <p:cNvPr id="293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C6F9BA2-A260-418E-8DB7-90AD02BEAFCF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9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## </a:t>
            </a:r>
            <a:r>
              <a:rPr b="0" lang="zh-CN" sz="2000" spc="-1" strike="noStrike">
                <a:latin typeface="Arial"/>
              </a:rPr>
              <a:t>第</a:t>
            </a:r>
            <a:r>
              <a:rPr b="0" lang="en-US" sz="2000" spc="-1" strike="noStrike">
                <a:latin typeface="Arial"/>
              </a:rPr>
              <a:t>4</a:t>
            </a:r>
            <a:r>
              <a:rPr b="0" lang="zh-CN" sz="2000" spc="-1" strike="noStrike">
                <a:latin typeface="Arial"/>
              </a:rPr>
              <a:t>页 新版云台与</a:t>
            </a:r>
            <a:r>
              <a:rPr b="0" lang="en-US" sz="2000" spc="-1" strike="noStrike">
                <a:latin typeface="Arial"/>
              </a:rPr>
              <a:t>V</a:t>
            </a:r>
            <a:r>
              <a:rPr b="0" lang="zh-CN" sz="2000" spc="-1" strike="noStrike">
                <a:latin typeface="Arial"/>
              </a:rPr>
              <a:t>形推板结构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**</a:t>
            </a:r>
            <a:r>
              <a:rPr b="0" lang="zh-CN" sz="2000" spc="-1" strike="noStrike">
                <a:latin typeface="Arial"/>
              </a:rPr>
              <a:t>累计时间：</a:t>
            </a:r>
            <a:r>
              <a:rPr b="0" lang="en-US" sz="2000" spc="-1" strike="noStrike">
                <a:latin typeface="Arial"/>
              </a:rPr>
              <a:t>03:28–</a:t>
            </a:r>
            <a:r>
              <a:rPr b="0" lang="en-US" sz="2000" spc="-1" strike="noStrike">
                <a:latin typeface="Arial"/>
              </a:rPr>
              <a:t>03:50</a:t>
            </a:r>
            <a:r>
              <a:rPr b="0" lang="zh-CN" sz="2000" spc="-1" strike="noStrike">
                <a:latin typeface="Arial"/>
              </a:rPr>
              <a:t>｜本页</a:t>
            </a:r>
            <a:r>
              <a:rPr b="0" lang="en-US" sz="2000" spc="-1" strike="noStrike">
                <a:latin typeface="Arial"/>
              </a:rPr>
              <a:t>22</a:t>
            </a:r>
            <a:r>
              <a:rPr b="0" lang="zh-CN" sz="2000" spc="-1" strike="noStrike">
                <a:latin typeface="Arial"/>
              </a:rPr>
              <a:t>秒</a:t>
            </a:r>
            <a:r>
              <a:rPr b="0" lang="en-US" sz="2000" spc="-1" strike="noStrike">
                <a:latin typeface="Arial"/>
              </a:rPr>
              <a:t>**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**</a:t>
            </a:r>
            <a:r>
              <a:rPr b="0" lang="zh-CN" sz="2000" spc="-1" strike="noStrike">
                <a:latin typeface="Arial"/>
              </a:rPr>
              <a:t>现场讲述：</a:t>
            </a:r>
            <a:r>
              <a:rPr b="0" lang="en-US" sz="2000" spc="-1" strike="noStrike">
                <a:latin typeface="Arial"/>
              </a:rPr>
              <a:t>**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zh-CN" sz="2000" spc="-1" strike="noStrike">
                <a:latin typeface="Arial"/>
              </a:rPr>
              <a:t>车头是被动</a:t>
            </a:r>
            <a:r>
              <a:rPr b="0" lang="en-US" sz="2000" spc="-1" strike="noStrike">
                <a:latin typeface="Arial"/>
              </a:rPr>
              <a:t>V</a:t>
            </a:r>
            <a:r>
              <a:rPr b="0" lang="zh-CN" sz="2000" spc="-1" strike="noStrike">
                <a:latin typeface="Arial"/>
              </a:rPr>
              <a:t>形推板，上</a:t>
            </a:r>
            <a:r>
              <a:rPr b="0" lang="zh-CN" sz="2000" spc="-1" strike="noStrike">
                <a:latin typeface="Arial"/>
              </a:rPr>
              <a:t>方云台由安装板、支柱</a:t>
            </a:r>
            <a:r>
              <a:rPr b="0" lang="zh-CN" sz="2000" spc="-1" strike="noStrike">
                <a:latin typeface="Arial"/>
              </a:rPr>
              <a:t>和回转座支撑相机。底</a:t>
            </a:r>
            <a:r>
              <a:rPr b="0" lang="zh-CN" sz="2000" spc="-1" strike="noStrike">
                <a:latin typeface="Arial"/>
              </a:rPr>
              <a:t>盘负责导航，云台负责</a:t>
            </a:r>
            <a:r>
              <a:rPr b="0" lang="zh-CN" sz="2000" spc="-1" strike="noStrike">
                <a:latin typeface="Arial"/>
              </a:rPr>
              <a:t>侧墙观察。推板横梁与</a:t>
            </a:r>
            <a:r>
              <a:rPr b="0" lang="zh-CN" sz="2000" spc="-1" strike="noStrike">
                <a:latin typeface="Arial"/>
              </a:rPr>
              <a:t>斜翼引导接触，结构与</a:t>
            </a:r>
            <a:r>
              <a:rPr b="0" lang="zh-CN" sz="2000" spc="-1" strike="noStrike">
                <a:latin typeface="Arial"/>
              </a:rPr>
              <a:t>导航轮廓对应，为窄门</a:t>
            </a:r>
            <a:r>
              <a:rPr b="0" lang="zh-CN" sz="2000" spc="-1" strike="noStrike">
                <a:latin typeface="Arial"/>
              </a:rPr>
              <a:t>推障和扫描识别服务。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**</a:t>
            </a:r>
            <a:r>
              <a:rPr b="0" lang="zh-CN" sz="2000" spc="-1" strike="noStrike">
                <a:latin typeface="Arial"/>
              </a:rPr>
              <a:t>备注：</a:t>
            </a:r>
            <a:r>
              <a:rPr b="0" lang="en-US" sz="2000" spc="-1" strike="noStrike">
                <a:latin typeface="Arial"/>
              </a:rPr>
              <a:t>**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zh-CN" sz="2000" spc="-1" strike="noStrike">
                <a:latin typeface="Arial"/>
              </a:rPr>
              <a:t>主图应能看清更新后的安</a:t>
            </a:r>
            <a:r>
              <a:rPr b="0" lang="zh-CN" sz="2000" spc="-1" strike="noStrike">
                <a:latin typeface="Arial"/>
              </a:rPr>
              <a:t>装板、支柱、回转座和</a:t>
            </a:r>
            <a:r>
              <a:rPr b="0" lang="zh-CN" sz="2000" spc="-1" strike="noStrike">
                <a:latin typeface="Arial"/>
              </a:rPr>
              <a:t>相机。云台为绕竖直轴</a:t>
            </a:r>
            <a:r>
              <a:rPr b="0" lang="zh-CN" sz="2000" spc="-1" strike="noStrike">
                <a:latin typeface="Arial"/>
              </a:rPr>
              <a:t>旋转的物理关节，不称</a:t>
            </a:r>
            <a:r>
              <a:rPr b="0" lang="zh-CN" sz="2000" spc="-1" strike="noStrike">
                <a:latin typeface="Arial"/>
              </a:rPr>
              <a:t>双轴云台。相机运动由</a:t>
            </a:r>
            <a:r>
              <a:rPr b="0" lang="en-US" sz="2000" spc="-1" strike="noStrike">
                <a:latin typeface="Arial"/>
              </a:rPr>
              <a:t>Gazebo</a:t>
            </a:r>
            <a:r>
              <a:rPr b="0" lang="zh-CN" sz="2000" spc="-1" strike="noStrike">
                <a:latin typeface="Arial"/>
              </a:rPr>
              <a:t>插件驱动，实</a:t>
            </a:r>
            <a:r>
              <a:rPr b="0" lang="zh-CN" sz="2000" spc="-1" strike="noStrike">
                <a:latin typeface="Arial"/>
              </a:rPr>
              <a:t>际角度更新关节状态与</a:t>
            </a:r>
            <a:r>
              <a:rPr b="0" lang="en-US" sz="2000" spc="-1" strike="noStrike">
                <a:latin typeface="Arial"/>
              </a:rPr>
              <a:t>TF</a:t>
            </a:r>
            <a:r>
              <a:rPr b="0" lang="zh-CN" sz="2000" spc="-1" strike="noStrike">
                <a:latin typeface="Arial"/>
              </a:rPr>
              <a:t>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zh-CN" sz="2000" spc="-1" strike="noStrike">
                <a:latin typeface="Arial"/>
              </a:rPr>
              <a:t>推板宽</a:t>
            </a:r>
            <a:r>
              <a:rPr b="0" lang="en-US" sz="2000" spc="-1" strike="noStrike">
                <a:latin typeface="Arial"/>
              </a:rPr>
              <a:t>0.28 m</a:t>
            </a:r>
            <a:r>
              <a:rPr b="0" lang="zh-CN" sz="2000" spc="-1" strike="noStrike">
                <a:latin typeface="Arial"/>
              </a:rPr>
              <a:t>，整车宽</a:t>
            </a:r>
            <a:r>
              <a:rPr b="0" lang="zh-CN" sz="2000" spc="-1" strike="noStrike">
                <a:latin typeface="Arial"/>
              </a:rPr>
              <a:t>约</a:t>
            </a:r>
            <a:r>
              <a:rPr b="0" lang="en-US" sz="2000" spc="-1" strike="noStrike">
                <a:latin typeface="Arial"/>
              </a:rPr>
              <a:t>0.285 m</a:t>
            </a:r>
            <a:r>
              <a:rPr b="0" lang="zh-CN" sz="2000" spc="-1" strike="noStrike">
                <a:latin typeface="Arial"/>
              </a:rPr>
              <a:t>；实体结</a:t>
            </a:r>
            <a:r>
              <a:rPr b="0" lang="zh-CN" sz="2000" spc="-1" strike="noStrike">
                <a:latin typeface="Arial"/>
              </a:rPr>
              <a:t>构、</a:t>
            </a:r>
            <a:r>
              <a:rPr b="0" lang="en-US" sz="2000" spc="-1" strike="noStrike">
                <a:latin typeface="Arial"/>
              </a:rPr>
              <a:t>TF</a:t>
            </a:r>
            <a:r>
              <a:rPr b="0" lang="zh-CN" sz="2000" spc="-1" strike="noStrike">
                <a:latin typeface="Arial"/>
              </a:rPr>
              <a:t>和导航安全轮</a:t>
            </a:r>
            <a:r>
              <a:rPr b="0" lang="zh-CN" sz="2000" spc="-1" strike="noStrike">
                <a:latin typeface="Arial"/>
              </a:rPr>
              <a:t>廓均包含推板。结构图</a:t>
            </a:r>
            <a:r>
              <a:rPr b="0" lang="zh-CN" sz="2000" spc="-1" strike="noStrike">
                <a:latin typeface="Arial"/>
              </a:rPr>
              <a:t>是按当前模型等比例渲</a:t>
            </a:r>
            <a:r>
              <a:rPr b="0" lang="zh-CN" sz="2000" spc="-1" strike="noStrike">
                <a:latin typeface="Arial"/>
              </a:rPr>
              <a:t>染，不能称实车制造照</a:t>
            </a:r>
            <a:r>
              <a:rPr b="0" lang="zh-CN" sz="2000" spc="-1" strike="noStrike">
                <a:latin typeface="Arial"/>
              </a:rPr>
              <a:t>片。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</p:txBody>
      </p:sp>
      <p:sp>
        <p:nvSpPr>
          <p:cNvPr id="296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03D3D03-8313-434A-B06D-B5C7B3289488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9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## </a:t>
            </a:r>
            <a:r>
              <a:rPr b="0" lang="zh-CN" sz="2000" spc="-1" strike="noStrike">
                <a:latin typeface="Arial"/>
              </a:rPr>
              <a:t>第</a:t>
            </a:r>
            <a:r>
              <a:rPr b="0" lang="en-US" sz="2000" spc="-1" strike="noStrike">
                <a:latin typeface="Arial"/>
              </a:rPr>
              <a:t>5</a:t>
            </a:r>
            <a:r>
              <a:rPr b="0" lang="zh-CN" sz="2000" spc="-1" strike="noStrike">
                <a:latin typeface="Arial"/>
              </a:rPr>
              <a:t>页 实体推障：对</a:t>
            </a:r>
            <a:r>
              <a:rPr b="0" lang="zh-CN" sz="2000" spc="-1" strike="noStrike">
                <a:latin typeface="Arial"/>
              </a:rPr>
              <a:t>准、推进、脱离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**</a:t>
            </a:r>
            <a:r>
              <a:rPr b="0" lang="zh-CN" sz="2000" spc="-1" strike="noStrike">
                <a:latin typeface="Arial"/>
              </a:rPr>
              <a:t>累计时间：</a:t>
            </a:r>
            <a:r>
              <a:rPr b="0" lang="en-US" sz="2000" spc="-1" strike="noStrike">
                <a:latin typeface="Arial"/>
              </a:rPr>
              <a:t>03:50–</a:t>
            </a:r>
            <a:r>
              <a:rPr b="0" lang="en-US" sz="2000" spc="-1" strike="noStrike">
                <a:latin typeface="Arial"/>
              </a:rPr>
              <a:t>04:05</a:t>
            </a:r>
            <a:r>
              <a:rPr b="0" lang="zh-CN" sz="2000" spc="-1" strike="noStrike">
                <a:latin typeface="Arial"/>
              </a:rPr>
              <a:t>｜本页</a:t>
            </a:r>
            <a:r>
              <a:rPr b="0" lang="en-US" sz="2000" spc="-1" strike="noStrike">
                <a:latin typeface="Arial"/>
              </a:rPr>
              <a:t>15</a:t>
            </a:r>
            <a:r>
              <a:rPr b="0" lang="zh-CN" sz="2000" spc="-1" strike="noStrike">
                <a:latin typeface="Arial"/>
              </a:rPr>
              <a:t>秒</a:t>
            </a:r>
            <a:r>
              <a:rPr b="0" lang="en-US" sz="2000" spc="-1" strike="noStrike">
                <a:latin typeface="Arial"/>
              </a:rPr>
              <a:t>**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**</a:t>
            </a:r>
            <a:r>
              <a:rPr b="0" lang="zh-CN" sz="2000" spc="-1" strike="noStrike">
                <a:latin typeface="Arial"/>
              </a:rPr>
              <a:t>现场讲述：</a:t>
            </a:r>
            <a:r>
              <a:rPr b="0" lang="en-US" sz="2000" spc="-1" strike="noStrike">
                <a:latin typeface="Arial"/>
              </a:rPr>
              <a:t>**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zh-CN" sz="2000" spc="-1" strike="noStrike">
                <a:latin typeface="Arial"/>
              </a:rPr>
              <a:t>三张画面展示对准、推进</a:t>
            </a:r>
            <a:r>
              <a:rPr b="0" lang="zh-CN" sz="2000" spc="-1" strike="noStrike">
                <a:latin typeface="Arial"/>
              </a:rPr>
              <a:t>和脱离。箱体是两公斤</a:t>
            </a:r>
            <a:r>
              <a:rPr b="0" lang="zh-CN" sz="2000" spc="-1" strike="noStrike">
                <a:latin typeface="Arial"/>
              </a:rPr>
              <a:t>动态刚体，位移来自接</a:t>
            </a:r>
            <a:r>
              <a:rPr b="0" lang="zh-CN" sz="2000" spc="-1" strike="noStrike">
                <a:latin typeface="Arial"/>
              </a:rPr>
              <a:t>触与摩擦。车辆按里程</a:t>
            </a:r>
            <a:r>
              <a:rPr b="0" lang="zh-CN" sz="2000" spc="-1" strike="noStrike">
                <a:latin typeface="Arial"/>
              </a:rPr>
              <a:t>计闭环推进，完成后转</a:t>
            </a:r>
            <a:r>
              <a:rPr b="0" lang="zh-CN" sz="2000" spc="-1" strike="noStrike">
                <a:latin typeface="Arial"/>
              </a:rPr>
              <a:t>向脱离，再驶入核心</a:t>
            </a:r>
            <a:r>
              <a:rPr b="0" lang="zh-CN" sz="2000" spc="-1" strike="noStrike">
                <a:latin typeface="Arial"/>
              </a:rPr>
              <a:t>区。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**</a:t>
            </a:r>
            <a:r>
              <a:rPr b="0" lang="zh-CN" sz="2000" spc="-1" strike="noStrike">
                <a:latin typeface="Arial"/>
              </a:rPr>
              <a:t>备注：</a:t>
            </a:r>
            <a:r>
              <a:rPr b="0" lang="en-US" sz="2000" spc="-1" strike="noStrike">
                <a:latin typeface="Arial"/>
              </a:rPr>
              <a:t>**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zh-CN" sz="2000" spc="-1" strike="noStrike">
                <a:latin typeface="Arial"/>
              </a:rPr>
              <a:t>图片截自当前新版完整录</a:t>
            </a:r>
            <a:r>
              <a:rPr b="0" lang="zh-CN" sz="2000" spc="-1" strike="noStrike">
                <a:latin typeface="Arial"/>
              </a:rPr>
              <a:t>屏，按先后顺序排列。</a:t>
            </a:r>
            <a:r>
              <a:rPr b="0" lang="zh-CN" sz="2000" spc="-1" strike="noStrike">
                <a:latin typeface="Arial"/>
              </a:rPr>
              <a:t>推障限速</a:t>
            </a:r>
            <a:r>
              <a:rPr b="0" lang="en-US" sz="2000" spc="-1" strike="noStrike">
                <a:latin typeface="Arial"/>
              </a:rPr>
              <a:t>0.10 m/s</a:t>
            </a:r>
            <a:r>
              <a:rPr b="0" lang="zh-CN" sz="2000" spc="-1" strike="noStrike">
                <a:latin typeface="Arial"/>
              </a:rPr>
              <a:t>，车</a:t>
            </a:r>
            <a:r>
              <a:rPr b="0" lang="zh-CN" sz="2000" spc="-1" strike="noStrike">
                <a:latin typeface="Arial"/>
              </a:rPr>
              <a:t>体推进目标</a:t>
            </a:r>
            <a:r>
              <a:rPr b="0" lang="en-US" sz="2000" spc="-1" strike="noStrike">
                <a:latin typeface="Arial"/>
              </a:rPr>
              <a:t>1.08 m</a:t>
            </a:r>
            <a:r>
              <a:rPr b="0" lang="zh-CN" sz="2000" spc="-1" strike="noStrike">
                <a:latin typeface="Arial"/>
              </a:rPr>
              <a:t>，超</a:t>
            </a:r>
            <a:r>
              <a:rPr b="0" lang="zh-CN" sz="2000" spc="-1" strike="noStrike">
                <a:latin typeface="Arial"/>
              </a:rPr>
              <a:t>时</a:t>
            </a:r>
            <a:r>
              <a:rPr b="0" lang="en-US" sz="2000" spc="-1" strike="noStrike">
                <a:latin typeface="Arial"/>
              </a:rPr>
              <a:t>24</a:t>
            </a:r>
            <a:r>
              <a:rPr b="0" lang="zh-CN" sz="2000" spc="-1" strike="noStrike">
                <a:latin typeface="Arial"/>
              </a:rPr>
              <a:t>秒停车。车体里程</a:t>
            </a:r>
            <a:r>
              <a:rPr b="0" lang="zh-CN" sz="2000" spc="-1" strike="noStrike">
                <a:latin typeface="Arial"/>
              </a:rPr>
              <a:t>计推进目标与箱体真实</a:t>
            </a:r>
            <a:r>
              <a:rPr b="0" lang="zh-CN" sz="2000" spc="-1" strike="noStrike">
                <a:latin typeface="Arial"/>
              </a:rPr>
              <a:t>位移是两个量；本次箱</a:t>
            </a:r>
            <a:r>
              <a:rPr b="0" lang="zh-CN" sz="2000" spc="-1" strike="noStrike">
                <a:latin typeface="Arial"/>
              </a:rPr>
              <a:t>体实测位移</a:t>
            </a:r>
            <a:r>
              <a:rPr b="0" lang="en-US" sz="2000" spc="-1" strike="noStrike">
                <a:latin typeface="Arial"/>
              </a:rPr>
              <a:t>0.9960 </a:t>
            </a:r>
            <a:r>
              <a:rPr b="0" lang="en-US" sz="2000" spc="-1" strike="noStrike">
                <a:latin typeface="Arial"/>
              </a:rPr>
              <a:t>m</a:t>
            </a:r>
            <a:r>
              <a:rPr b="0" lang="zh-CN" sz="2000" spc="-1" strike="noStrike">
                <a:latin typeface="Arial"/>
              </a:rPr>
              <a:t>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zh-CN" sz="2000" spc="-1" strike="noStrike">
                <a:latin typeface="Arial"/>
              </a:rPr>
              <a:t>推障闭环为里程计反馈，</a:t>
            </a:r>
            <a:r>
              <a:rPr b="0" lang="zh-CN" sz="2000" spc="-1" strike="noStrike">
                <a:latin typeface="Arial"/>
              </a:rPr>
              <a:t>不称接触力控制或视觉</a:t>
            </a:r>
            <a:r>
              <a:rPr b="0" lang="zh-CN" sz="2000" spc="-1" strike="noStrike">
                <a:latin typeface="Arial"/>
              </a:rPr>
              <a:t>伺服。动态箱体接触交</a:t>
            </a:r>
            <a:r>
              <a:rPr b="0" lang="zh-CN" sz="2000" spc="-1" strike="noStrike">
                <a:latin typeface="Arial"/>
              </a:rPr>
              <a:t>互需要结合</a:t>
            </a:r>
            <a:r>
              <a:rPr b="0" lang="en-US" sz="2000" spc="-1" strike="noStrike">
                <a:latin typeface="Arial"/>
              </a:rPr>
              <a:t>Gazebo</a:t>
            </a:r>
            <a:r>
              <a:rPr b="0" lang="zh-CN" sz="2000" spc="-1" strike="noStrike">
                <a:latin typeface="Arial"/>
              </a:rPr>
              <a:t>视</a:t>
            </a:r>
            <a:r>
              <a:rPr b="0" lang="zh-CN" sz="2000" spc="-1" strike="noStrike">
                <a:latin typeface="Arial"/>
              </a:rPr>
              <a:t>频与独立位移记录展</a:t>
            </a:r>
            <a:r>
              <a:rPr b="0" lang="zh-CN" sz="2000" spc="-1" strike="noStrike">
                <a:latin typeface="Arial"/>
              </a:rPr>
              <a:t>示。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</p:txBody>
      </p:sp>
      <p:sp>
        <p:nvSpPr>
          <p:cNvPr id="299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36622D9-EA57-4846-84DE-DD10AD525607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30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## </a:t>
            </a:r>
            <a:r>
              <a:rPr b="0" lang="zh-CN" sz="2000" spc="-1" strike="noStrike">
                <a:latin typeface="Arial"/>
              </a:rPr>
              <a:t>第</a:t>
            </a:r>
            <a:r>
              <a:rPr b="0" lang="en-US" sz="2000" spc="-1" strike="noStrike">
                <a:latin typeface="Arial"/>
              </a:rPr>
              <a:t>6</a:t>
            </a:r>
            <a:r>
              <a:rPr b="0" lang="zh-CN" sz="2000" spc="-1" strike="noStrike">
                <a:latin typeface="Arial"/>
              </a:rPr>
              <a:t>页 完整轮廓与有界接触安全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**</a:t>
            </a:r>
            <a:r>
              <a:rPr b="0" lang="zh-CN" sz="2000" spc="-1" strike="noStrike">
                <a:latin typeface="Arial"/>
              </a:rPr>
              <a:t>累计时间：</a:t>
            </a:r>
            <a:r>
              <a:rPr b="0" lang="en-US" sz="2000" spc="-1" strike="noStrike">
                <a:latin typeface="Arial"/>
              </a:rPr>
              <a:t>04:05–04:27</a:t>
            </a:r>
            <a:r>
              <a:rPr b="0" lang="zh-CN" sz="2000" spc="-1" strike="noStrike">
                <a:latin typeface="Arial"/>
              </a:rPr>
              <a:t>｜本页</a:t>
            </a:r>
            <a:r>
              <a:rPr b="0" lang="en-US" sz="2000" spc="-1" strike="noStrike">
                <a:latin typeface="Arial"/>
              </a:rPr>
              <a:t>22</a:t>
            </a:r>
            <a:r>
              <a:rPr b="0" lang="zh-CN" sz="2000" spc="-1" strike="noStrike">
                <a:latin typeface="Arial"/>
              </a:rPr>
              <a:t>秒</a:t>
            </a:r>
            <a:r>
              <a:rPr b="0" lang="en-US" sz="2000" spc="-1" strike="noStrike">
                <a:latin typeface="Arial"/>
              </a:rPr>
              <a:t>**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**</a:t>
            </a:r>
            <a:r>
              <a:rPr b="0" lang="zh-CN" sz="2000" spc="-1" strike="noStrike">
                <a:latin typeface="Arial"/>
              </a:rPr>
              <a:t>现场讲述：</a:t>
            </a:r>
            <a:r>
              <a:rPr b="0" lang="en-US" sz="2000" spc="-1" strike="noStrike">
                <a:latin typeface="Arial"/>
              </a:rPr>
              <a:t>**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zh-CN" sz="2000" spc="-1" strike="noStrike">
                <a:latin typeface="Arial"/>
              </a:rPr>
              <a:t>清障需要主动接触，普通导航仍要避障。我们把推板和车轮一起纳入停车范围，同时检查指令速度和</a:t>
            </a:r>
            <a:r>
              <a:rPr b="0" lang="zh-CN" sz="2000" spc="-1" strike="noStrike">
                <a:latin typeface="Arial"/>
              </a:rPr>
              <a:t>实际速度。推障只开放受限的前方接触，侧后方继续保护，脱离阶段也限制时间和距离。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**</a:t>
            </a:r>
            <a:r>
              <a:rPr b="0" lang="zh-CN" sz="2000" spc="-1" strike="noStrike">
                <a:latin typeface="Arial"/>
              </a:rPr>
              <a:t>备注：</a:t>
            </a:r>
            <a:r>
              <a:rPr b="0" lang="en-US" sz="2000" spc="-1" strike="noStrike">
                <a:latin typeface="Arial"/>
              </a:rPr>
              <a:t>**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zh-CN" sz="2000" spc="-1" strike="noStrike">
                <a:latin typeface="Arial"/>
              </a:rPr>
              <a:t>停车扫掠示意依据当前 </a:t>
            </a:r>
            <a:r>
              <a:rPr b="0" lang="en-US" sz="2000" spc="-1" strike="noStrike">
                <a:latin typeface="Arial"/>
              </a:rPr>
              <a:t>motion_safety.py </a:t>
            </a:r>
            <a:r>
              <a:rPr b="0" lang="zh-CN" sz="2000" spc="-1" strike="noStrike">
                <a:latin typeface="Arial"/>
              </a:rPr>
              <a:t>与</a:t>
            </a:r>
            <a:r>
              <a:rPr b="0" lang="en-US" sz="2000" spc="-1" strike="noStrike">
                <a:latin typeface="Arial"/>
              </a:rPr>
              <a:t>footprint</a:t>
            </a:r>
            <a:r>
              <a:rPr b="0" lang="zh-CN" sz="2000" spc="-1" strike="noStrike">
                <a:latin typeface="Arial"/>
              </a:rPr>
              <a:t>参数绘制，是算法原理图，不能称连续实测碰撞</a:t>
            </a:r>
            <a:r>
              <a:rPr b="0" lang="zh-CN" sz="2000" spc="-1" strike="noStrike">
                <a:latin typeface="Arial"/>
              </a:rPr>
              <a:t>轨迹。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zh-CN" sz="2000" spc="-1" strike="noStrike">
                <a:latin typeface="Arial"/>
              </a:rPr>
              <a:t>推障横偏超过</a:t>
            </a:r>
            <a:r>
              <a:rPr b="0" lang="en-US" sz="2000" spc="-1" strike="noStrike">
                <a:latin typeface="Arial"/>
              </a:rPr>
              <a:t>0.04 m</a:t>
            </a:r>
            <a:r>
              <a:rPr b="0" lang="zh-CN" sz="2000" spc="-1" strike="noStrike">
                <a:latin typeface="Arial"/>
              </a:rPr>
              <a:t>或航向偏差超过</a:t>
            </a:r>
            <a:r>
              <a:rPr b="0" lang="en-US" sz="2000" spc="-1" strike="noStrike">
                <a:latin typeface="Arial"/>
              </a:rPr>
              <a:t>0.12 rad</a:t>
            </a:r>
            <a:r>
              <a:rPr b="0" lang="zh-CN" sz="2000" spc="-1" strike="noStrike">
                <a:latin typeface="Arial"/>
              </a:rPr>
              <a:t>中止；脱离区域固定在原箱体区域，最多</a:t>
            </a:r>
            <a:r>
              <a:rPr b="0" lang="en-US" sz="2000" spc="-1" strike="noStrike">
                <a:latin typeface="Arial"/>
              </a:rPr>
              <a:t>12</a:t>
            </a:r>
            <a:r>
              <a:rPr b="0" lang="zh-CN" sz="2000" spc="-1" strike="noStrike">
                <a:latin typeface="Arial"/>
              </a:rPr>
              <a:t>秒、总平</a:t>
            </a:r>
            <a:r>
              <a:rPr b="0" lang="zh-CN" sz="2000" spc="-1" strike="noStrike">
                <a:latin typeface="Arial"/>
              </a:rPr>
              <a:t>移不超过</a:t>
            </a:r>
            <a:r>
              <a:rPr b="0" lang="en-US" sz="2000" spc="-1" strike="noStrike">
                <a:latin typeface="Arial"/>
              </a:rPr>
              <a:t>0.06 m</a:t>
            </a:r>
            <a:r>
              <a:rPr b="0" lang="zh-CN" sz="2000" spc="-1" strike="noStrike">
                <a:latin typeface="Arial"/>
              </a:rPr>
              <a:t>。传感器、指令或必要</a:t>
            </a:r>
            <a:r>
              <a:rPr b="0" lang="en-US" sz="2000" spc="-1" strike="noStrike">
                <a:latin typeface="Arial"/>
              </a:rPr>
              <a:t>TF</a:t>
            </a:r>
            <a:r>
              <a:rPr b="0" lang="zh-CN" sz="2000" spc="-1" strike="noStrike">
                <a:latin typeface="Arial"/>
              </a:rPr>
              <a:t>失效停车。完整轮廓检查和离散采样不构成绝对无碰撞</a:t>
            </a:r>
            <a:r>
              <a:rPr b="0" lang="zh-CN" sz="2000" spc="-1" strike="noStrike">
                <a:latin typeface="Arial"/>
              </a:rPr>
              <a:t>保证。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</p:txBody>
      </p:sp>
      <p:sp>
        <p:nvSpPr>
          <p:cNvPr id="302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8E654C8-6E8C-4376-A4BD-511AB4102D87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30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## </a:t>
            </a:r>
            <a:r>
              <a:rPr b="0" lang="zh-CN" sz="2000" spc="-1" strike="noStrike">
                <a:latin typeface="Arial"/>
              </a:rPr>
              <a:t>第</a:t>
            </a:r>
            <a:r>
              <a:rPr b="0" lang="en-US" sz="2000" spc="-1" strike="noStrike">
                <a:latin typeface="Arial"/>
              </a:rPr>
              <a:t>7</a:t>
            </a:r>
            <a:r>
              <a:rPr b="0" lang="zh-CN" sz="2000" spc="-1" strike="noStrike">
                <a:latin typeface="Arial"/>
              </a:rPr>
              <a:t>页 同一停车点的云台扫描与多帧确认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**</a:t>
            </a:r>
            <a:r>
              <a:rPr b="0" lang="zh-CN" sz="2000" spc="-1" strike="noStrike">
                <a:latin typeface="Arial"/>
              </a:rPr>
              <a:t>累计时间：</a:t>
            </a:r>
            <a:r>
              <a:rPr b="0" lang="en-US" sz="2000" spc="-1" strike="noStrike">
                <a:latin typeface="Arial"/>
              </a:rPr>
              <a:t>04:27–04:49</a:t>
            </a:r>
            <a:r>
              <a:rPr b="0" lang="zh-CN" sz="2000" spc="-1" strike="noStrike">
                <a:latin typeface="Arial"/>
              </a:rPr>
              <a:t>｜本页</a:t>
            </a:r>
            <a:r>
              <a:rPr b="0" lang="en-US" sz="2000" spc="-1" strike="noStrike">
                <a:latin typeface="Arial"/>
              </a:rPr>
              <a:t>22</a:t>
            </a:r>
            <a:r>
              <a:rPr b="0" lang="zh-CN" sz="2000" spc="-1" strike="noStrike">
                <a:latin typeface="Arial"/>
              </a:rPr>
              <a:t>秒</a:t>
            </a:r>
            <a:r>
              <a:rPr b="0" lang="en-US" sz="2000" spc="-1" strike="noStrike">
                <a:latin typeface="Arial"/>
              </a:rPr>
              <a:t>**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**</a:t>
            </a:r>
            <a:r>
              <a:rPr b="0" lang="zh-CN" sz="2000" spc="-1" strike="noStrike">
                <a:latin typeface="Arial"/>
              </a:rPr>
              <a:t>现场讲述：</a:t>
            </a:r>
            <a:r>
              <a:rPr b="0" lang="en-US" sz="2000" spc="-1" strike="noStrike">
                <a:latin typeface="Arial"/>
              </a:rPr>
              <a:t>**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zh-CN" sz="2000" spc="-1" strike="noStrike">
                <a:latin typeface="Arial"/>
              </a:rPr>
              <a:t>这两张图来自同一停车点的不同扫描时刻，云台把侧墙目标带入视野。任务先确认底盘停稳，再扫描观察。同一目标连续三个关联处理帧确认后发布事件，任务据此继续，减少单帧误报的影响。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**</a:t>
            </a:r>
            <a:r>
              <a:rPr b="0" lang="zh-CN" sz="2000" spc="-1" strike="noStrike">
                <a:latin typeface="Arial"/>
              </a:rPr>
              <a:t>备注：</a:t>
            </a:r>
            <a:r>
              <a:rPr b="0" lang="en-US" sz="2000" spc="-1" strike="noStrike">
                <a:latin typeface="Arial"/>
              </a:rPr>
              <a:t>**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zh-CN" sz="2000" spc="-1" strike="noStrike">
                <a:latin typeface="Arial"/>
              </a:rPr>
              <a:t>扫描</a:t>
            </a:r>
            <a:r>
              <a:rPr b="0" lang="en-US" sz="2000" spc="-1" strike="noStrike">
                <a:latin typeface="Arial"/>
              </a:rPr>
              <a:t>A/B</a:t>
            </a:r>
            <a:r>
              <a:rPr b="0" lang="zh-CN" sz="2000" spc="-1" strike="noStrike">
                <a:latin typeface="Arial"/>
              </a:rPr>
              <a:t>采用创新点</a:t>
            </a:r>
            <a:r>
              <a:rPr b="0" lang="en-US" sz="2000" spc="-1" strike="noStrike">
                <a:latin typeface="Arial"/>
              </a:rPr>
              <a:t>PPT</a:t>
            </a:r>
            <a:r>
              <a:rPr b="0" lang="zh-CN" sz="2000" spc="-1" strike="noStrike">
                <a:latin typeface="Arial"/>
              </a:rPr>
              <a:t>中的原始历史素材：</a:t>
            </a:r>
            <a:r>
              <a:rPr b="0" lang="en-US" sz="2000" spc="-1" strike="noStrike">
                <a:latin typeface="Arial"/>
              </a:rPr>
              <a:t>speed_mixed_020_20261012_run2</a:t>
            </a:r>
            <a:r>
              <a:rPr b="0" lang="zh-CN" sz="2000" spc="-1" strike="noStrike">
                <a:latin typeface="Arial"/>
              </a:rPr>
              <a:t>，</a:t>
            </a:r>
            <a:r>
              <a:rPr b="0" lang="en-US" sz="2000" spc="-1" strike="noStrike">
                <a:latin typeface="Arial"/>
              </a:rPr>
              <a:t>image_0380</a:t>
            </a:r>
            <a:r>
              <a:rPr b="0" lang="zh-CN" sz="2000" spc="-1" strike="noStrike">
                <a:latin typeface="Arial"/>
              </a:rPr>
              <a:t>、</a:t>
            </a:r>
            <a:r>
              <a:rPr b="0" lang="en-US" sz="2000" spc="-1" strike="noStrike">
                <a:latin typeface="Arial"/>
              </a:rPr>
              <a:t>image_0395</a:t>
            </a:r>
            <a:r>
              <a:rPr b="0" lang="zh-CN" sz="2000" spc="-1" strike="noStrike">
                <a:latin typeface="Arial"/>
              </a:rPr>
              <a:t>。它们解释扫描机制，不用于本次录屏误差量化。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zh-CN" sz="2000" spc="-1" strike="noStrike">
                <a:latin typeface="Arial"/>
              </a:rPr>
              <a:t>云台扫描范围</a:t>
            </a:r>
            <a:r>
              <a:rPr b="0" lang="en-US" sz="2000" spc="-1" strike="noStrike">
                <a:latin typeface="Arial"/>
              </a:rPr>
              <a:t>±1.90 rad</a:t>
            </a:r>
            <a:r>
              <a:rPr b="0" lang="zh-CN" sz="2000" spc="-1" strike="noStrike">
                <a:latin typeface="Arial"/>
              </a:rPr>
              <a:t>、周期</a:t>
            </a:r>
            <a:r>
              <a:rPr b="0" lang="en-US" sz="2000" spc="-1" strike="noStrike">
                <a:latin typeface="Arial"/>
              </a:rPr>
              <a:t>12</a:t>
            </a:r>
            <a:r>
              <a:rPr b="0" lang="zh-CN" sz="2000" spc="-1" strike="noStrike">
                <a:latin typeface="Arial"/>
              </a:rPr>
              <a:t>秒。连续三帧是处理帧及空间关联条件，不等于相机连续三张原始采集帧。观察确认与当前帧是否显示框分别处理。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</p:txBody>
      </p:sp>
      <p:sp>
        <p:nvSpPr>
          <p:cNvPr id="305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AD3284C8-7E80-42DE-B905-4CE04CE952FC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30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## </a:t>
            </a:r>
            <a:r>
              <a:rPr b="0" lang="zh-CN" sz="2000" spc="-1" strike="noStrike">
                <a:latin typeface="Arial"/>
              </a:rPr>
              <a:t>第</a:t>
            </a:r>
            <a:r>
              <a:rPr b="0" lang="en-US" sz="2000" spc="-1" strike="noStrike">
                <a:latin typeface="Arial"/>
              </a:rPr>
              <a:t>8</a:t>
            </a:r>
            <a:r>
              <a:rPr b="0" lang="zh-CN" sz="2000" spc="-1" strike="noStrike">
                <a:latin typeface="Arial"/>
              </a:rPr>
              <a:t>页 走廊识别：火灾、化学、辐射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**</a:t>
            </a:r>
            <a:r>
              <a:rPr b="0" lang="zh-CN" sz="2000" spc="-1" strike="noStrike">
                <a:latin typeface="Arial"/>
              </a:rPr>
              <a:t>累计时间：</a:t>
            </a:r>
            <a:r>
              <a:rPr b="0" lang="en-US" sz="2000" spc="-1" strike="noStrike">
                <a:latin typeface="Arial"/>
              </a:rPr>
              <a:t>04:49–05:04</a:t>
            </a:r>
            <a:r>
              <a:rPr b="0" lang="zh-CN" sz="2000" spc="-1" strike="noStrike">
                <a:latin typeface="Arial"/>
              </a:rPr>
              <a:t>｜本页</a:t>
            </a:r>
            <a:r>
              <a:rPr b="0" lang="en-US" sz="2000" spc="-1" strike="noStrike">
                <a:latin typeface="Arial"/>
              </a:rPr>
              <a:t>15</a:t>
            </a:r>
            <a:r>
              <a:rPr b="0" lang="zh-CN" sz="2000" spc="-1" strike="noStrike">
                <a:latin typeface="Arial"/>
              </a:rPr>
              <a:t>秒</a:t>
            </a:r>
            <a:r>
              <a:rPr b="0" lang="en-US" sz="2000" spc="-1" strike="noStrike">
                <a:latin typeface="Arial"/>
              </a:rPr>
              <a:t>**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**</a:t>
            </a:r>
            <a:r>
              <a:rPr b="0" lang="zh-CN" sz="2000" spc="-1" strike="noStrike">
                <a:latin typeface="Arial"/>
              </a:rPr>
              <a:t>现场讲述：</a:t>
            </a:r>
            <a:r>
              <a:rPr b="0" lang="en-US" sz="2000" spc="-1" strike="noStrike">
                <a:latin typeface="Arial"/>
              </a:rPr>
              <a:t>**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zh-CN" sz="2000" spc="-1" strike="noStrike">
                <a:latin typeface="Arial"/>
              </a:rPr>
              <a:t>这里放大展示火灾、化学和辐射三类实际识别。图案由我们自行设计，分类框显示当前判断；任务是否确认，还要结合连续帧结果和终端事件。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**</a:t>
            </a:r>
            <a:r>
              <a:rPr b="0" lang="zh-CN" sz="2000" spc="-1" strike="noStrike">
                <a:latin typeface="Arial"/>
              </a:rPr>
              <a:t>备注：</a:t>
            </a:r>
            <a:r>
              <a:rPr b="0" lang="en-US" sz="2000" spc="-1" strike="noStrike">
                <a:latin typeface="Arial"/>
              </a:rPr>
              <a:t>**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zh-CN" sz="2000" spc="-1" strike="noStrike">
                <a:latin typeface="Arial"/>
              </a:rPr>
              <a:t>实际相机图优先采用 </a:t>
            </a:r>
            <a:r>
              <a:rPr b="0" lang="en-US" sz="2000" spc="-1" strike="noStrike">
                <a:latin typeface="Arial"/>
              </a:rPr>
              <a:t>recording_submission_20261013_gimbal_run2 </a:t>
            </a:r>
            <a:r>
              <a:rPr b="0" lang="zh-CN" sz="2000" spc="-1" strike="noStrike">
                <a:latin typeface="Arial"/>
              </a:rPr>
              <a:t>对应帧。图片保留分类文字与目标本体，避免只放大边框。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zh-CN" sz="2000" spc="-1" strike="noStrike">
                <a:latin typeface="Arial"/>
              </a:rPr>
              <a:t>五类分别为</a:t>
            </a:r>
            <a:r>
              <a:rPr b="0" lang="en-US" sz="2000" spc="-1" strike="noStrike">
                <a:latin typeface="Arial"/>
              </a:rPr>
              <a:t>FIRE</a:t>
            </a:r>
            <a:r>
              <a:rPr b="0" lang="zh-CN" sz="2000" spc="-1" strike="noStrike">
                <a:latin typeface="Arial"/>
              </a:rPr>
              <a:t>、</a:t>
            </a:r>
            <a:r>
              <a:rPr b="0" lang="en-US" sz="2000" spc="-1" strike="noStrike">
                <a:latin typeface="Arial"/>
              </a:rPr>
              <a:t>CHEMICAL</a:t>
            </a:r>
            <a:r>
              <a:rPr b="0" lang="zh-CN" sz="2000" spc="-1" strike="noStrike">
                <a:latin typeface="Arial"/>
              </a:rPr>
              <a:t>、</a:t>
            </a:r>
            <a:r>
              <a:rPr b="0" lang="en-US" sz="2000" spc="-1" strike="noStrike">
                <a:latin typeface="Arial"/>
              </a:rPr>
              <a:t>RADIATION</a:t>
            </a:r>
            <a:r>
              <a:rPr b="0" lang="zh-CN" sz="2000" spc="-1" strike="noStrike">
                <a:latin typeface="Arial"/>
              </a:rPr>
              <a:t>、</a:t>
            </a:r>
            <a:r>
              <a:rPr b="0" lang="en-US" sz="2000" spc="-1" strike="noStrike">
                <a:latin typeface="Arial"/>
              </a:rPr>
              <a:t>ELECTRICAL</a:t>
            </a:r>
            <a:r>
              <a:rPr b="0" lang="zh-CN" sz="2000" spc="-1" strike="noStrike">
                <a:latin typeface="Arial"/>
              </a:rPr>
              <a:t>、</a:t>
            </a:r>
            <a:r>
              <a:rPr b="0" lang="en-US" sz="2000" spc="-1" strike="noStrike">
                <a:latin typeface="Arial"/>
              </a:rPr>
              <a:t>BIOHAZARD</a:t>
            </a:r>
            <a:r>
              <a:rPr b="0" lang="zh-CN" sz="2000" spc="-1" strike="noStrike">
                <a:latin typeface="Arial"/>
              </a:rPr>
              <a:t>。单帧显示框不代表完成该类任务；不要把一次完整任务集齐五类说成逐帧</a:t>
            </a:r>
            <a:r>
              <a:rPr b="0" lang="en-US" sz="2000" spc="-1" strike="noStrike">
                <a:latin typeface="Arial"/>
              </a:rPr>
              <a:t>100%</a:t>
            </a:r>
            <a:r>
              <a:rPr b="0" lang="zh-CN" sz="2000" spc="-1" strike="noStrike">
                <a:latin typeface="Arial"/>
              </a:rPr>
              <a:t>准确。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</p:txBody>
      </p:sp>
      <p:sp>
        <p:nvSpPr>
          <p:cNvPr id="308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31EB467-3A26-4009-96D2-AF79F374FF3D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31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## </a:t>
            </a:r>
            <a:r>
              <a:rPr b="0" lang="zh-CN" sz="2000" spc="-1" strike="noStrike">
                <a:latin typeface="Arial"/>
              </a:rPr>
              <a:t>第</a:t>
            </a:r>
            <a:r>
              <a:rPr b="0" lang="en-US" sz="2000" spc="-1" strike="noStrike">
                <a:latin typeface="Arial"/>
              </a:rPr>
              <a:t>9</a:t>
            </a:r>
            <a:r>
              <a:rPr b="0" lang="zh-CN" sz="2000" spc="-1" strike="noStrike">
                <a:latin typeface="Arial"/>
              </a:rPr>
              <a:t>页 走廊识别：电气、生物与终端证据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**</a:t>
            </a:r>
            <a:r>
              <a:rPr b="0" lang="zh-CN" sz="2000" spc="-1" strike="noStrike">
                <a:latin typeface="Arial"/>
              </a:rPr>
              <a:t>累计时间：</a:t>
            </a:r>
            <a:r>
              <a:rPr b="0" lang="en-US" sz="2000" spc="-1" strike="noStrike">
                <a:latin typeface="Arial"/>
              </a:rPr>
              <a:t>05:04–05:19</a:t>
            </a:r>
            <a:r>
              <a:rPr b="0" lang="zh-CN" sz="2000" spc="-1" strike="noStrike">
                <a:latin typeface="Arial"/>
              </a:rPr>
              <a:t>｜本页</a:t>
            </a:r>
            <a:r>
              <a:rPr b="0" lang="en-US" sz="2000" spc="-1" strike="noStrike">
                <a:latin typeface="Arial"/>
              </a:rPr>
              <a:t>15</a:t>
            </a:r>
            <a:r>
              <a:rPr b="0" lang="zh-CN" sz="2000" spc="-1" strike="noStrike">
                <a:latin typeface="Arial"/>
              </a:rPr>
              <a:t>秒</a:t>
            </a:r>
            <a:r>
              <a:rPr b="0" lang="en-US" sz="2000" spc="-1" strike="noStrike">
                <a:latin typeface="Arial"/>
              </a:rPr>
              <a:t>**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**</a:t>
            </a:r>
            <a:r>
              <a:rPr b="0" lang="zh-CN" sz="2000" spc="-1" strike="noStrike">
                <a:latin typeface="Arial"/>
              </a:rPr>
              <a:t>现场讲述：</a:t>
            </a:r>
            <a:r>
              <a:rPr b="0" lang="en-US" sz="2000" spc="-1" strike="noStrike">
                <a:latin typeface="Arial"/>
              </a:rPr>
              <a:t>**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zh-CN" sz="2000" spc="-1" strike="noStrike">
                <a:latin typeface="Arial"/>
              </a:rPr>
              <a:t>另外两类是电气与生物危害。旁边的终端打印把类别和确认事件对应起来。五类均在进入核心区之前确认，这也是比赛要求明确展示的证据。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**</a:t>
            </a:r>
            <a:r>
              <a:rPr b="0" lang="zh-CN" sz="2000" spc="-1" strike="noStrike">
                <a:latin typeface="Arial"/>
              </a:rPr>
              <a:t>备注：</a:t>
            </a:r>
            <a:r>
              <a:rPr b="0" lang="en-US" sz="2000" spc="-1" strike="noStrike">
                <a:latin typeface="Arial"/>
              </a:rPr>
              <a:t>**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zh-CN" sz="2000" spc="-1" strike="noStrike">
                <a:latin typeface="Arial"/>
              </a:rPr>
              <a:t>规则走廊识别</a:t>
            </a:r>
            <a:r>
              <a:rPr b="0" lang="en-US" sz="2000" spc="-1" strike="noStrike">
                <a:latin typeface="Arial"/>
              </a:rPr>
              <a:t>20</a:t>
            </a:r>
            <a:r>
              <a:rPr b="0" lang="zh-CN" sz="2000" spc="-1" strike="noStrike">
                <a:latin typeface="Arial"/>
              </a:rPr>
              <a:t>分，其中分类每个</a:t>
            </a:r>
            <a:r>
              <a:rPr b="0" lang="en-US" sz="2000" spc="-1" strike="noStrike">
                <a:latin typeface="Arial"/>
              </a:rPr>
              <a:t>3</a:t>
            </a:r>
            <a:r>
              <a:rPr b="0" lang="zh-CN" sz="2000" spc="-1" strike="noStrike">
                <a:latin typeface="Arial"/>
              </a:rPr>
              <a:t>分共</a:t>
            </a:r>
            <a:r>
              <a:rPr b="0" lang="en-US" sz="2000" spc="-1" strike="noStrike">
                <a:latin typeface="Arial"/>
              </a:rPr>
              <a:t>15</a:t>
            </a:r>
            <a:r>
              <a:rPr b="0" lang="zh-CN" sz="2000" spc="-1" strike="noStrike">
                <a:latin typeface="Arial"/>
              </a:rPr>
              <a:t>分，终端打印</a:t>
            </a:r>
            <a:r>
              <a:rPr b="0" lang="en-US" sz="2000" spc="-1" strike="noStrike">
                <a:latin typeface="Arial"/>
              </a:rPr>
              <a:t>5</a:t>
            </a:r>
            <a:r>
              <a:rPr b="0" lang="zh-CN" sz="2000" spc="-1" strike="noStrike">
                <a:latin typeface="Arial"/>
              </a:rPr>
              <a:t>分；原文同时规定“未展示终端打印结果，不得分”。因此现场必须让终端证据可读，不能只口述五类识别成功。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zh-CN" sz="2000" spc="-1" strike="noStrike">
                <a:latin typeface="Arial"/>
              </a:rPr>
              <a:t>终端证据与本页相机图优先采用本次录屏资料。历史类别统计与新发生的确认事件应区分。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zh-CN" sz="2000" spc="-1" strike="noStrike">
                <a:latin typeface="Arial"/>
              </a:rPr>
              <a:t>终端配图取自同一录屏帧，原始日志文字逐行裁剪后换行排布，未重新绘制或改写分类结果。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</p:txBody>
      </p:sp>
      <p:sp>
        <p:nvSpPr>
          <p:cNvPr id="311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4BBF3F3-B318-4770-ABE0-B83D48F6F4CB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31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## </a:t>
            </a:r>
            <a:r>
              <a:rPr b="0" lang="zh-CN" sz="2000" spc="-1" strike="noStrike">
                <a:latin typeface="Arial"/>
              </a:rPr>
              <a:t>第</a:t>
            </a:r>
            <a:r>
              <a:rPr b="0" lang="en-US" sz="2000" spc="-1" strike="noStrike">
                <a:latin typeface="Arial"/>
              </a:rPr>
              <a:t>10</a:t>
            </a:r>
            <a:r>
              <a:rPr b="0" lang="zh-CN" sz="2000" spc="-1" strike="noStrike">
                <a:latin typeface="Arial"/>
              </a:rPr>
              <a:t>页 同帧局部放大重检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**</a:t>
            </a:r>
            <a:r>
              <a:rPr b="0" lang="zh-CN" sz="2000" spc="-1" strike="noStrike">
                <a:latin typeface="Arial"/>
              </a:rPr>
              <a:t>累计时间：</a:t>
            </a:r>
            <a:r>
              <a:rPr b="0" lang="en-US" sz="2000" spc="-1" strike="noStrike">
                <a:latin typeface="Arial"/>
              </a:rPr>
              <a:t>05:19–05:41</a:t>
            </a:r>
            <a:r>
              <a:rPr b="0" lang="zh-CN" sz="2000" spc="-1" strike="noStrike">
                <a:latin typeface="Arial"/>
              </a:rPr>
              <a:t>｜本页</a:t>
            </a:r>
            <a:r>
              <a:rPr b="0" lang="en-US" sz="2000" spc="-1" strike="noStrike">
                <a:latin typeface="Arial"/>
              </a:rPr>
              <a:t>22</a:t>
            </a:r>
            <a:r>
              <a:rPr b="0" lang="zh-CN" sz="2000" spc="-1" strike="noStrike">
                <a:latin typeface="Arial"/>
              </a:rPr>
              <a:t>秒</a:t>
            </a:r>
            <a:r>
              <a:rPr b="0" lang="en-US" sz="2000" spc="-1" strike="noStrike">
                <a:latin typeface="Arial"/>
              </a:rPr>
              <a:t>**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**</a:t>
            </a:r>
            <a:r>
              <a:rPr b="0" lang="zh-CN" sz="2000" spc="-1" strike="noStrike">
                <a:latin typeface="Arial"/>
              </a:rPr>
              <a:t>现场讲述：</a:t>
            </a:r>
            <a:r>
              <a:rPr b="0" lang="en-US" sz="2000" spc="-1" strike="noStrike">
                <a:latin typeface="Arial"/>
              </a:rPr>
              <a:t>**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zh-CN" sz="2000" spc="-1" strike="noStrike">
                <a:latin typeface="Arial"/>
              </a:rPr>
              <a:t>远处或斜视的小图案容易漏检。我们在</a:t>
            </a:r>
            <a:r>
              <a:rPr b="0" lang="en-US" sz="2000" spc="-1" strike="noStrike">
                <a:latin typeface="Arial"/>
              </a:rPr>
              <a:t>YOLO</a:t>
            </a:r>
            <a:r>
              <a:rPr b="0" lang="zh-CN" sz="2000" spc="-1" strike="noStrike">
                <a:latin typeface="Arial"/>
              </a:rPr>
              <a:t>候选之后核验图案和牌边，必要时对已核验区域裁剪放大，再做分类确认。这里是同一输入帧的回放对照，用来说明重检机制，随后仍要经过时序确认。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**</a:t>
            </a:r>
            <a:r>
              <a:rPr b="0" lang="zh-CN" sz="2000" spc="-1" strike="noStrike">
                <a:latin typeface="Arial"/>
              </a:rPr>
              <a:t>备注：</a:t>
            </a:r>
            <a:r>
              <a:rPr b="0" lang="en-US" sz="2000" spc="-1" strike="noStrike">
                <a:latin typeface="Arial"/>
              </a:rPr>
              <a:t>**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zh-CN" sz="2000" spc="-1" strike="noStrike">
                <a:latin typeface="Arial"/>
              </a:rPr>
              <a:t>本页采用创新点</a:t>
            </a:r>
            <a:r>
              <a:rPr b="0" lang="en-US" sz="2000" spc="-1" strike="noStrike">
                <a:latin typeface="Arial"/>
              </a:rPr>
              <a:t>PPT</a:t>
            </a:r>
            <a:r>
              <a:rPr b="0" lang="zh-CN" sz="2000" spc="-1" strike="noStrike">
                <a:latin typeface="Arial"/>
              </a:rPr>
              <a:t>的历史同帧回放素材：</a:t>
            </a:r>
            <a:r>
              <a:rPr b="0" lang="en-US" sz="2000" spc="-1" strike="noStrike">
                <a:latin typeface="Arial"/>
              </a:rPr>
              <a:t>v19 / image_0462</a:t>
            </a:r>
            <a:r>
              <a:rPr b="0" lang="zh-CN" sz="2000" spc="-1" strike="noStrike">
                <a:latin typeface="Arial"/>
              </a:rPr>
              <a:t>；记录见 </a:t>
            </a:r>
            <a:r>
              <a:rPr b="0" lang="en-US" sz="2000" spc="-1" strike="noStrike">
                <a:latin typeface="Arial"/>
              </a:rPr>
              <a:t>vision_recovery_replay.json</a:t>
            </a:r>
            <a:r>
              <a:rPr b="0" lang="zh-CN" sz="2000" spc="-1" strike="noStrike">
                <a:latin typeface="Arial"/>
              </a:rPr>
              <a:t>。明确标注“同帧算法回放”，不称本次录屏原始实时左右对照。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zh-CN" sz="2000" spc="-1" strike="noStrike">
                <a:latin typeface="Arial"/>
              </a:rPr>
              <a:t>训练加入红箱、蓝色起点、黄色车身等同色负例与小目标、透视、模糊增强。必要时局部放大重检不能保证所有漏检被恢复。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zh-CN" sz="2000" spc="-1" strike="noStrike">
                <a:latin typeface="Arial"/>
              </a:rPr>
              <a:t>合成验证</a:t>
            </a:r>
            <a:r>
              <a:rPr b="0" lang="en-US" sz="2000" spc="-1" strike="noStrike">
                <a:latin typeface="Arial"/>
              </a:rPr>
              <a:t>P=85.62%</a:t>
            </a:r>
            <a:r>
              <a:rPr b="0" lang="zh-CN" sz="2000" spc="-1" strike="noStrike">
                <a:latin typeface="Arial"/>
              </a:rPr>
              <a:t>、</a:t>
            </a:r>
            <a:r>
              <a:rPr b="0" lang="en-US" sz="2000" spc="-1" strike="noStrike">
                <a:latin typeface="Arial"/>
              </a:rPr>
              <a:t>R=70.81%</a:t>
            </a:r>
            <a:r>
              <a:rPr b="0" lang="zh-CN" sz="2000" spc="-1" strike="noStrike">
                <a:latin typeface="Arial"/>
              </a:rPr>
              <a:t>；指标边界和样本见第</a:t>
            </a:r>
            <a:r>
              <a:rPr b="0" lang="en-US" sz="2000" spc="-1" strike="noStrike">
                <a:latin typeface="Arial"/>
              </a:rPr>
              <a:t>22</a:t>
            </a:r>
            <a:r>
              <a:rPr b="0" lang="zh-CN" sz="2000" spc="-1" strike="noStrike">
                <a:latin typeface="Arial"/>
              </a:rPr>
              <a:t>页，不在本页逐项朗读。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</p:txBody>
      </p:sp>
      <p:sp>
        <p:nvSpPr>
          <p:cNvPr id="314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EB850E1-8C12-4E5F-A725-7A5C383C5445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31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## </a:t>
            </a:r>
            <a:r>
              <a:rPr b="0" lang="zh-CN" sz="2000" spc="-1" strike="noStrike">
                <a:latin typeface="Arial"/>
              </a:rPr>
              <a:t>第</a:t>
            </a:r>
            <a:r>
              <a:rPr b="0" lang="en-US" sz="2000" spc="-1" strike="noStrike">
                <a:latin typeface="Arial"/>
              </a:rPr>
              <a:t>11</a:t>
            </a:r>
            <a:r>
              <a:rPr b="0" lang="zh-CN" sz="2000" spc="-1" strike="noStrike">
                <a:latin typeface="Arial"/>
              </a:rPr>
              <a:t>页 核心标识：</a:t>
            </a:r>
            <a:r>
              <a:rPr b="0" lang="en-US" sz="2000" spc="-1" strike="noStrike">
                <a:latin typeface="Arial"/>
              </a:rPr>
              <a:t>T0</a:t>
            </a:r>
            <a:r>
              <a:rPr b="0" lang="zh-CN" sz="2000" spc="-1" strike="noStrike">
                <a:latin typeface="Arial"/>
              </a:rPr>
              <a:t>坍塌与</a:t>
            </a:r>
            <a:r>
              <a:rPr b="0" lang="en-US" sz="2000" spc="-1" strike="noStrike">
                <a:latin typeface="Arial"/>
              </a:rPr>
              <a:t>T1</a:t>
            </a:r>
            <a:r>
              <a:rPr b="0" lang="zh-CN" sz="2000" spc="-1" strike="noStrike">
                <a:latin typeface="Arial"/>
              </a:rPr>
              <a:t>有毒泄漏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**</a:t>
            </a:r>
            <a:r>
              <a:rPr b="0" lang="zh-CN" sz="2000" spc="-1" strike="noStrike">
                <a:latin typeface="Arial"/>
              </a:rPr>
              <a:t>累计时间：</a:t>
            </a:r>
            <a:r>
              <a:rPr b="0" lang="en-US" sz="2000" spc="-1" strike="noStrike">
                <a:latin typeface="Arial"/>
              </a:rPr>
              <a:t>05:41–05:50</a:t>
            </a:r>
            <a:r>
              <a:rPr b="0" lang="zh-CN" sz="2000" spc="-1" strike="noStrike">
                <a:latin typeface="Arial"/>
              </a:rPr>
              <a:t>｜本页</a:t>
            </a:r>
            <a:r>
              <a:rPr b="0" lang="en-US" sz="2000" spc="-1" strike="noStrike">
                <a:latin typeface="Arial"/>
              </a:rPr>
              <a:t>9</a:t>
            </a:r>
            <a:r>
              <a:rPr b="0" lang="zh-CN" sz="2000" spc="-1" strike="noStrike">
                <a:latin typeface="Arial"/>
              </a:rPr>
              <a:t>秒</a:t>
            </a:r>
            <a:r>
              <a:rPr b="0" lang="en-US" sz="2000" spc="-1" strike="noStrike">
                <a:latin typeface="Arial"/>
              </a:rPr>
              <a:t>**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**</a:t>
            </a:r>
            <a:r>
              <a:rPr b="0" lang="zh-CN" sz="2000" spc="-1" strike="noStrike">
                <a:latin typeface="Arial"/>
              </a:rPr>
              <a:t>现场讲述：</a:t>
            </a:r>
            <a:r>
              <a:rPr b="0" lang="en-US" sz="2000" spc="-1" strike="noStrike">
                <a:latin typeface="Arial"/>
              </a:rPr>
              <a:t>**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zh-CN" sz="2000" spc="-1" strike="noStrike">
                <a:latin typeface="Arial"/>
              </a:rPr>
              <a:t>首先是坍塌和有毒泄漏，两块图案不同，嵌入的标签分别对应零号和一号。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**</a:t>
            </a:r>
            <a:r>
              <a:rPr b="0" lang="zh-CN" sz="2000" spc="-1" strike="noStrike">
                <a:latin typeface="Arial"/>
              </a:rPr>
              <a:t>备注：</a:t>
            </a:r>
            <a:r>
              <a:rPr b="0" lang="en-US" sz="2000" spc="-1" strike="noStrike">
                <a:latin typeface="Arial"/>
              </a:rPr>
              <a:t>**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ID 0</a:t>
            </a:r>
            <a:r>
              <a:rPr b="0" lang="zh-CN" sz="2000" spc="-1" strike="noStrike">
                <a:latin typeface="Arial"/>
              </a:rPr>
              <a:t>：</a:t>
            </a:r>
            <a:r>
              <a:rPr b="0" lang="en-US" sz="2000" spc="-1" strike="noStrike">
                <a:latin typeface="Arial"/>
              </a:rPr>
              <a:t>COLLAPSE</a:t>
            </a:r>
            <a:r>
              <a:rPr b="0" lang="zh-CN" sz="2000" spc="-1" strike="noStrike">
                <a:latin typeface="Arial"/>
              </a:rPr>
              <a:t>（坍塌）；</a:t>
            </a:r>
            <a:r>
              <a:rPr b="0" lang="en-US" sz="2000" spc="-1" strike="noStrike">
                <a:latin typeface="Arial"/>
              </a:rPr>
              <a:t>ID 1</a:t>
            </a:r>
            <a:r>
              <a:rPr b="0" lang="zh-CN" sz="2000" spc="-1" strike="noStrike">
                <a:latin typeface="Arial"/>
              </a:rPr>
              <a:t>：</a:t>
            </a:r>
            <a:r>
              <a:rPr b="0" lang="en-US" sz="2000" spc="-1" strike="noStrike">
                <a:latin typeface="Arial"/>
              </a:rPr>
              <a:t>TOXIC_LEAK</a:t>
            </a:r>
            <a:r>
              <a:rPr b="0" lang="zh-CN" sz="2000" spc="-1" strike="noStrike">
                <a:latin typeface="Arial"/>
              </a:rPr>
              <a:t>（有毒泄漏）。本页只保留两幅大图，让图案、</a:t>
            </a:r>
            <a:r>
              <a:rPr b="0" lang="en-US" sz="2000" spc="-1" strike="noStrike">
                <a:latin typeface="Arial"/>
              </a:rPr>
              <a:t>AprilTag</a:t>
            </a:r>
            <a:r>
              <a:rPr b="0" lang="zh-CN" sz="2000" spc="-1" strike="noStrike">
                <a:latin typeface="Arial"/>
              </a:rPr>
              <a:t>和原坐标文字清晰可见。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zh-CN" sz="2000" spc="-1" strike="noStrike">
                <a:latin typeface="Arial"/>
              </a:rPr>
              <a:t>四块核心标识均采用不同图案并嵌入</a:t>
            </a:r>
            <a:r>
              <a:rPr b="0" lang="en-US" sz="2000" spc="-1" strike="noStrike">
                <a:latin typeface="Arial"/>
              </a:rPr>
              <a:t>AprilTag</a:t>
            </a:r>
            <a:r>
              <a:rPr b="0" lang="zh-CN" sz="2000" spc="-1" strike="noStrike">
                <a:latin typeface="Arial"/>
              </a:rPr>
              <a:t>，类别通过</a:t>
            </a:r>
            <a:r>
              <a:rPr b="0" lang="en-US" sz="2000" spc="-1" strike="noStrike">
                <a:latin typeface="Arial"/>
              </a:rPr>
              <a:t>ID</a:t>
            </a:r>
            <a:r>
              <a:rPr b="0" lang="zh-CN" sz="2000" spc="-1" strike="noStrike">
                <a:latin typeface="Arial"/>
              </a:rPr>
              <a:t>与语义配置表关联，不宣称核心灾情图案由</a:t>
            </a:r>
            <a:r>
              <a:rPr b="0" lang="en-US" sz="2000" spc="-1" strike="noStrike">
                <a:latin typeface="Arial"/>
              </a:rPr>
              <a:t>YOLO</a:t>
            </a:r>
            <a:r>
              <a:rPr b="0" lang="zh-CN" sz="2000" spc="-1" strike="noStrike">
                <a:latin typeface="Arial"/>
              </a:rPr>
              <a:t>分类。尺寸、观测条件与误差参数留在备注和后续页，不挤占图片。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</p:txBody>
      </p:sp>
      <p:sp>
        <p:nvSpPr>
          <p:cNvPr id="317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11D54BD-E455-4F6C-BDB5-F995ED61D96C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31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## </a:t>
            </a:r>
            <a:r>
              <a:rPr b="0" lang="zh-CN" sz="2000" spc="-1" strike="noStrike">
                <a:latin typeface="Arial"/>
              </a:rPr>
              <a:t>第</a:t>
            </a:r>
            <a:r>
              <a:rPr b="0" lang="en-US" sz="2000" spc="-1" strike="noStrike">
                <a:latin typeface="Arial"/>
              </a:rPr>
              <a:t>12</a:t>
            </a:r>
            <a:r>
              <a:rPr b="0" lang="zh-CN" sz="2000" spc="-1" strike="noStrike">
                <a:latin typeface="Arial"/>
              </a:rPr>
              <a:t>页 核心标识：</a:t>
            </a:r>
            <a:r>
              <a:rPr b="0" lang="en-US" sz="2000" spc="-1" strike="noStrike">
                <a:latin typeface="Arial"/>
              </a:rPr>
              <a:t>T2</a:t>
            </a:r>
            <a:r>
              <a:rPr b="0" lang="zh-CN" sz="2000" spc="-1" strike="noStrike">
                <a:latin typeface="Arial"/>
              </a:rPr>
              <a:t>被困人员与</a:t>
            </a:r>
            <a:r>
              <a:rPr b="0" lang="en-US" sz="2000" spc="-1" strike="noStrike">
                <a:latin typeface="Arial"/>
              </a:rPr>
              <a:t>T3</a:t>
            </a:r>
            <a:r>
              <a:rPr b="0" lang="zh-CN" sz="2000" spc="-1" strike="noStrike">
                <a:latin typeface="Arial"/>
              </a:rPr>
              <a:t>高温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**</a:t>
            </a:r>
            <a:r>
              <a:rPr b="0" lang="zh-CN" sz="2000" spc="-1" strike="noStrike">
                <a:latin typeface="Arial"/>
              </a:rPr>
              <a:t>累计时间：</a:t>
            </a:r>
            <a:r>
              <a:rPr b="0" lang="en-US" sz="2000" spc="-1" strike="noStrike">
                <a:latin typeface="Arial"/>
              </a:rPr>
              <a:t>05:50–05:59</a:t>
            </a:r>
            <a:r>
              <a:rPr b="0" lang="zh-CN" sz="2000" spc="-1" strike="noStrike">
                <a:latin typeface="Arial"/>
              </a:rPr>
              <a:t>｜本页</a:t>
            </a:r>
            <a:r>
              <a:rPr b="0" lang="en-US" sz="2000" spc="-1" strike="noStrike">
                <a:latin typeface="Arial"/>
              </a:rPr>
              <a:t>9</a:t>
            </a:r>
            <a:r>
              <a:rPr b="0" lang="zh-CN" sz="2000" spc="-1" strike="noStrike">
                <a:latin typeface="Arial"/>
              </a:rPr>
              <a:t>秒</a:t>
            </a:r>
            <a:r>
              <a:rPr b="0" lang="en-US" sz="2000" spc="-1" strike="noStrike">
                <a:latin typeface="Arial"/>
              </a:rPr>
              <a:t>**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**</a:t>
            </a:r>
            <a:r>
              <a:rPr b="0" lang="zh-CN" sz="2000" spc="-1" strike="noStrike">
                <a:latin typeface="Arial"/>
              </a:rPr>
              <a:t>现场讲述：</a:t>
            </a:r>
            <a:r>
              <a:rPr b="0" lang="en-US" sz="2000" spc="-1" strike="noStrike">
                <a:latin typeface="Arial"/>
              </a:rPr>
              <a:t>**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zh-CN" sz="2000" spc="-1" strike="noStrike">
                <a:latin typeface="Arial"/>
              </a:rPr>
              <a:t>另外两块是被困人员和高温，分别对应二号和三号，识别后标记到地图。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**</a:t>
            </a:r>
            <a:r>
              <a:rPr b="0" lang="zh-CN" sz="2000" spc="-1" strike="noStrike">
                <a:latin typeface="Arial"/>
              </a:rPr>
              <a:t>备注：</a:t>
            </a:r>
            <a:r>
              <a:rPr b="0" lang="en-US" sz="2000" spc="-1" strike="noStrike">
                <a:latin typeface="Arial"/>
              </a:rPr>
              <a:t>**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ID 2</a:t>
            </a:r>
            <a:r>
              <a:rPr b="0" lang="zh-CN" sz="2000" spc="-1" strike="noStrike">
                <a:latin typeface="Arial"/>
              </a:rPr>
              <a:t>：</a:t>
            </a:r>
            <a:r>
              <a:rPr b="0" lang="en-US" sz="2000" spc="-1" strike="noStrike">
                <a:latin typeface="Arial"/>
              </a:rPr>
              <a:t>TRAPPED_PERSON</a:t>
            </a:r>
            <a:r>
              <a:rPr b="0" lang="zh-CN" sz="2000" spc="-1" strike="noStrike">
                <a:latin typeface="Arial"/>
              </a:rPr>
              <a:t>（被困人员）；</a:t>
            </a:r>
            <a:r>
              <a:rPr b="0" lang="en-US" sz="2000" spc="-1" strike="noStrike">
                <a:latin typeface="Arial"/>
              </a:rPr>
              <a:t>ID 3</a:t>
            </a:r>
            <a:r>
              <a:rPr b="0" lang="zh-CN" sz="2000" spc="-1" strike="noStrike">
                <a:latin typeface="Arial"/>
              </a:rPr>
              <a:t>：</a:t>
            </a:r>
            <a:r>
              <a:rPr b="0" lang="en-US" sz="2000" spc="-1" strike="noStrike">
                <a:latin typeface="Arial"/>
              </a:rPr>
              <a:t>HIGH_TEMPERATURE</a:t>
            </a:r>
            <a:r>
              <a:rPr b="0" lang="zh-CN" sz="2000" spc="-1" strike="noStrike">
                <a:latin typeface="Arial"/>
              </a:rPr>
              <a:t>（高温）。本页采用同样的两图大幅排版，不新增测量指标。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zh-CN" sz="2000" spc="-1" strike="noStrike">
                <a:latin typeface="Arial"/>
              </a:rPr>
              <a:t>规则要求进入核心区后，识别四个核心灾害标识并正确在</a:t>
            </a:r>
            <a:r>
              <a:rPr b="0" lang="en-US" sz="2000" spc="-1" strike="noStrike">
                <a:latin typeface="Arial"/>
              </a:rPr>
              <a:t>RViz</a:t>
            </a:r>
            <a:r>
              <a:rPr b="0" lang="zh-CN" sz="2000" spc="-1" strike="noStrike">
                <a:latin typeface="Arial"/>
              </a:rPr>
              <a:t>地图中标记，位置需与实际布局吻合。图案和</a:t>
            </a:r>
            <a:r>
              <a:rPr b="0" lang="en-US" sz="2000" spc="-1" strike="noStrike">
                <a:latin typeface="Arial"/>
              </a:rPr>
              <a:t>ID</a:t>
            </a:r>
            <a:r>
              <a:rPr b="0" lang="zh-CN" sz="2000" spc="-1" strike="noStrike">
                <a:latin typeface="Arial"/>
              </a:rPr>
              <a:t>在第</a:t>
            </a:r>
            <a:r>
              <a:rPr b="0" lang="en-US" sz="2000" spc="-1" strike="noStrike">
                <a:latin typeface="Arial"/>
              </a:rPr>
              <a:t>11</a:t>
            </a:r>
            <a:r>
              <a:rPr b="0" lang="zh-CN" sz="2000" spc="-1" strike="noStrike">
                <a:latin typeface="Arial"/>
              </a:rPr>
              <a:t>、</a:t>
            </a:r>
            <a:r>
              <a:rPr b="0" lang="en-US" sz="2000" spc="-1" strike="noStrike">
                <a:latin typeface="Arial"/>
              </a:rPr>
              <a:t>12</a:t>
            </a:r>
            <a:r>
              <a:rPr b="0" lang="zh-CN" sz="2000" spc="-1" strike="noStrike">
                <a:latin typeface="Arial"/>
              </a:rPr>
              <a:t>页分别放大展示，地图位置证据接续第</a:t>
            </a:r>
            <a:r>
              <a:rPr b="0" lang="en-US" sz="2000" spc="-1" strike="noStrike">
                <a:latin typeface="Arial"/>
              </a:rPr>
              <a:t>13</a:t>
            </a:r>
            <a:r>
              <a:rPr b="0" lang="zh-CN" sz="2000" spc="-1" strike="noStrike">
                <a:latin typeface="Arial"/>
              </a:rPr>
              <a:t>页。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</p:txBody>
      </p:sp>
      <p:sp>
        <p:nvSpPr>
          <p:cNvPr id="320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CDAD1EA-EB3F-4B5B-98A6-3ECFB34D5471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32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## </a:t>
            </a:r>
            <a:r>
              <a:rPr b="0" lang="zh-CN" sz="2000" spc="-1" strike="noStrike">
                <a:latin typeface="Arial"/>
              </a:rPr>
              <a:t>第</a:t>
            </a:r>
            <a:r>
              <a:rPr b="0" lang="en-US" sz="2000" spc="-1" strike="noStrike">
                <a:latin typeface="Arial"/>
              </a:rPr>
              <a:t>13</a:t>
            </a:r>
            <a:r>
              <a:rPr b="0" lang="zh-CN" sz="2000" spc="-1" strike="noStrike">
                <a:latin typeface="Arial"/>
              </a:rPr>
              <a:t>页 拍摄时刻</a:t>
            </a:r>
            <a:r>
              <a:rPr b="0" lang="en-US" sz="2000" spc="-1" strike="noStrike">
                <a:latin typeface="Arial"/>
              </a:rPr>
              <a:t>TF</a:t>
            </a:r>
            <a:r>
              <a:rPr b="0" lang="zh-CN" sz="2000" spc="-1" strike="noStrike">
                <a:latin typeface="Arial"/>
              </a:rPr>
              <a:t>与</a:t>
            </a:r>
            <a:r>
              <a:rPr b="0" lang="en-US" sz="2000" spc="-1" strike="noStrike">
                <a:latin typeface="Arial"/>
              </a:rPr>
              <a:t>RViz Marker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**</a:t>
            </a:r>
            <a:r>
              <a:rPr b="0" lang="zh-CN" sz="2000" spc="-1" strike="noStrike">
                <a:latin typeface="Arial"/>
              </a:rPr>
              <a:t>累计时间：</a:t>
            </a:r>
            <a:r>
              <a:rPr b="0" lang="en-US" sz="2000" spc="-1" strike="noStrike">
                <a:latin typeface="Arial"/>
              </a:rPr>
              <a:t>05:59–06:21</a:t>
            </a:r>
            <a:r>
              <a:rPr b="0" lang="zh-CN" sz="2000" spc="-1" strike="noStrike">
                <a:latin typeface="Arial"/>
              </a:rPr>
              <a:t>｜本页</a:t>
            </a:r>
            <a:r>
              <a:rPr b="0" lang="en-US" sz="2000" spc="-1" strike="noStrike">
                <a:latin typeface="Arial"/>
              </a:rPr>
              <a:t>22</a:t>
            </a:r>
            <a:r>
              <a:rPr b="0" lang="zh-CN" sz="2000" spc="-1" strike="noStrike">
                <a:latin typeface="Arial"/>
              </a:rPr>
              <a:t>秒</a:t>
            </a:r>
            <a:r>
              <a:rPr b="0" lang="en-US" sz="2000" spc="-1" strike="noStrike">
                <a:latin typeface="Arial"/>
              </a:rPr>
              <a:t>**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**</a:t>
            </a:r>
            <a:r>
              <a:rPr b="0" lang="zh-CN" sz="2000" spc="-1" strike="noStrike">
                <a:latin typeface="Arial"/>
              </a:rPr>
              <a:t>现场讲述：</a:t>
            </a:r>
            <a:r>
              <a:rPr b="0" lang="en-US" sz="2000" spc="-1" strike="noStrike">
                <a:latin typeface="Arial"/>
              </a:rPr>
              <a:t>**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zh-CN" sz="2000" spc="-1" strike="noStrike">
                <a:latin typeface="Arial"/>
              </a:rPr>
              <a:t>图像必须匹配拍摄时刻的实际云台角。我们用标签尺寸和四角求相机坐标，再通过对应</a:t>
            </a:r>
            <a:r>
              <a:rPr b="0" lang="en-US" sz="2000" spc="-1" strike="noStrike">
                <a:latin typeface="Arial"/>
              </a:rPr>
              <a:t>TF</a:t>
            </a:r>
            <a:r>
              <a:rPr b="0" lang="zh-CN" sz="2000" spc="-1" strike="noStrike">
                <a:latin typeface="Arial"/>
              </a:rPr>
              <a:t>转到地图。至少四次有效观测后，经过质量筛选与稳健融合发布</a:t>
            </a:r>
            <a:r>
              <a:rPr b="0" lang="en-US" sz="2000" spc="-1" strike="noStrike">
                <a:latin typeface="Arial"/>
              </a:rPr>
              <a:t>Marker</a:t>
            </a:r>
            <a:r>
              <a:rPr b="0" lang="zh-CN" sz="2000" spc="-1" strike="noStrike">
                <a:latin typeface="Arial"/>
              </a:rPr>
              <a:t>，右图展示四个对应位置。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**</a:t>
            </a:r>
            <a:r>
              <a:rPr b="0" lang="zh-CN" sz="2000" spc="-1" strike="noStrike">
                <a:latin typeface="Arial"/>
              </a:rPr>
              <a:t>备注：</a:t>
            </a:r>
            <a:r>
              <a:rPr b="0" lang="en-US" sz="2000" spc="-1" strike="noStrike">
                <a:latin typeface="Arial"/>
              </a:rPr>
              <a:t>**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zh-CN" sz="2000" spc="-1" strike="noStrike">
                <a:latin typeface="Arial"/>
              </a:rPr>
              <a:t>标签边长</a:t>
            </a:r>
            <a:r>
              <a:rPr b="0" lang="en-US" sz="2000" spc="-1" strike="noStrike">
                <a:latin typeface="Arial"/>
              </a:rPr>
              <a:t>0.1875 m</a:t>
            </a:r>
            <a:r>
              <a:rPr b="0" lang="zh-CN" sz="2000" spc="-1" strike="noStrike">
                <a:latin typeface="Arial"/>
              </a:rPr>
              <a:t>，使用</a:t>
            </a:r>
            <a:r>
              <a:rPr b="0" lang="en-US" sz="2000" spc="-1" strike="noStrike">
                <a:latin typeface="Arial"/>
              </a:rPr>
              <a:t>IPPE_SQUARE</a:t>
            </a:r>
            <a:r>
              <a:rPr b="0" lang="zh-CN" sz="2000" spc="-1" strike="noStrike">
                <a:latin typeface="Arial"/>
              </a:rPr>
              <a:t>求相机坐标。超过</a:t>
            </a:r>
            <a:r>
              <a:rPr b="0" lang="en-US" sz="2000" spc="-1" strike="noStrike">
                <a:latin typeface="Arial"/>
              </a:rPr>
              <a:t>1</a:t>
            </a:r>
            <a:r>
              <a:rPr b="0" lang="zh-CN" sz="2000" spc="-1" strike="noStrike">
                <a:latin typeface="Arial"/>
              </a:rPr>
              <a:t>秒旧帧丢弃，重投影门限</a:t>
            </a:r>
            <a:r>
              <a:rPr b="0" lang="en-US" sz="2000" spc="-1" strike="noStrike">
                <a:latin typeface="Arial"/>
              </a:rPr>
              <a:t>2.5 px</a:t>
            </a:r>
            <a:r>
              <a:rPr b="0" lang="zh-CN" sz="2000" spc="-1" strike="noStrike">
                <a:latin typeface="Arial"/>
              </a:rPr>
              <a:t>；至少四次有效观测，不要求连续，也不因缺帧清空全部样本。位置融合包含中值、离群值拒绝与平滑。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zh-CN" sz="2000" spc="-1" strike="noStrike">
                <a:latin typeface="Arial"/>
              </a:rPr>
              <a:t>相机图与</a:t>
            </a:r>
            <a:r>
              <a:rPr b="0" lang="en-US" sz="2000" spc="-1" strike="noStrike">
                <a:latin typeface="Arial"/>
              </a:rPr>
              <a:t>RViz</a:t>
            </a:r>
            <a:r>
              <a:rPr b="0" lang="zh-CN" sz="2000" spc="-1" strike="noStrike">
                <a:latin typeface="Arial"/>
              </a:rPr>
              <a:t>图优先采用本次录屏证据；各</a:t>
            </a:r>
            <a:r>
              <a:rPr b="0" lang="en-US" sz="2000" spc="-1" strike="noStrike">
                <a:latin typeface="Arial"/>
              </a:rPr>
              <a:t>ID</a:t>
            </a:r>
            <a:r>
              <a:rPr b="0" lang="zh-CN" sz="2000" spc="-1" strike="noStrike">
                <a:latin typeface="Arial"/>
              </a:rPr>
              <a:t>与</a:t>
            </a:r>
            <a:r>
              <a:rPr b="0" lang="en-US" sz="2000" spc="-1" strike="noStrike">
                <a:latin typeface="Arial"/>
              </a:rPr>
              <a:t>Marker</a:t>
            </a:r>
            <a:r>
              <a:rPr b="0" lang="zh-CN" sz="2000" spc="-1" strike="noStrike">
                <a:latin typeface="Arial"/>
              </a:rPr>
              <a:t>一一对应。当前角度与拍摄时刻角度不能混用；误差同时包含视觉测量与定位漂移，不能称纯</a:t>
            </a:r>
            <a:r>
              <a:rPr b="0" lang="en-US" sz="2000" spc="-1" strike="noStrike">
                <a:latin typeface="Arial"/>
              </a:rPr>
              <a:t>PnP</a:t>
            </a:r>
            <a:r>
              <a:rPr b="0" lang="zh-CN" sz="2000" spc="-1" strike="noStrike">
                <a:latin typeface="Arial"/>
              </a:rPr>
              <a:t>误差。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</p:txBody>
      </p:sp>
      <p:sp>
        <p:nvSpPr>
          <p:cNvPr id="323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D54C4FE-C3F9-44E1-A6CD-E7587012F6B2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32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## </a:t>
            </a:r>
            <a:r>
              <a:rPr b="0" lang="zh-CN" sz="2000" spc="-1" strike="noStrike">
                <a:latin typeface="Arial"/>
              </a:rPr>
              <a:t>第</a:t>
            </a:r>
            <a:r>
              <a:rPr b="0" lang="en-US" sz="2000" spc="-1" strike="noStrike">
                <a:latin typeface="Arial"/>
              </a:rPr>
              <a:t>14</a:t>
            </a:r>
            <a:r>
              <a:rPr b="0" lang="zh-CN" sz="2000" spc="-1" strike="noStrike">
                <a:latin typeface="Arial"/>
              </a:rPr>
              <a:t>页 门洞残留栅格清理区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**</a:t>
            </a:r>
            <a:r>
              <a:rPr b="0" lang="zh-CN" sz="2000" spc="-1" strike="noStrike">
                <a:latin typeface="Arial"/>
              </a:rPr>
              <a:t>累计时间：</a:t>
            </a:r>
            <a:r>
              <a:rPr b="0" lang="en-US" sz="2000" spc="-1" strike="noStrike">
                <a:latin typeface="Arial"/>
              </a:rPr>
              <a:t>06:21–06:43</a:t>
            </a:r>
            <a:r>
              <a:rPr b="0" lang="zh-CN" sz="2000" spc="-1" strike="noStrike">
                <a:latin typeface="Arial"/>
              </a:rPr>
              <a:t>｜本页</a:t>
            </a:r>
            <a:r>
              <a:rPr b="0" lang="en-US" sz="2000" spc="-1" strike="noStrike">
                <a:latin typeface="Arial"/>
              </a:rPr>
              <a:t>22</a:t>
            </a:r>
            <a:r>
              <a:rPr b="0" lang="zh-CN" sz="2000" spc="-1" strike="noStrike">
                <a:latin typeface="Arial"/>
              </a:rPr>
              <a:t>秒</a:t>
            </a:r>
            <a:r>
              <a:rPr b="0" lang="en-US" sz="2000" spc="-1" strike="noStrike">
                <a:latin typeface="Arial"/>
              </a:rPr>
              <a:t>**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**</a:t>
            </a:r>
            <a:r>
              <a:rPr b="0" lang="zh-CN" sz="2000" spc="-1" strike="noStrike">
                <a:latin typeface="Arial"/>
              </a:rPr>
              <a:t>现场讲述：</a:t>
            </a:r>
            <a:r>
              <a:rPr b="0" lang="en-US" sz="2000" spc="-1" strike="noStrike">
                <a:latin typeface="Arial"/>
              </a:rPr>
              <a:t>**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zh-CN" sz="2000" spc="-1" strike="noStrike">
                <a:latin typeface="Arial"/>
              </a:rPr>
              <a:t>地图中标出的区域是门洞残留栅格清理区。箱体推走后，旧占用仍可能挡住导航。我们只在限定区域累积激光自由证据，同一栅格获得三次独立扫描后才清理，同时保留固定墙体和实时障碍保护。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**</a:t>
            </a:r>
            <a:r>
              <a:rPr b="0" lang="zh-CN" sz="2000" spc="-1" strike="noStrike">
                <a:latin typeface="Arial"/>
              </a:rPr>
              <a:t>备注：</a:t>
            </a:r>
            <a:r>
              <a:rPr b="0" lang="en-US" sz="2000" spc="-1" strike="noStrike">
                <a:latin typeface="Arial"/>
              </a:rPr>
              <a:t>**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zh-CN" sz="2000" spc="-1" strike="noStrike">
                <a:latin typeface="Arial"/>
              </a:rPr>
              <a:t>主图是实际 </a:t>
            </a:r>
            <a:r>
              <a:rPr b="0" lang="en-US" sz="2000" spc="-1" strike="noStrike">
                <a:latin typeface="Arial"/>
              </a:rPr>
              <a:t>rescue_map.pgm </a:t>
            </a:r>
            <a:r>
              <a:rPr b="0" lang="zh-CN" sz="2000" spc="-1" strike="noStrike">
                <a:latin typeface="Arial"/>
              </a:rPr>
              <a:t>叠加 </a:t>
            </a:r>
            <a:r>
              <a:rPr b="0" lang="en-US" sz="2000" spc="-1" strike="noStrike">
                <a:latin typeface="Arial"/>
              </a:rPr>
              <a:t>navigation_map.yaml </a:t>
            </a:r>
            <a:r>
              <a:rPr b="0" lang="zh-CN" sz="2000" spc="-1" strike="noStrike">
                <a:latin typeface="Arial"/>
              </a:rPr>
              <a:t>允许区域，局部放大用于看清门洞残留栅格清理区。它不是地图清理前后实测对照；逐格变化过程尚未留档。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zh-CN" sz="2000" spc="-1" strike="noStrike">
                <a:latin typeface="Arial"/>
              </a:rPr>
              <a:t>保留原始</a:t>
            </a:r>
            <a:r>
              <a:rPr b="0" lang="en-US" sz="2000" spc="-1" strike="noStrike">
                <a:latin typeface="Arial"/>
              </a:rPr>
              <a:t>PGM</a:t>
            </a:r>
            <a:r>
              <a:rPr b="0" lang="zh-CN" sz="2000" spc="-1" strike="noStrike">
                <a:latin typeface="Arial"/>
              </a:rPr>
              <a:t>，在派生导航图处理旧占用。允许区域排除固定墙体，三个证据须来自不同扫描时间戳；自由射线在测得障碍前</a:t>
            </a:r>
            <a:r>
              <a:rPr b="0" lang="en-US" sz="2000" spc="-1" strike="noStrike">
                <a:latin typeface="Arial"/>
              </a:rPr>
              <a:t>0.08 m</a:t>
            </a:r>
            <a:r>
              <a:rPr b="0" lang="zh-CN" sz="2000" spc="-1" strike="noStrike">
                <a:latin typeface="Arial"/>
              </a:rPr>
              <a:t>截止。箱体新位置继续由实时障碍层保护。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zh-CN" sz="2000" spc="-1" strike="noStrike">
                <a:latin typeface="Arial"/>
              </a:rPr>
              <a:t>这是带场地区域先验的导航图修正，不称未知场景自主探索。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</p:txBody>
      </p:sp>
      <p:sp>
        <p:nvSpPr>
          <p:cNvPr id="326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A34DBC4C-B303-4B7E-A151-1EB969259602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32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## </a:t>
            </a:r>
            <a:r>
              <a:rPr b="0" lang="zh-CN" sz="2000" spc="-1" strike="noStrike">
                <a:latin typeface="Arial"/>
              </a:rPr>
              <a:t>第</a:t>
            </a:r>
            <a:r>
              <a:rPr b="0" lang="en-US" sz="2000" spc="-1" strike="noStrike">
                <a:latin typeface="Arial"/>
              </a:rPr>
              <a:t>15</a:t>
            </a:r>
            <a:r>
              <a:rPr b="0" lang="zh-CN" sz="2000" spc="-1" strike="noStrike">
                <a:latin typeface="Arial"/>
              </a:rPr>
              <a:t>页 任务阶段速度与完整任务耗时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**</a:t>
            </a:r>
            <a:r>
              <a:rPr b="0" lang="zh-CN" sz="2000" spc="-1" strike="noStrike">
                <a:latin typeface="Arial"/>
              </a:rPr>
              <a:t>累计时间：</a:t>
            </a:r>
            <a:r>
              <a:rPr b="0" lang="en-US" sz="2000" spc="-1" strike="noStrike">
                <a:latin typeface="Arial"/>
              </a:rPr>
              <a:t>06:43–07:03</a:t>
            </a:r>
            <a:r>
              <a:rPr b="0" lang="zh-CN" sz="2000" spc="-1" strike="noStrike">
                <a:latin typeface="Arial"/>
              </a:rPr>
              <a:t>｜本页</a:t>
            </a:r>
            <a:r>
              <a:rPr b="0" lang="en-US" sz="2000" spc="-1" strike="noStrike">
                <a:latin typeface="Arial"/>
              </a:rPr>
              <a:t>20</a:t>
            </a:r>
            <a:r>
              <a:rPr b="0" lang="zh-CN" sz="2000" spc="-1" strike="noStrike">
                <a:latin typeface="Arial"/>
              </a:rPr>
              <a:t>秒</a:t>
            </a:r>
            <a:r>
              <a:rPr b="0" lang="en-US" sz="2000" spc="-1" strike="noStrike">
                <a:latin typeface="Arial"/>
              </a:rPr>
              <a:t>**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**</a:t>
            </a:r>
            <a:r>
              <a:rPr b="0" lang="zh-CN" sz="2000" spc="-1" strike="noStrike">
                <a:latin typeface="Arial"/>
              </a:rPr>
              <a:t>现场讲述：</a:t>
            </a:r>
            <a:r>
              <a:rPr b="0" lang="en-US" sz="2000" spc="-1" strike="noStrike">
                <a:latin typeface="Arial"/>
              </a:rPr>
              <a:t>**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zh-CN" sz="2000" spc="-1" strike="noStrike">
                <a:latin typeface="Arial"/>
              </a:rPr>
              <a:t>普通路段使用零点二米每秒，窄门和精细对正保持低速。识别与确认条件保留。历史无界面试验中，一次基准与两次最终配置对比，完整任务平均耗时缩短百分之七点六，失败候选也保留记录。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**</a:t>
            </a:r>
            <a:r>
              <a:rPr b="0" lang="zh-CN" sz="2000" spc="-1" strike="noStrike">
                <a:latin typeface="Arial"/>
              </a:rPr>
              <a:t>备注：</a:t>
            </a:r>
            <a:r>
              <a:rPr b="0" lang="en-US" sz="2000" spc="-1" strike="noStrike">
                <a:latin typeface="Arial"/>
              </a:rPr>
              <a:t>**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zh-CN" sz="2000" spc="-1" strike="noStrike">
                <a:latin typeface="Arial"/>
              </a:rPr>
              <a:t>普通路段</a:t>
            </a:r>
            <a:r>
              <a:rPr b="0" lang="en-US" sz="2000" spc="-1" strike="noStrike">
                <a:latin typeface="Arial"/>
              </a:rPr>
              <a:t>0.20 m/s</a:t>
            </a:r>
            <a:r>
              <a:rPr b="0" lang="zh-CN" sz="2000" spc="-1" strike="noStrike">
                <a:latin typeface="Arial"/>
              </a:rPr>
              <a:t>，精细阶段</a:t>
            </a:r>
            <a:r>
              <a:rPr b="0" lang="en-US" sz="2000" spc="-1" strike="noStrike">
                <a:latin typeface="Arial"/>
              </a:rPr>
              <a:t>0.12 m/s</a:t>
            </a:r>
            <a:r>
              <a:rPr b="0" lang="zh-CN" sz="2000" spc="-1" strike="noStrike">
                <a:latin typeface="Arial"/>
              </a:rPr>
              <a:t>，闭环推障</a:t>
            </a:r>
            <a:r>
              <a:rPr b="0" lang="en-US" sz="2000" spc="-1" strike="noStrike">
                <a:latin typeface="Arial"/>
              </a:rPr>
              <a:t>0.10 m/s</a:t>
            </a:r>
            <a:r>
              <a:rPr b="0" lang="zh-CN" sz="2000" spc="-1" strike="noStrike">
                <a:latin typeface="Arial"/>
              </a:rPr>
              <a:t>；位置到达与朝向对正分阶段处理。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7.6%</a:t>
            </a:r>
            <a:r>
              <a:rPr b="0" lang="zh-CN" sz="2000" spc="-1" strike="noStrike">
                <a:latin typeface="Arial"/>
              </a:rPr>
              <a:t>来自</a:t>
            </a:r>
            <a:r>
              <a:rPr b="0" lang="en-US" sz="2000" spc="-1" strike="noStrike">
                <a:latin typeface="Arial"/>
              </a:rPr>
              <a:t>2026-10-12</a:t>
            </a:r>
            <a:r>
              <a:rPr b="0" lang="zh-CN" sz="2000" spc="-1" strike="noStrike">
                <a:latin typeface="Arial"/>
              </a:rPr>
              <a:t>的 </a:t>
            </a:r>
            <a:r>
              <a:rPr b="0" lang="en-US" sz="2000" spc="-1" strike="noStrike">
                <a:latin typeface="Arial"/>
              </a:rPr>
              <a:t>speed_tuning_validation.json</a:t>
            </a:r>
            <a:r>
              <a:rPr b="0" lang="zh-CN" sz="2000" spc="-1" strike="noStrike">
                <a:latin typeface="Arial"/>
              </a:rPr>
              <a:t>：基准</a:t>
            </a:r>
            <a:r>
              <a:rPr b="0" lang="en-US" sz="2000" spc="-1" strike="noStrike">
                <a:latin typeface="Arial"/>
              </a:rPr>
              <a:t>310.82</a:t>
            </a:r>
            <a:r>
              <a:rPr b="0" lang="zh-CN" sz="2000" spc="-1" strike="noStrike">
                <a:latin typeface="Arial"/>
              </a:rPr>
              <a:t>秒、两次最终配置平均</a:t>
            </a:r>
            <a:r>
              <a:rPr b="0" lang="en-US" sz="2000" spc="-1" strike="noStrike">
                <a:latin typeface="Arial"/>
              </a:rPr>
              <a:t>287.20</a:t>
            </a:r>
            <a:r>
              <a:rPr b="0" lang="zh-CN" sz="2000" spc="-1" strike="noStrike">
                <a:latin typeface="Arial"/>
              </a:rPr>
              <a:t>秒，节省</a:t>
            </a:r>
            <a:r>
              <a:rPr b="0" lang="en-US" sz="2000" spc="-1" strike="noStrike">
                <a:latin typeface="Arial"/>
              </a:rPr>
              <a:t>23.62</a:t>
            </a:r>
            <a:r>
              <a:rPr b="0" lang="zh-CN" sz="2000" spc="-1" strike="noStrike">
                <a:latin typeface="Arial"/>
              </a:rPr>
              <a:t>秒。计时从首次导航到完成，包含行驶、停车、观察、推障、对正和返航，排除构建与启动。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zh-CN" sz="2000" spc="-1" strike="noStrike">
                <a:latin typeface="Arial"/>
              </a:rPr>
              <a:t>本页曲线或轨迹颜色表示阶段速度上限时，应注明“非实测速率”。历史无界面试验与本次</a:t>
            </a:r>
            <a:r>
              <a:rPr b="0" lang="en-US" sz="2000" spc="-1" strike="noStrike">
                <a:latin typeface="Arial"/>
              </a:rPr>
              <a:t>GUI</a:t>
            </a:r>
            <a:r>
              <a:rPr b="0" lang="zh-CN" sz="2000" spc="-1" strike="noStrike">
                <a:latin typeface="Arial"/>
              </a:rPr>
              <a:t>录屏分开统计；</a:t>
            </a:r>
            <a:r>
              <a:rPr b="0" lang="en-US" sz="2000" spc="-1" strike="noStrike">
                <a:latin typeface="Arial"/>
              </a:rPr>
              <a:t>7.6%</a:t>
            </a:r>
            <a:r>
              <a:rPr b="0" lang="zh-CN" sz="2000" spc="-1" strike="noStrike">
                <a:latin typeface="Arial"/>
              </a:rPr>
              <a:t>不表示本次录屏耗时缩短</a:t>
            </a:r>
            <a:r>
              <a:rPr b="0" lang="en-US" sz="2000" spc="-1" strike="noStrike">
                <a:latin typeface="Arial"/>
              </a:rPr>
              <a:t>7.6%</a:t>
            </a:r>
            <a:r>
              <a:rPr b="0" lang="zh-CN" sz="2000" spc="-1" strike="noStrike">
                <a:latin typeface="Arial"/>
              </a:rPr>
              <a:t>，也不能推断跨场地成功率或统计显著性。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</p:txBody>
      </p:sp>
      <p:sp>
        <p:nvSpPr>
          <p:cNvPr id="329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3322345-3985-48BE-B7E9-D3624C9CE7B0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33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## </a:t>
            </a:r>
            <a:r>
              <a:rPr b="0" lang="zh-CN" sz="2000" spc="-1" strike="noStrike">
                <a:latin typeface="Arial"/>
              </a:rPr>
              <a:t>第</a:t>
            </a:r>
            <a:r>
              <a:rPr b="0" lang="en-US" sz="2000" spc="-1" strike="noStrike">
                <a:latin typeface="Arial"/>
              </a:rPr>
              <a:t>16</a:t>
            </a:r>
            <a:r>
              <a:rPr b="0" lang="zh-CN" sz="2000" spc="-1" strike="noStrike">
                <a:latin typeface="Arial"/>
              </a:rPr>
              <a:t>页 当前录屏的同次验收结果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**</a:t>
            </a:r>
            <a:r>
              <a:rPr b="0" lang="zh-CN" sz="2000" spc="-1" strike="noStrike">
                <a:latin typeface="Arial"/>
              </a:rPr>
              <a:t>累计时间：</a:t>
            </a:r>
            <a:r>
              <a:rPr b="0" lang="en-US" sz="2000" spc="-1" strike="noStrike">
                <a:latin typeface="Arial"/>
              </a:rPr>
              <a:t>07:03–07:23</a:t>
            </a:r>
            <a:r>
              <a:rPr b="0" lang="zh-CN" sz="2000" spc="-1" strike="noStrike">
                <a:latin typeface="Arial"/>
              </a:rPr>
              <a:t>｜本页</a:t>
            </a:r>
            <a:r>
              <a:rPr b="0" lang="en-US" sz="2000" spc="-1" strike="noStrike">
                <a:latin typeface="Arial"/>
              </a:rPr>
              <a:t>20</a:t>
            </a:r>
            <a:r>
              <a:rPr b="0" lang="zh-CN" sz="2000" spc="-1" strike="noStrike">
                <a:latin typeface="Arial"/>
              </a:rPr>
              <a:t>秒</a:t>
            </a:r>
            <a:r>
              <a:rPr b="0" lang="en-US" sz="2000" spc="-1" strike="noStrike">
                <a:latin typeface="Arial"/>
              </a:rPr>
              <a:t>**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**</a:t>
            </a:r>
            <a:r>
              <a:rPr b="0" lang="zh-CN" sz="2000" spc="-1" strike="noStrike">
                <a:latin typeface="Arial"/>
              </a:rPr>
              <a:t>现场讲述：</a:t>
            </a:r>
            <a:r>
              <a:rPr b="0" lang="en-US" sz="2000" spc="-1" strike="noStrike">
                <a:latin typeface="Arial"/>
              </a:rPr>
              <a:t>**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zh-CN" sz="2000" spc="-1" strike="noStrike">
                <a:latin typeface="Arial"/>
              </a:rPr>
              <a:t>本次录屏同次验收：五类走廊与四个核心标记齐全，箱体移动约零点九九六米，返航误差四点二六厘米。四个</a:t>
            </a:r>
            <a:r>
              <a:rPr b="0" lang="en-US" sz="2000" spc="-1" strike="noStrike">
                <a:latin typeface="Arial"/>
              </a:rPr>
              <a:t>Marker</a:t>
            </a:r>
            <a:r>
              <a:rPr b="0" lang="zh-CN" sz="2000" spc="-1" strike="noStrike">
                <a:latin typeface="Arial"/>
              </a:rPr>
              <a:t>在统一地图坐标下的误差为七点五二到十三点九四厘米，自动验收通过。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**</a:t>
            </a:r>
            <a:r>
              <a:rPr b="0" lang="zh-CN" sz="2000" spc="-1" strike="noStrike">
                <a:latin typeface="Arial"/>
              </a:rPr>
              <a:t>备注：</a:t>
            </a:r>
            <a:r>
              <a:rPr b="0" lang="en-US" sz="2000" spc="-1" strike="noStrike">
                <a:latin typeface="Arial"/>
              </a:rPr>
              <a:t>**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zh-CN" sz="2000" spc="-1" strike="noStrike">
                <a:latin typeface="Arial"/>
              </a:rPr>
              <a:t>数据唯一来源：</a:t>
            </a:r>
            <a:r>
              <a:rPr b="0" lang="en-US" sz="2000" spc="-1" strike="noStrike">
                <a:latin typeface="Arial"/>
              </a:rPr>
              <a:t>recording_submission_20261013_gimbal_run2/evidence/evaluation.json</a:t>
            </a:r>
            <a:r>
              <a:rPr b="0" lang="zh-CN" sz="2000" spc="-1" strike="noStrike">
                <a:latin typeface="Arial"/>
              </a:rPr>
              <a:t>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zh-CN" sz="2000" spc="-1" strike="noStrike">
                <a:latin typeface="Arial"/>
              </a:rPr>
              <a:t>箱体位移</a:t>
            </a:r>
            <a:r>
              <a:rPr b="0" lang="en-US" sz="2000" spc="-1" strike="noStrike">
                <a:latin typeface="Arial"/>
              </a:rPr>
              <a:t>0.9959845 m</a:t>
            </a:r>
            <a:r>
              <a:rPr b="0" lang="zh-CN" sz="2000" spc="-1" strike="noStrike">
                <a:latin typeface="Arial"/>
              </a:rPr>
              <a:t>，显示为</a:t>
            </a:r>
            <a:r>
              <a:rPr b="0" lang="en-US" sz="2000" spc="-1" strike="noStrike">
                <a:latin typeface="Arial"/>
              </a:rPr>
              <a:t>0.9960 m</a:t>
            </a:r>
            <a:r>
              <a:rPr b="0" lang="zh-CN" sz="2000" spc="-1" strike="noStrike">
                <a:latin typeface="Arial"/>
              </a:rPr>
              <a:t>；返航位置误差</a:t>
            </a:r>
            <a:r>
              <a:rPr b="0" lang="en-US" sz="2000" spc="-1" strike="noStrike">
                <a:latin typeface="Arial"/>
              </a:rPr>
              <a:t>0.0425607 m</a:t>
            </a:r>
            <a:r>
              <a:rPr b="0" lang="zh-CN" sz="2000" spc="-1" strike="noStrike">
                <a:latin typeface="Arial"/>
              </a:rPr>
              <a:t>，显示为</a:t>
            </a:r>
            <a:r>
              <a:rPr b="0" lang="en-US" sz="2000" spc="-1" strike="noStrike">
                <a:latin typeface="Arial"/>
              </a:rPr>
              <a:t>4.26 cm</a:t>
            </a:r>
            <a:r>
              <a:rPr b="0" lang="zh-CN" sz="2000" spc="-1" strike="noStrike">
                <a:latin typeface="Arial"/>
              </a:rPr>
              <a:t>。四个</a:t>
            </a:r>
            <a:r>
              <a:rPr b="0" lang="en-US" sz="2000" spc="-1" strike="noStrike">
                <a:latin typeface="Arial"/>
              </a:rPr>
              <a:t>Marker</a:t>
            </a:r>
            <a:r>
              <a:rPr b="0" lang="zh-CN" sz="2000" spc="-1" strike="noStrike">
                <a:latin typeface="Arial"/>
              </a:rPr>
              <a:t>平面误差：</a:t>
            </a:r>
            <a:r>
              <a:rPr b="0" lang="en-US" sz="2000" spc="-1" strike="noStrike">
                <a:latin typeface="Arial"/>
              </a:rPr>
              <a:t>ID 0</a:t>
            </a:r>
            <a:r>
              <a:rPr b="0" lang="zh-CN" sz="2000" spc="-1" strike="noStrike">
                <a:latin typeface="Arial"/>
              </a:rPr>
              <a:t>为</a:t>
            </a:r>
            <a:r>
              <a:rPr b="0" lang="en-US" sz="2000" spc="-1" strike="noStrike">
                <a:latin typeface="Arial"/>
              </a:rPr>
              <a:t>13.94 cm</a:t>
            </a:r>
            <a:r>
              <a:rPr b="0" lang="zh-CN" sz="2000" spc="-1" strike="noStrike">
                <a:latin typeface="Arial"/>
              </a:rPr>
              <a:t>，</a:t>
            </a:r>
            <a:r>
              <a:rPr b="0" lang="en-US" sz="2000" spc="-1" strike="noStrike">
                <a:latin typeface="Arial"/>
              </a:rPr>
              <a:t>ID 1</a:t>
            </a:r>
            <a:r>
              <a:rPr b="0" lang="zh-CN" sz="2000" spc="-1" strike="noStrike">
                <a:latin typeface="Arial"/>
              </a:rPr>
              <a:t>为</a:t>
            </a:r>
            <a:r>
              <a:rPr b="0" lang="en-US" sz="2000" spc="-1" strike="noStrike">
                <a:latin typeface="Arial"/>
              </a:rPr>
              <a:t>11.88 cm</a:t>
            </a:r>
            <a:r>
              <a:rPr b="0" lang="zh-CN" sz="2000" spc="-1" strike="noStrike">
                <a:latin typeface="Arial"/>
              </a:rPr>
              <a:t>，</a:t>
            </a:r>
            <a:r>
              <a:rPr b="0" lang="en-US" sz="2000" spc="-1" strike="noStrike">
                <a:latin typeface="Arial"/>
              </a:rPr>
              <a:t>ID 2</a:t>
            </a:r>
            <a:r>
              <a:rPr b="0" lang="zh-CN" sz="2000" spc="-1" strike="noStrike">
                <a:latin typeface="Arial"/>
              </a:rPr>
              <a:t>为</a:t>
            </a:r>
            <a:r>
              <a:rPr b="0" lang="en-US" sz="2000" spc="-1" strike="noStrike">
                <a:latin typeface="Arial"/>
              </a:rPr>
              <a:t>10.20 cm</a:t>
            </a:r>
            <a:r>
              <a:rPr b="0" lang="zh-CN" sz="2000" spc="-1" strike="noStrike">
                <a:latin typeface="Arial"/>
              </a:rPr>
              <a:t>，</a:t>
            </a:r>
            <a:r>
              <a:rPr b="0" lang="en-US" sz="2000" spc="-1" strike="noStrike">
                <a:latin typeface="Arial"/>
              </a:rPr>
              <a:t>ID 3</a:t>
            </a:r>
            <a:r>
              <a:rPr b="0" lang="zh-CN" sz="2000" spc="-1" strike="noStrike">
                <a:latin typeface="Arial"/>
              </a:rPr>
              <a:t>为</a:t>
            </a:r>
            <a:r>
              <a:rPr b="0" lang="en-US" sz="2000" spc="-1" strike="noStrike">
                <a:latin typeface="Arial"/>
              </a:rPr>
              <a:t>7.52 cm</a:t>
            </a:r>
            <a:r>
              <a:rPr b="0" lang="zh-CN" sz="2000" spc="-1" strike="noStrike">
                <a:latin typeface="Arial"/>
              </a:rPr>
              <a:t>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zh-CN" sz="2000" spc="-1" strike="noStrike">
                <a:latin typeface="Arial"/>
              </a:rPr>
              <a:t>任务完成、自动验收通过、在线</a:t>
            </a:r>
            <a:r>
              <a:rPr b="0" lang="en-US" sz="2000" spc="-1" strike="noStrike">
                <a:latin typeface="Arial"/>
              </a:rPr>
              <a:t>SLAM</a:t>
            </a:r>
            <a:r>
              <a:rPr b="0" lang="zh-CN" sz="2000" spc="-1" strike="noStrike">
                <a:latin typeface="Arial"/>
              </a:rPr>
              <a:t>已留档，完整轮廓墙体重叠采样</a:t>
            </a:r>
            <a:r>
              <a:rPr b="0" lang="en-US" sz="2000" spc="-1" strike="noStrike">
                <a:latin typeface="Arial"/>
              </a:rPr>
              <a:t>0</a:t>
            </a:r>
            <a:r>
              <a:rPr b="0" lang="zh-CN" sz="2000" spc="-1" strike="noStrike">
                <a:latin typeface="Arial"/>
              </a:rPr>
              <a:t>。本队自动验收不代替评委计分；离散采样不能证明连续过程绝对无接触。</a:t>
            </a:r>
            <a:r>
              <a:rPr b="0" lang="en-US" sz="2000" spc="-1" strike="noStrike">
                <a:latin typeface="Arial"/>
              </a:rPr>
              <a:t>15 cm</a:t>
            </a:r>
            <a:r>
              <a:rPr b="0" lang="zh-CN" sz="2000" spc="-1" strike="noStrike">
                <a:latin typeface="Arial"/>
              </a:rPr>
              <a:t>标签门限、</a:t>
            </a:r>
            <a:r>
              <a:rPr b="0" lang="en-US" sz="2000" spc="-1" strike="noStrike">
                <a:latin typeface="Arial"/>
              </a:rPr>
              <a:t>10 cm</a:t>
            </a:r>
            <a:r>
              <a:rPr b="0" lang="zh-CN" sz="2000" spc="-1" strike="noStrike">
                <a:latin typeface="Arial"/>
              </a:rPr>
              <a:t>返航门限、</a:t>
            </a:r>
            <a:r>
              <a:rPr b="0" lang="en-US" sz="2000" spc="-1" strike="noStrike">
                <a:latin typeface="Arial"/>
              </a:rPr>
              <a:t>0.50 m</a:t>
            </a:r>
            <a:r>
              <a:rPr b="0" lang="zh-CN" sz="2000" spc="-1" strike="noStrike">
                <a:latin typeface="Arial"/>
              </a:rPr>
              <a:t>箱体位移门限均为项目自定标准，不是官方合格线。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</p:txBody>
      </p:sp>
      <p:sp>
        <p:nvSpPr>
          <p:cNvPr id="332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6B6E13C-A81E-4AA9-A21D-857F2995819D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33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## </a:t>
            </a:r>
            <a:r>
              <a:rPr b="0" lang="zh-CN" sz="2000" spc="-1" strike="noStrike">
                <a:latin typeface="Arial"/>
              </a:rPr>
              <a:t>第</a:t>
            </a:r>
            <a:r>
              <a:rPr b="0" lang="en-US" sz="2000" spc="-1" strike="noStrike">
                <a:latin typeface="Arial"/>
              </a:rPr>
              <a:t>17</a:t>
            </a:r>
            <a:r>
              <a:rPr b="0" lang="zh-CN" sz="2000" spc="-1" strike="noStrike">
                <a:latin typeface="Arial"/>
              </a:rPr>
              <a:t>页 团队贡献、第三方与下一步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**</a:t>
            </a:r>
            <a:r>
              <a:rPr b="0" lang="zh-CN" sz="2000" spc="-1" strike="noStrike">
                <a:latin typeface="Arial"/>
              </a:rPr>
              <a:t>累计时间：</a:t>
            </a:r>
            <a:r>
              <a:rPr b="0" lang="en-US" sz="2000" spc="-1" strike="noStrike">
                <a:latin typeface="Arial"/>
              </a:rPr>
              <a:t>07:23–07:35</a:t>
            </a:r>
            <a:r>
              <a:rPr b="0" lang="zh-CN" sz="2000" spc="-1" strike="noStrike">
                <a:latin typeface="Arial"/>
              </a:rPr>
              <a:t>｜本页</a:t>
            </a:r>
            <a:r>
              <a:rPr b="0" lang="en-US" sz="2000" spc="-1" strike="noStrike">
                <a:latin typeface="Arial"/>
              </a:rPr>
              <a:t>12</a:t>
            </a:r>
            <a:r>
              <a:rPr b="0" lang="zh-CN" sz="2000" spc="-1" strike="noStrike">
                <a:latin typeface="Arial"/>
              </a:rPr>
              <a:t>秒</a:t>
            </a:r>
            <a:r>
              <a:rPr b="0" lang="en-US" sz="2000" spc="-1" strike="noStrike">
                <a:latin typeface="Arial"/>
              </a:rPr>
              <a:t>**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**</a:t>
            </a:r>
            <a:r>
              <a:rPr b="0" lang="zh-CN" sz="2000" spc="-1" strike="noStrike">
                <a:latin typeface="Arial"/>
              </a:rPr>
              <a:t>现场讲述：</a:t>
            </a:r>
            <a:r>
              <a:rPr b="0" lang="en-US" sz="2000" spc="-1" strike="noStrike">
                <a:latin typeface="Arial"/>
              </a:rPr>
              <a:t>**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zh-CN" sz="2000" spc="-1" strike="noStrike">
                <a:latin typeface="Arial"/>
              </a:rPr>
              <a:t>团队贡献是机构、感知、导航与验收的协同实现。开源基础明确归属，下一步增加随机条件验证。谢谢各位老师。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**</a:t>
            </a:r>
            <a:r>
              <a:rPr b="0" lang="zh-CN" sz="2000" spc="-1" strike="noStrike">
                <a:latin typeface="Arial"/>
              </a:rPr>
              <a:t>备注：</a:t>
            </a:r>
            <a:r>
              <a:rPr b="0" lang="en-US" sz="2000" spc="-1" strike="noStrike">
                <a:latin typeface="Arial"/>
              </a:rPr>
              <a:t>**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zh-CN" sz="2000" spc="-1" strike="noStrike">
                <a:latin typeface="Arial"/>
              </a:rPr>
              <a:t>团队实现：厂区与九种标识、</a:t>
            </a:r>
            <a:r>
              <a:rPr b="0" lang="en-US" sz="2000" spc="-1" strike="noStrike">
                <a:latin typeface="Arial"/>
              </a:rPr>
              <a:t>V</a:t>
            </a:r>
            <a:r>
              <a:rPr b="0" lang="zh-CN" sz="2000" spc="-1" strike="noStrike">
                <a:latin typeface="Arial"/>
              </a:rPr>
              <a:t>形推板和物理云台、任务状态机与接触安全、图案几何时序核验、拍摄时刻</a:t>
            </a:r>
            <a:r>
              <a:rPr b="0" lang="en-US" sz="2000" spc="-1" strike="noStrike">
                <a:latin typeface="Arial"/>
              </a:rPr>
              <a:t>TF</a:t>
            </a:r>
            <a:r>
              <a:rPr b="0" lang="zh-CN" sz="2000" spc="-1" strike="noStrike">
                <a:latin typeface="Arial"/>
              </a:rPr>
              <a:t>、派生地图处理、阶段控制与独立验收。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zh-CN" sz="2000" spc="-1" strike="noStrike">
                <a:latin typeface="Arial"/>
              </a:rPr>
              <a:t>第三方基础：</a:t>
            </a:r>
            <a:r>
              <a:rPr b="0" lang="en-US" sz="2000" spc="-1" strike="noStrike">
                <a:latin typeface="Arial"/>
              </a:rPr>
              <a:t>ROS 2</a:t>
            </a:r>
            <a:r>
              <a:rPr b="0" lang="zh-CN" sz="2000" spc="-1" strike="noStrike">
                <a:latin typeface="Arial"/>
              </a:rPr>
              <a:t>、</a:t>
            </a:r>
            <a:r>
              <a:rPr b="0" lang="en-US" sz="2000" spc="-1" strike="noStrike">
                <a:latin typeface="Arial"/>
              </a:rPr>
              <a:t>Gazebo</a:t>
            </a:r>
            <a:r>
              <a:rPr b="0" lang="zh-CN" sz="2000" spc="-1" strike="noStrike">
                <a:latin typeface="Arial"/>
              </a:rPr>
              <a:t>、</a:t>
            </a:r>
            <a:r>
              <a:rPr b="0" lang="en-US" sz="2000" spc="-1" strike="noStrike">
                <a:latin typeface="Arial"/>
              </a:rPr>
              <a:t>Nav2</a:t>
            </a:r>
            <a:r>
              <a:rPr b="0" lang="zh-CN" sz="2000" spc="-1" strike="noStrike">
                <a:latin typeface="Arial"/>
              </a:rPr>
              <a:t>、</a:t>
            </a:r>
            <a:r>
              <a:rPr b="0" lang="en-US" sz="2000" spc="-1" strike="noStrike">
                <a:latin typeface="Arial"/>
              </a:rPr>
              <a:t>slam_toolbox</a:t>
            </a:r>
            <a:r>
              <a:rPr b="0" lang="zh-CN" sz="2000" spc="-1" strike="noStrike">
                <a:latin typeface="Arial"/>
              </a:rPr>
              <a:t>、</a:t>
            </a:r>
            <a:r>
              <a:rPr b="0" lang="en-US" sz="2000" spc="-1" strike="noStrike">
                <a:latin typeface="Arial"/>
              </a:rPr>
              <a:t>OpenCV</a:t>
            </a:r>
            <a:r>
              <a:rPr b="0" lang="zh-CN" sz="2000" spc="-1" strike="noStrike">
                <a:latin typeface="Arial"/>
              </a:rPr>
              <a:t>、</a:t>
            </a:r>
            <a:r>
              <a:rPr b="0" lang="en-US" sz="2000" spc="-1" strike="noStrike">
                <a:latin typeface="Arial"/>
              </a:rPr>
              <a:t>AprilTag</a:t>
            </a:r>
            <a:r>
              <a:rPr b="0" lang="zh-CN" sz="2000" spc="-1" strike="noStrike">
                <a:latin typeface="Arial"/>
              </a:rPr>
              <a:t>，以及</a:t>
            </a:r>
            <a:r>
              <a:rPr b="0" lang="en-US" sz="2000" spc="-1" strike="noStrike">
                <a:latin typeface="Arial"/>
              </a:rPr>
              <a:t>YOLOv5</a:t>
            </a:r>
            <a:r>
              <a:rPr b="0" lang="zh-CN" sz="2000" spc="-1" strike="noStrike">
                <a:latin typeface="Arial"/>
              </a:rPr>
              <a:t>相关基础架构。团队不把这些组件和基础算法宣称原创。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zh-CN" sz="2000" spc="-1" strike="noStrike">
                <a:latin typeface="Arial"/>
              </a:rPr>
              <a:t>下一步增加随机初始条件重复运行、真实录屏逐帧视觉评估与接触力检测。目前验证范围为已知仿真场地与自设计图案。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</p:txBody>
      </p:sp>
      <p:sp>
        <p:nvSpPr>
          <p:cNvPr id="335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76375A3-00B8-4EF5-B206-56A01C29C741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33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## </a:t>
            </a:r>
            <a:r>
              <a:rPr b="0" lang="zh-CN" sz="2000" spc="-1" strike="noStrike">
                <a:latin typeface="Arial"/>
              </a:rPr>
              <a:t>第</a:t>
            </a:r>
            <a:r>
              <a:rPr b="0" lang="en-US" sz="2000" spc="-1" strike="noStrike">
                <a:latin typeface="Arial"/>
              </a:rPr>
              <a:t>18</a:t>
            </a:r>
            <a:r>
              <a:rPr b="0" lang="zh-CN" sz="2000" spc="-1" strike="noStrike">
                <a:latin typeface="Arial"/>
              </a:rPr>
              <a:t>页 备份</a:t>
            </a:r>
            <a:r>
              <a:rPr b="0" lang="en-US" sz="2000" spc="-1" strike="noStrike">
                <a:latin typeface="Arial"/>
              </a:rPr>
              <a:t>A</a:t>
            </a:r>
            <a:r>
              <a:rPr b="0" lang="zh-CN" sz="2000" spc="-1" strike="noStrike">
                <a:latin typeface="Arial"/>
              </a:rPr>
              <a:t>：评分项与证据对应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**</a:t>
            </a:r>
            <a:r>
              <a:rPr b="0" lang="zh-CN" sz="2000" spc="-1" strike="noStrike">
                <a:latin typeface="Arial"/>
              </a:rPr>
              <a:t>累计时间：问答备用</a:t>
            </a:r>
            <a:r>
              <a:rPr b="0" lang="en-US" sz="2000" spc="-1" strike="noStrike">
                <a:latin typeface="Arial"/>
              </a:rPr>
              <a:t>**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zh-CN" sz="2000" spc="-1" strike="noStrike">
                <a:latin typeface="Arial"/>
              </a:rPr>
              <a:t>环境与建图</a:t>
            </a:r>
            <a:r>
              <a:rPr b="0" lang="en-US" sz="2000" spc="-1" strike="noStrike">
                <a:latin typeface="Arial"/>
              </a:rPr>
              <a:t>15</a:t>
            </a:r>
            <a:r>
              <a:rPr b="0" lang="zh-CN" sz="2000" spc="-1" strike="noStrike">
                <a:latin typeface="Arial"/>
              </a:rPr>
              <a:t>分：自建场地、清晰地图、在线</a:t>
            </a:r>
            <a:r>
              <a:rPr b="0" lang="en-US" sz="2000" spc="-1" strike="noStrike">
                <a:latin typeface="Arial"/>
              </a:rPr>
              <a:t>SLAM</a:t>
            </a:r>
            <a:r>
              <a:rPr b="0" lang="zh-CN" sz="2000" spc="-1" strike="noStrike">
                <a:latin typeface="Arial"/>
              </a:rPr>
              <a:t>留档。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zh-CN" sz="2000" spc="-1" strike="noStrike">
                <a:latin typeface="Arial"/>
              </a:rPr>
              <a:t>走廊识别</a:t>
            </a:r>
            <a:r>
              <a:rPr b="0" lang="en-US" sz="2000" spc="-1" strike="noStrike">
                <a:latin typeface="Arial"/>
              </a:rPr>
              <a:t>20</a:t>
            </a:r>
            <a:r>
              <a:rPr b="0" lang="zh-CN" sz="2000" spc="-1" strike="noStrike">
                <a:latin typeface="Arial"/>
              </a:rPr>
              <a:t>分：入室前五类正确分类与可读终端打印。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zh-CN" sz="2000" spc="-1" strike="noStrike">
                <a:latin typeface="Arial"/>
              </a:rPr>
              <a:t>核心入口清障</a:t>
            </a:r>
            <a:r>
              <a:rPr b="0" lang="en-US" sz="2000" spc="-1" strike="noStrike">
                <a:latin typeface="Arial"/>
              </a:rPr>
              <a:t>20</a:t>
            </a:r>
            <a:r>
              <a:rPr b="0" lang="zh-CN" sz="2000" spc="-1" strike="noStrike">
                <a:latin typeface="Arial"/>
              </a:rPr>
              <a:t>分：真实动态箱体位移与平稳进入核心区。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zh-CN" sz="2000" spc="-1" strike="noStrike">
                <a:latin typeface="Arial"/>
              </a:rPr>
              <a:t>核心识别标定</a:t>
            </a:r>
            <a:r>
              <a:rPr b="0" lang="en-US" sz="2000" spc="-1" strike="noStrike">
                <a:latin typeface="Arial"/>
              </a:rPr>
              <a:t>20</a:t>
            </a:r>
            <a:r>
              <a:rPr b="0" lang="zh-CN" sz="2000" spc="-1" strike="noStrike">
                <a:latin typeface="Arial"/>
              </a:rPr>
              <a:t>分：四类核心灾情、</a:t>
            </a:r>
            <a:r>
              <a:rPr b="0" lang="en-US" sz="2000" spc="-1" strike="noStrike">
                <a:latin typeface="Arial"/>
              </a:rPr>
              <a:t>AprilTag ID</a:t>
            </a:r>
            <a:r>
              <a:rPr b="0" lang="zh-CN" sz="2000" spc="-1" strike="noStrike">
                <a:latin typeface="Arial"/>
              </a:rPr>
              <a:t>和</a:t>
            </a:r>
            <a:r>
              <a:rPr b="0" lang="en-US" sz="2000" spc="-1" strike="noStrike">
                <a:latin typeface="Arial"/>
              </a:rPr>
              <a:t>RViz Marker</a:t>
            </a:r>
            <a:r>
              <a:rPr b="0" lang="zh-CN" sz="2000" spc="-1" strike="noStrike">
                <a:latin typeface="Arial"/>
              </a:rPr>
              <a:t>位置对应。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zh-CN" sz="2000" spc="-1" strike="noStrike">
                <a:latin typeface="Arial"/>
              </a:rPr>
              <a:t>返回起点</a:t>
            </a:r>
            <a:r>
              <a:rPr b="0" lang="en-US" sz="2000" spc="-1" strike="noStrike">
                <a:latin typeface="Arial"/>
              </a:rPr>
              <a:t>5</a:t>
            </a:r>
            <a:r>
              <a:rPr b="0" lang="zh-CN" sz="2000" spc="-1" strike="noStrike">
                <a:latin typeface="Arial"/>
              </a:rPr>
              <a:t>分：全流程返航画面与完成事件，本次返航误差</a:t>
            </a:r>
            <a:r>
              <a:rPr b="0" lang="en-US" sz="2000" spc="-1" strike="noStrike">
                <a:latin typeface="Arial"/>
              </a:rPr>
              <a:t>4.26 cm</a:t>
            </a:r>
            <a:r>
              <a:rPr b="0" lang="zh-CN" sz="2000" spc="-1" strike="noStrike">
                <a:latin typeface="Arial"/>
              </a:rPr>
              <a:t>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zh-CN" sz="2000" spc="-1" strike="noStrike">
                <a:latin typeface="Arial"/>
              </a:rPr>
              <a:t>创新答辩</a:t>
            </a:r>
            <a:r>
              <a:rPr b="0" lang="en-US" sz="2000" spc="-1" strike="noStrike">
                <a:latin typeface="Arial"/>
              </a:rPr>
              <a:t>20</a:t>
            </a:r>
            <a:r>
              <a:rPr b="0" lang="zh-CN" sz="2000" spc="-1" strike="noStrike">
                <a:latin typeface="Arial"/>
              </a:rPr>
              <a:t>分：机构、接触安全、视觉核验、时间同步、导航地图与阶段控制的场景化改进。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zh-CN" sz="2000" spc="-1" strike="noStrike">
                <a:latin typeface="Arial"/>
              </a:rPr>
              <a:t>规则以评委现场判定为准，没有公布</a:t>
            </a:r>
            <a:r>
              <a:rPr b="0" lang="en-US" sz="2000" spc="-1" strike="noStrike">
                <a:latin typeface="Arial"/>
              </a:rPr>
              <a:t>15 cm</a:t>
            </a:r>
            <a:r>
              <a:rPr b="0" lang="zh-CN" sz="2000" spc="-1" strike="noStrike">
                <a:latin typeface="Arial"/>
              </a:rPr>
              <a:t>标记误差或</a:t>
            </a:r>
            <a:r>
              <a:rPr b="0" lang="en-US" sz="2000" spc="-1" strike="noStrike">
                <a:latin typeface="Arial"/>
              </a:rPr>
              <a:t>10 cm</a:t>
            </a:r>
            <a:r>
              <a:rPr b="0" lang="zh-CN" sz="2000" spc="-1" strike="noStrike">
                <a:latin typeface="Arial"/>
              </a:rPr>
              <a:t>返航误差的合格线。</a:t>
            </a:r>
            <a:r>
              <a:rPr b="0" lang="en-US" sz="2000" spc="-1" strike="noStrike">
                <a:latin typeface="Arial"/>
              </a:rPr>
              <a:t>8</a:t>
            </a:r>
            <a:r>
              <a:rPr b="0" lang="zh-CN" sz="2000" spc="-1" strike="noStrike">
                <a:latin typeface="Arial"/>
              </a:rPr>
              <a:t>分钟包含视频与讲解，展示结束后的提问由评委安排。超时达到</a:t>
            </a:r>
            <a:r>
              <a:rPr b="0" lang="en-US" sz="2000" spc="-1" strike="noStrike">
                <a:latin typeface="Arial"/>
              </a:rPr>
              <a:t>10</a:t>
            </a:r>
            <a:r>
              <a:rPr b="0" lang="zh-CN" sz="2000" spc="-1" strike="noStrike">
                <a:latin typeface="Arial"/>
              </a:rPr>
              <a:t>秒后，每超</a:t>
            </a:r>
            <a:r>
              <a:rPr b="0" lang="en-US" sz="2000" spc="-1" strike="noStrike">
                <a:latin typeface="Arial"/>
              </a:rPr>
              <a:t>10</a:t>
            </a:r>
            <a:r>
              <a:rPr b="0" lang="zh-CN" sz="2000" spc="-1" strike="noStrike">
                <a:latin typeface="Arial"/>
              </a:rPr>
              <a:t>秒扣</a:t>
            </a:r>
            <a:r>
              <a:rPr b="0" lang="en-US" sz="2000" spc="-1" strike="noStrike">
                <a:latin typeface="Arial"/>
              </a:rPr>
              <a:t>1</a:t>
            </a:r>
            <a:r>
              <a:rPr b="0" lang="zh-CN" sz="2000" spc="-1" strike="noStrike">
                <a:latin typeface="Arial"/>
              </a:rPr>
              <a:t>分，累计最多</a:t>
            </a:r>
            <a:r>
              <a:rPr b="0" lang="en-US" sz="2000" spc="-1" strike="noStrike">
                <a:latin typeface="Arial"/>
              </a:rPr>
              <a:t>5</a:t>
            </a:r>
            <a:r>
              <a:rPr b="0" lang="zh-CN" sz="2000" spc="-1" strike="noStrike">
                <a:latin typeface="Arial"/>
              </a:rPr>
              <a:t>分。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</p:txBody>
      </p:sp>
      <p:sp>
        <p:nvSpPr>
          <p:cNvPr id="338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920FCA8-6310-4A39-AD92-0A0F8E2AC155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34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## </a:t>
            </a:r>
            <a:r>
              <a:rPr b="0" lang="zh-CN" sz="2000" spc="-1" strike="noStrike">
                <a:latin typeface="Arial"/>
              </a:rPr>
              <a:t>第</a:t>
            </a:r>
            <a:r>
              <a:rPr b="0" lang="en-US" sz="2000" spc="-1" strike="noStrike">
                <a:latin typeface="Arial"/>
              </a:rPr>
              <a:t>19</a:t>
            </a:r>
            <a:r>
              <a:rPr b="0" lang="zh-CN" sz="2000" spc="-1" strike="noStrike">
                <a:latin typeface="Arial"/>
              </a:rPr>
              <a:t>页 备份</a:t>
            </a:r>
            <a:r>
              <a:rPr b="0" lang="en-US" sz="2000" spc="-1" strike="noStrike">
                <a:latin typeface="Arial"/>
              </a:rPr>
              <a:t>B</a:t>
            </a:r>
            <a:r>
              <a:rPr b="0" lang="zh-CN" sz="2000" spc="-1" strike="noStrike">
                <a:latin typeface="Arial"/>
              </a:rPr>
              <a:t>：传感器、任务与导航闭环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**</a:t>
            </a:r>
            <a:r>
              <a:rPr b="0" lang="zh-CN" sz="2000" spc="-1" strike="noStrike">
                <a:latin typeface="Arial"/>
              </a:rPr>
              <a:t>累计时间：问答备用</a:t>
            </a:r>
            <a:r>
              <a:rPr b="0" lang="en-US" sz="2000" spc="-1" strike="noStrike">
                <a:latin typeface="Arial"/>
              </a:rPr>
              <a:t>**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zh-CN" sz="2000" spc="-1" strike="noStrike">
                <a:latin typeface="Arial"/>
              </a:rPr>
              <a:t>激光与里程计支持定位，</a:t>
            </a:r>
            <a:r>
              <a:rPr b="0" lang="en-US" sz="2000" spc="-1" strike="noStrike">
                <a:latin typeface="Arial"/>
              </a:rPr>
              <a:t>AMCL</a:t>
            </a:r>
            <a:r>
              <a:rPr b="0" lang="zh-CN" sz="2000" spc="-1" strike="noStrike">
                <a:latin typeface="Arial"/>
              </a:rPr>
              <a:t>在保存地图上定位；</a:t>
            </a:r>
            <a:r>
              <a:rPr b="0" lang="en-US" sz="2000" spc="-1" strike="noStrike">
                <a:latin typeface="Arial"/>
              </a:rPr>
              <a:t>Smac2D</a:t>
            </a:r>
            <a:r>
              <a:rPr b="0" lang="zh-CN" sz="2000" spc="-1" strike="noStrike">
                <a:latin typeface="Arial"/>
              </a:rPr>
              <a:t>规划器生成路径，</a:t>
            </a:r>
            <a:r>
              <a:rPr b="0" lang="en-US" sz="2000" spc="-1" strike="noStrike">
                <a:latin typeface="Arial"/>
              </a:rPr>
              <a:t>RPP</a:t>
            </a:r>
            <a:r>
              <a:rPr b="0" lang="zh-CN" sz="2000" spc="-1" strike="noStrike">
                <a:latin typeface="Arial"/>
              </a:rPr>
              <a:t>控制器跟踪。地图建图使用</a:t>
            </a:r>
            <a:r>
              <a:rPr b="0" lang="en-US" sz="2000" spc="-1" strike="noStrike">
                <a:latin typeface="Arial"/>
              </a:rPr>
              <a:t>slam_toolbox</a:t>
            </a:r>
            <a:r>
              <a:rPr b="0" lang="zh-CN" sz="2000" spc="-1" strike="noStrike">
                <a:latin typeface="Arial"/>
              </a:rPr>
              <a:t>，留档证据与运行导航模式分别说明。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zh-CN" sz="2000" spc="-1" strike="noStrike">
                <a:latin typeface="Arial"/>
              </a:rPr>
              <a:t>相机与实际云台角发布视觉结果；</a:t>
            </a:r>
            <a:r>
              <a:rPr b="0" lang="en-US" sz="2000" spc="-1" strike="noStrike">
                <a:latin typeface="Arial"/>
              </a:rPr>
              <a:t>23</a:t>
            </a:r>
            <a:r>
              <a:rPr b="0" lang="zh-CN" sz="2000" spc="-1" strike="noStrike">
                <a:latin typeface="Arial"/>
              </a:rPr>
              <a:t>步</a:t>
            </a:r>
            <a:r>
              <a:rPr b="0" lang="en-US" sz="2000" spc="-1" strike="noStrike">
                <a:latin typeface="Arial"/>
              </a:rPr>
              <a:t>YAML</a:t>
            </a:r>
            <a:r>
              <a:rPr b="0" lang="zh-CN" sz="2000" spc="-1" strike="noStrike">
                <a:latin typeface="Arial"/>
              </a:rPr>
              <a:t>任务状态机根据到点、稳定与确认事件推进，依次完成观察、推障、入室和返航。</a:t>
            </a:r>
            <a:r>
              <a:rPr b="0" lang="en-US" sz="2000" spc="-1" strike="noStrike">
                <a:latin typeface="Arial"/>
              </a:rPr>
              <a:t>YAML</a:t>
            </a:r>
            <a:r>
              <a:rPr b="0" lang="zh-CN" sz="2000" spc="-1" strike="noStrike">
                <a:latin typeface="Arial"/>
              </a:rPr>
              <a:t>提供任务目标，路径由</a:t>
            </a:r>
            <a:r>
              <a:rPr b="0" lang="en-US" sz="2000" spc="-1" strike="noStrike">
                <a:latin typeface="Arial"/>
              </a:rPr>
              <a:t>Nav2</a:t>
            </a:r>
            <a:r>
              <a:rPr b="0" lang="zh-CN" sz="2000" spc="-1" strike="noStrike">
                <a:latin typeface="Arial"/>
              </a:rPr>
              <a:t>规划，移动使用导航；任务目标配置不能宣称未知环境自主探索。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zh-CN" sz="2000" spc="-1" strike="noStrike">
                <a:latin typeface="Arial"/>
              </a:rPr>
              <a:t>速度平滑后，独立安全层检查包含推板的完整车体停车扫掠范围。验收旁路读取真值记录结果，任务、视觉与控制不利用世界真值取得答案。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</p:txBody>
      </p:sp>
      <p:sp>
        <p:nvSpPr>
          <p:cNvPr id="341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00E4A68-1942-4EB2-8087-7DA7EC9EB65C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34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## </a:t>
            </a:r>
            <a:r>
              <a:rPr b="0" lang="zh-CN" sz="2000" spc="-1" strike="noStrike">
                <a:latin typeface="Arial"/>
              </a:rPr>
              <a:t>第</a:t>
            </a:r>
            <a:r>
              <a:rPr b="0" lang="en-US" sz="2000" spc="-1" strike="noStrike">
                <a:latin typeface="Arial"/>
              </a:rPr>
              <a:t>20</a:t>
            </a:r>
            <a:r>
              <a:rPr b="0" lang="zh-CN" sz="2000" spc="-1" strike="noStrike">
                <a:latin typeface="Arial"/>
              </a:rPr>
              <a:t>页 备份</a:t>
            </a:r>
            <a:r>
              <a:rPr b="0" lang="en-US" sz="2000" spc="-1" strike="noStrike">
                <a:latin typeface="Arial"/>
              </a:rPr>
              <a:t>C</a:t>
            </a:r>
            <a:r>
              <a:rPr b="0" lang="zh-CN" sz="2000" spc="-1" strike="noStrike">
                <a:latin typeface="Arial"/>
              </a:rPr>
              <a:t>：本次定位误差的坐标口径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**</a:t>
            </a:r>
            <a:r>
              <a:rPr b="0" lang="zh-CN" sz="2000" spc="-1" strike="noStrike">
                <a:latin typeface="Arial"/>
              </a:rPr>
              <a:t>累计时间：问答备用</a:t>
            </a:r>
            <a:r>
              <a:rPr b="0" lang="en-US" sz="2000" spc="-1" strike="noStrike">
                <a:latin typeface="Arial"/>
              </a:rPr>
              <a:t>**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Marker</a:t>
            </a:r>
            <a:r>
              <a:rPr b="0" lang="zh-CN" sz="2000" spc="-1" strike="noStrike">
                <a:latin typeface="Arial"/>
              </a:rPr>
              <a:t>在</a:t>
            </a:r>
            <a:r>
              <a:rPr b="0" lang="en-US" sz="2000" spc="-1" strike="noStrike">
                <a:latin typeface="Arial"/>
              </a:rPr>
              <a:t>map</a:t>
            </a:r>
            <a:r>
              <a:rPr b="0" lang="zh-CN" sz="2000" spc="-1" strike="noStrike">
                <a:latin typeface="Arial"/>
              </a:rPr>
              <a:t>坐标系，仿真实际位置最初在</a:t>
            </a:r>
            <a:r>
              <a:rPr b="0" lang="en-US" sz="2000" spc="-1" strike="noStrike">
                <a:latin typeface="Arial"/>
              </a:rPr>
              <a:t>world/odom</a:t>
            </a:r>
            <a:r>
              <a:rPr b="0" lang="zh-CN" sz="2000" spc="-1" strike="noStrike">
                <a:latin typeface="Arial"/>
              </a:rPr>
              <a:t>参考。独立验收利用记录的</a:t>
            </a:r>
            <a:r>
              <a:rPr b="0" lang="en-US" sz="2000" spc="-1" strike="noStrike">
                <a:latin typeface="Arial"/>
              </a:rPr>
              <a:t>map←odom</a:t>
            </a:r>
            <a:r>
              <a:rPr b="0" lang="zh-CN" sz="2000" spc="-1" strike="noStrike">
                <a:latin typeface="Arial"/>
              </a:rPr>
              <a:t>变换统一坐标后计算平面误差，原始跨坐标系差值包含定位偏移。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ID 0</a:t>
            </a:r>
            <a:r>
              <a:rPr b="0" lang="zh-CN" sz="2000" spc="-1" strike="noStrike">
                <a:latin typeface="Arial"/>
              </a:rPr>
              <a:t>，</a:t>
            </a:r>
            <a:r>
              <a:rPr b="0" lang="en-US" sz="2000" spc="-1" strike="noStrike">
                <a:latin typeface="Arial"/>
              </a:rPr>
              <a:t>COLLAPSE</a:t>
            </a:r>
            <a:r>
              <a:rPr b="0" lang="zh-CN" sz="2000" spc="-1" strike="noStrike">
                <a:latin typeface="Arial"/>
              </a:rPr>
              <a:t>：统一</a:t>
            </a:r>
            <a:r>
              <a:rPr b="0" lang="en-US" sz="2000" spc="-1" strike="noStrike">
                <a:latin typeface="Arial"/>
              </a:rPr>
              <a:t>map</a:t>
            </a:r>
            <a:r>
              <a:rPr b="0" lang="zh-CN" sz="2000" spc="-1" strike="noStrike">
                <a:latin typeface="Arial"/>
              </a:rPr>
              <a:t>误差</a:t>
            </a:r>
            <a:r>
              <a:rPr b="0" lang="en-US" sz="2000" spc="-1" strike="noStrike">
                <a:latin typeface="Arial"/>
              </a:rPr>
              <a:t>13.94 cm</a:t>
            </a:r>
            <a:r>
              <a:rPr b="0" lang="zh-CN" sz="2000" spc="-1" strike="noStrike">
                <a:latin typeface="Arial"/>
              </a:rPr>
              <a:t>，原始</a:t>
            </a:r>
            <a:r>
              <a:rPr b="0" lang="en-US" sz="2000" spc="-1" strike="noStrike">
                <a:latin typeface="Arial"/>
              </a:rPr>
              <a:t>world/map</a:t>
            </a:r>
            <a:r>
              <a:rPr b="0" lang="zh-CN" sz="2000" spc="-1" strike="noStrike">
                <a:latin typeface="Arial"/>
              </a:rPr>
              <a:t>差</a:t>
            </a:r>
            <a:r>
              <a:rPr b="0" lang="en-US" sz="2000" spc="-1" strike="noStrike">
                <a:latin typeface="Arial"/>
              </a:rPr>
              <a:t>15.76 cm</a:t>
            </a:r>
            <a:r>
              <a:rPr b="0" lang="zh-CN" sz="2000" spc="-1" strike="noStrike">
                <a:latin typeface="Arial"/>
              </a:rPr>
              <a:t>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ID 1</a:t>
            </a:r>
            <a:r>
              <a:rPr b="0" lang="zh-CN" sz="2000" spc="-1" strike="noStrike">
                <a:latin typeface="Arial"/>
              </a:rPr>
              <a:t>，</a:t>
            </a:r>
            <a:r>
              <a:rPr b="0" lang="en-US" sz="2000" spc="-1" strike="noStrike">
                <a:latin typeface="Arial"/>
              </a:rPr>
              <a:t>TOXIC_LEAK</a:t>
            </a:r>
            <a:r>
              <a:rPr b="0" lang="zh-CN" sz="2000" spc="-1" strike="noStrike">
                <a:latin typeface="Arial"/>
              </a:rPr>
              <a:t>：统一</a:t>
            </a:r>
            <a:r>
              <a:rPr b="0" lang="en-US" sz="2000" spc="-1" strike="noStrike">
                <a:latin typeface="Arial"/>
              </a:rPr>
              <a:t>map</a:t>
            </a:r>
            <a:r>
              <a:rPr b="0" lang="zh-CN" sz="2000" spc="-1" strike="noStrike">
                <a:latin typeface="Arial"/>
              </a:rPr>
              <a:t>误差</a:t>
            </a:r>
            <a:r>
              <a:rPr b="0" lang="en-US" sz="2000" spc="-1" strike="noStrike">
                <a:latin typeface="Arial"/>
              </a:rPr>
              <a:t>11.88 cm</a:t>
            </a:r>
            <a:r>
              <a:rPr b="0" lang="zh-CN" sz="2000" spc="-1" strike="noStrike">
                <a:latin typeface="Arial"/>
              </a:rPr>
              <a:t>，原始</a:t>
            </a:r>
            <a:r>
              <a:rPr b="0" lang="en-US" sz="2000" spc="-1" strike="noStrike">
                <a:latin typeface="Arial"/>
              </a:rPr>
              <a:t>world/map</a:t>
            </a:r>
            <a:r>
              <a:rPr b="0" lang="zh-CN" sz="2000" spc="-1" strike="noStrike">
                <a:latin typeface="Arial"/>
              </a:rPr>
              <a:t>差</a:t>
            </a:r>
            <a:r>
              <a:rPr b="0" lang="en-US" sz="2000" spc="-1" strike="noStrike">
                <a:latin typeface="Arial"/>
              </a:rPr>
              <a:t>14.57 cm</a:t>
            </a:r>
            <a:r>
              <a:rPr b="0" lang="zh-CN" sz="2000" spc="-1" strike="noStrike">
                <a:latin typeface="Arial"/>
              </a:rPr>
              <a:t>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ID 2</a:t>
            </a:r>
            <a:r>
              <a:rPr b="0" lang="zh-CN" sz="2000" spc="-1" strike="noStrike">
                <a:latin typeface="Arial"/>
              </a:rPr>
              <a:t>，</a:t>
            </a:r>
            <a:r>
              <a:rPr b="0" lang="en-US" sz="2000" spc="-1" strike="noStrike">
                <a:latin typeface="Arial"/>
              </a:rPr>
              <a:t>TRAPPED_PERSON</a:t>
            </a:r>
            <a:r>
              <a:rPr b="0" lang="zh-CN" sz="2000" spc="-1" strike="noStrike">
                <a:latin typeface="Arial"/>
              </a:rPr>
              <a:t>：统一</a:t>
            </a:r>
            <a:r>
              <a:rPr b="0" lang="en-US" sz="2000" spc="-1" strike="noStrike">
                <a:latin typeface="Arial"/>
              </a:rPr>
              <a:t>map</a:t>
            </a:r>
            <a:r>
              <a:rPr b="0" lang="zh-CN" sz="2000" spc="-1" strike="noStrike">
                <a:latin typeface="Arial"/>
              </a:rPr>
              <a:t>误差</a:t>
            </a:r>
            <a:r>
              <a:rPr b="0" lang="en-US" sz="2000" spc="-1" strike="noStrike">
                <a:latin typeface="Arial"/>
              </a:rPr>
              <a:t>10.20 cm</a:t>
            </a:r>
            <a:r>
              <a:rPr b="0" lang="zh-CN" sz="2000" spc="-1" strike="noStrike">
                <a:latin typeface="Arial"/>
              </a:rPr>
              <a:t>，原始</a:t>
            </a:r>
            <a:r>
              <a:rPr b="0" lang="en-US" sz="2000" spc="-1" strike="noStrike">
                <a:latin typeface="Arial"/>
              </a:rPr>
              <a:t>world/map</a:t>
            </a:r>
            <a:r>
              <a:rPr b="0" lang="zh-CN" sz="2000" spc="-1" strike="noStrike">
                <a:latin typeface="Arial"/>
              </a:rPr>
              <a:t>差</a:t>
            </a:r>
            <a:r>
              <a:rPr b="0" lang="en-US" sz="2000" spc="-1" strike="noStrike">
                <a:latin typeface="Arial"/>
              </a:rPr>
              <a:t>13.88 cm</a:t>
            </a:r>
            <a:r>
              <a:rPr b="0" lang="zh-CN" sz="2000" spc="-1" strike="noStrike">
                <a:latin typeface="Arial"/>
              </a:rPr>
              <a:t>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ID 3</a:t>
            </a:r>
            <a:r>
              <a:rPr b="0" lang="zh-CN" sz="2000" spc="-1" strike="noStrike">
                <a:latin typeface="Arial"/>
              </a:rPr>
              <a:t>，</a:t>
            </a:r>
            <a:r>
              <a:rPr b="0" lang="en-US" sz="2000" spc="-1" strike="noStrike">
                <a:latin typeface="Arial"/>
              </a:rPr>
              <a:t>HIGH_TEMPERATURE</a:t>
            </a:r>
            <a:r>
              <a:rPr b="0" lang="zh-CN" sz="2000" spc="-1" strike="noStrike">
                <a:latin typeface="Arial"/>
              </a:rPr>
              <a:t>：统一</a:t>
            </a:r>
            <a:r>
              <a:rPr b="0" lang="en-US" sz="2000" spc="-1" strike="noStrike">
                <a:latin typeface="Arial"/>
              </a:rPr>
              <a:t>map</a:t>
            </a:r>
            <a:r>
              <a:rPr b="0" lang="zh-CN" sz="2000" spc="-1" strike="noStrike">
                <a:latin typeface="Arial"/>
              </a:rPr>
              <a:t>误差</a:t>
            </a:r>
            <a:r>
              <a:rPr b="0" lang="en-US" sz="2000" spc="-1" strike="noStrike">
                <a:latin typeface="Arial"/>
              </a:rPr>
              <a:t>7.52 cm</a:t>
            </a:r>
            <a:r>
              <a:rPr b="0" lang="zh-CN" sz="2000" spc="-1" strike="noStrike">
                <a:latin typeface="Arial"/>
              </a:rPr>
              <a:t>，原始</a:t>
            </a:r>
            <a:r>
              <a:rPr b="0" lang="en-US" sz="2000" spc="-1" strike="noStrike">
                <a:latin typeface="Arial"/>
              </a:rPr>
              <a:t>world/map</a:t>
            </a:r>
            <a:r>
              <a:rPr b="0" lang="zh-CN" sz="2000" spc="-1" strike="noStrike">
                <a:latin typeface="Arial"/>
              </a:rPr>
              <a:t>差</a:t>
            </a:r>
            <a:r>
              <a:rPr b="0" lang="en-US" sz="2000" spc="-1" strike="noStrike">
                <a:latin typeface="Arial"/>
              </a:rPr>
              <a:t>12.26 cm</a:t>
            </a:r>
            <a:r>
              <a:rPr b="0" lang="zh-CN" sz="2000" spc="-1" strike="noStrike">
                <a:latin typeface="Arial"/>
              </a:rPr>
              <a:t>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zh-CN" sz="2000" spc="-1" strike="noStrike">
                <a:latin typeface="Arial"/>
              </a:rPr>
              <a:t>以上均为当前新版录屏同次数据。此误差同时包含相机测量、</a:t>
            </a:r>
            <a:r>
              <a:rPr b="0" lang="en-US" sz="2000" spc="-1" strike="noStrike">
                <a:latin typeface="Arial"/>
              </a:rPr>
              <a:t>AMCL</a:t>
            </a:r>
            <a:r>
              <a:rPr b="0" lang="zh-CN" sz="2000" spc="-1" strike="noStrike">
                <a:latin typeface="Arial"/>
              </a:rPr>
              <a:t>定位与地图漂移，不能称纯视觉或纯</a:t>
            </a:r>
            <a:r>
              <a:rPr b="0" lang="en-US" sz="2000" spc="-1" strike="noStrike">
                <a:latin typeface="Arial"/>
              </a:rPr>
              <a:t>PnP</a:t>
            </a:r>
            <a:r>
              <a:rPr b="0" lang="zh-CN" sz="2000" spc="-1" strike="noStrike">
                <a:latin typeface="Arial"/>
              </a:rPr>
              <a:t>误差。不同运行使用各自保存的变换，不借用另一次运行的</a:t>
            </a:r>
            <a:r>
              <a:rPr b="0" lang="en-US" sz="2000" spc="-1" strike="noStrike">
                <a:latin typeface="Arial"/>
              </a:rPr>
              <a:t>TF</a:t>
            </a:r>
            <a:r>
              <a:rPr b="0" lang="zh-CN" sz="2000" spc="-1" strike="noStrike">
                <a:latin typeface="Arial"/>
              </a:rPr>
              <a:t>替换。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</p:txBody>
      </p:sp>
      <p:sp>
        <p:nvSpPr>
          <p:cNvPr id="344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D11BF6A-7FD5-45AA-8976-40A8CDB23A44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34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## </a:t>
            </a:r>
            <a:r>
              <a:rPr b="0" lang="zh-CN" sz="2000" spc="-1" strike="noStrike">
                <a:latin typeface="Arial"/>
              </a:rPr>
              <a:t>第</a:t>
            </a:r>
            <a:r>
              <a:rPr b="0" lang="en-US" sz="2000" spc="-1" strike="noStrike">
                <a:latin typeface="Arial"/>
              </a:rPr>
              <a:t>21</a:t>
            </a:r>
            <a:r>
              <a:rPr b="0" lang="zh-CN" sz="2000" spc="-1" strike="noStrike">
                <a:latin typeface="Arial"/>
              </a:rPr>
              <a:t>页 备份</a:t>
            </a:r>
            <a:r>
              <a:rPr b="0" lang="en-US" sz="2000" spc="-1" strike="noStrike">
                <a:latin typeface="Arial"/>
              </a:rPr>
              <a:t>D</a:t>
            </a:r>
            <a:r>
              <a:rPr b="0" lang="zh-CN" sz="2000" spc="-1" strike="noStrike">
                <a:latin typeface="Arial"/>
              </a:rPr>
              <a:t>：提速试验与失败候选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**</a:t>
            </a:r>
            <a:r>
              <a:rPr b="0" lang="zh-CN" sz="2000" spc="-1" strike="noStrike">
                <a:latin typeface="Arial"/>
              </a:rPr>
              <a:t>累计时间：问答备用</a:t>
            </a:r>
            <a:r>
              <a:rPr b="0" lang="en-US" sz="2000" spc="-1" strike="noStrike">
                <a:latin typeface="Arial"/>
              </a:rPr>
              <a:t>**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zh-CN" sz="2000" spc="-1" strike="noStrike">
                <a:latin typeface="Arial"/>
              </a:rPr>
              <a:t>以下为</a:t>
            </a:r>
            <a:r>
              <a:rPr b="0" lang="en-US" sz="2000" spc="-1" strike="noStrike">
                <a:latin typeface="Arial"/>
              </a:rPr>
              <a:t>2026-10-12</a:t>
            </a:r>
            <a:r>
              <a:rPr b="0" lang="zh-CN" sz="2000" spc="-1" strike="noStrike">
                <a:latin typeface="Arial"/>
              </a:rPr>
              <a:t>历史无界面完整任务试验，不是本次录屏播放时长。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zh-CN" sz="2000" spc="-1" strike="noStrike">
                <a:latin typeface="Arial"/>
              </a:rPr>
              <a:t>原速基准：</a:t>
            </a:r>
            <a:r>
              <a:rPr b="0" lang="en-US" sz="2000" spc="-1" strike="noStrike">
                <a:latin typeface="Arial"/>
              </a:rPr>
              <a:t>310.82</a:t>
            </a:r>
            <a:r>
              <a:rPr b="0" lang="zh-CN" sz="2000" spc="-1" strike="noStrike">
                <a:latin typeface="Arial"/>
              </a:rPr>
              <a:t>秒，</a:t>
            </a:r>
            <a:r>
              <a:rPr b="0" lang="en-US" sz="2000" spc="-1" strike="noStrike">
                <a:latin typeface="Arial"/>
              </a:rPr>
              <a:t>1</a:t>
            </a:r>
            <a:r>
              <a:rPr b="0" lang="zh-CN" sz="2000" spc="-1" strike="noStrike">
                <a:latin typeface="Arial"/>
              </a:rPr>
              <a:t>次，验收通过。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zh-CN" sz="2000" spc="-1" strike="noStrike">
                <a:latin typeface="Arial"/>
              </a:rPr>
              <a:t>最终分档</a:t>
            </a:r>
            <a:r>
              <a:rPr b="0" lang="en-US" sz="2000" spc="-1" strike="noStrike">
                <a:latin typeface="Arial"/>
              </a:rPr>
              <a:t>0.20</a:t>
            </a:r>
            <a:r>
              <a:rPr b="0" lang="zh-CN" sz="2000" spc="-1" strike="noStrike">
                <a:latin typeface="Arial"/>
              </a:rPr>
              <a:t>第</a:t>
            </a:r>
            <a:r>
              <a:rPr b="0" lang="en-US" sz="2000" spc="-1" strike="noStrike">
                <a:latin typeface="Arial"/>
              </a:rPr>
              <a:t>1</a:t>
            </a:r>
            <a:r>
              <a:rPr b="0" lang="zh-CN" sz="2000" spc="-1" strike="noStrike">
                <a:latin typeface="Arial"/>
              </a:rPr>
              <a:t>次：</a:t>
            </a:r>
            <a:r>
              <a:rPr b="0" lang="en-US" sz="2000" spc="-1" strike="noStrike">
                <a:latin typeface="Arial"/>
              </a:rPr>
              <a:t>286.07</a:t>
            </a:r>
            <a:r>
              <a:rPr b="0" lang="zh-CN" sz="2000" spc="-1" strike="noStrike">
                <a:latin typeface="Arial"/>
              </a:rPr>
              <a:t>秒，验收通过，</a:t>
            </a:r>
            <a:r>
              <a:rPr b="0" lang="en-US" sz="2000" spc="-1" strike="noStrike">
                <a:latin typeface="Arial"/>
              </a:rPr>
              <a:t>Marker</a:t>
            </a:r>
            <a:r>
              <a:rPr b="0" lang="zh-CN" sz="2000" spc="-1" strike="noStrike">
                <a:latin typeface="Arial"/>
              </a:rPr>
              <a:t>误差</a:t>
            </a:r>
            <a:r>
              <a:rPr b="0" lang="en-US" sz="2000" spc="-1" strike="noStrike">
                <a:latin typeface="Arial"/>
              </a:rPr>
              <a:t>7.67–12.83 cm</a:t>
            </a:r>
            <a:r>
              <a:rPr b="0" lang="zh-CN" sz="2000" spc="-1" strike="noStrike">
                <a:latin typeface="Arial"/>
              </a:rPr>
              <a:t>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zh-CN" sz="2000" spc="-1" strike="noStrike">
                <a:latin typeface="Arial"/>
              </a:rPr>
              <a:t>最终分档</a:t>
            </a:r>
            <a:r>
              <a:rPr b="0" lang="en-US" sz="2000" spc="-1" strike="noStrike">
                <a:latin typeface="Arial"/>
              </a:rPr>
              <a:t>0.20</a:t>
            </a:r>
            <a:r>
              <a:rPr b="0" lang="zh-CN" sz="2000" spc="-1" strike="noStrike">
                <a:latin typeface="Arial"/>
              </a:rPr>
              <a:t>第</a:t>
            </a:r>
            <a:r>
              <a:rPr b="0" lang="en-US" sz="2000" spc="-1" strike="noStrike">
                <a:latin typeface="Arial"/>
              </a:rPr>
              <a:t>2</a:t>
            </a:r>
            <a:r>
              <a:rPr b="0" lang="zh-CN" sz="2000" spc="-1" strike="noStrike">
                <a:latin typeface="Arial"/>
              </a:rPr>
              <a:t>次：</a:t>
            </a:r>
            <a:r>
              <a:rPr b="0" lang="en-US" sz="2000" spc="-1" strike="noStrike">
                <a:latin typeface="Arial"/>
              </a:rPr>
              <a:t>288.32</a:t>
            </a:r>
            <a:r>
              <a:rPr b="0" lang="zh-CN" sz="2000" spc="-1" strike="noStrike">
                <a:latin typeface="Arial"/>
              </a:rPr>
              <a:t>秒，验收通过，</a:t>
            </a:r>
            <a:r>
              <a:rPr b="0" lang="en-US" sz="2000" spc="-1" strike="noStrike">
                <a:latin typeface="Arial"/>
              </a:rPr>
              <a:t>Marker</a:t>
            </a:r>
            <a:r>
              <a:rPr b="0" lang="zh-CN" sz="2000" spc="-1" strike="noStrike">
                <a:latin typeface="Arial"/>
              </a:rPr>
              <a:t>误差</a:t>
            </a:r>
            <a:r>
              <a:rPr b="0" lang="en-US" sz="2000" spc="-1" strike="noStrike">
                <a:latin typeface="Arial"/>
              </a:rPr>
              <a:t>4.41–6.83 cm</a:t>
            </a:r>
            <a:r>
              <a:rPr b="0" lang="zh-CN" sz="2000" spc="-1" strike="noStrike">
                <a:latin typeface="Arial"/>
              </a:rPr>
              <a:t>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zh-CN" sz="2000" spc="-1" strike="noStrike">
                <a:latin typeface="Arial"/>
              </a:rPr>
              <a:t>分档</a:t>
            </a:r>
            <a:r>
              <a:rPr b="0" lang="en-US" sz="2000" spc="-1" strike="noStrike">
                <a:latin typeface="Arial"/>
              </a:rPr>
              <a:t>0.24</a:t>
            </a:r>
            <a:r>
              <a:rPr b="0" lang="zh-CN" sz="2000" spc="-1" strike="noStrike">
                <a:latin typeface="Arial"/>
              </a:rPr>
              <a:t>：</a:t>
            </a:r>
            <a:r>
              <a:rPr b="0" lang="en-US" sz="2000" spc="-1" strike="noStrike">
                <a:latin typeface="Arial"/>
              </a:rPr>
              <a:t>296.84</a:t>
            </a:r>
            <a:r>
              <a:rPr b="0" lang="zh-CN" sz="2000" spc="-1" strike="noStrike">
                <a:latin typeface="Arial"/>
              </a:rPr>
              <a:t>秒，验收通过，但朝向对正耗时较多。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zh-CN" sz="2000" spc="-1" strike="noStrike">
                <a:latin typeface="Arial"/>
              </a:rPr>
              <a:t>全程</a:t>
            </a:r>
            <a:r>
              <a:rPr b="0" lang="en-US" sz="2000" spc="-1" strike="noStrike">
                <a:latin typeface="Arial"/>
              </a:rPr>
              <a:t>0.24</a:t>
            </a:r>
            <a:r>
              <a:rPr b="0" lang="zh-CN" sz="2000" spc="-1" strike="noStrike">
                <a:latin typeface="Arial"/>
              </a:rPr>
              <a:t>：失败，返航门洞触发激光保护，失败耗时不计提速成绩。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zh-CN" sz="2000" spc="-1" strike="noStrike">
                <a:latin typeface="Arial"/>
              </a:rPr>
              <a:t>分档</a:t>
            </a:r>
            <a:r>
              <a:rPr b="0" lang="en-US" sz="2000" spc="-1" strike="noStrike">
                <a:latin typeface="Arial"/>
              </a:rPr>
              <a:t>0.30</a:t>
            </a:r>
            <a:r>
              <a:rPr b="0" lang="zh-CN" sz="2000" spc="-1" strike="noStrike">
                <a:latin typeface="Arial"/>
              </a:rPr>
              <a:t>：失败，异常转向触发停车，失败耗时不计提速成绩。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zh-CN" sz="2000" spc="-1" strike="noStrike">
                <a:latin typeface="Arial"/>
              </a:rPr>
              <a:t>评价对象是包含观察与精细操作的完整任务耗时。一次基准和两次最终配置的样本有限，不足以判断普遍成功率、全局最优速度或统计显著性。</a:t>
            </a:r>
            <a:r>
              <a:rPr b="0" lang="en-US" sz="2000" spc="-1" strike="noStrike">
                <a:latin typeface="Arial"/>
              </a:rPr>
              <a:t>165</a:t>
            </a:r>
            <a:r>
              <a:rPr b="0" lang="zh-CN" sz="2000" spc="-1" strike="noStrike">
                <a:latin typeface="Arial"/>
              </a:rPr>
              <a:t>项回归通过是当时保留的历史验证记录，不称本次重新执行。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</p:txBody>
      </p:sp>
      <p:sp>
        <p:nvSpPr>
          <p:cNvPr id="347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F6114C7-FB3D-476E-A7A7-C46B19F73F96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34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## </a:t>
            </a:r>
            <a:r>
              <a:rPr b="0" lang="zh-CN" sz="2000" spc="-1" strike="noStrike">
                <a:latin typeface="Arial"/>
              </a:rPr>
              <a:t>第</a:t>
            </a:r>
            <a:r>
              <a:rPr b="0" lang="en-US" sz="2000" spc="-1" strike="noStrike">
                <a:latin typeface="Arial"/>
              </a:rPr>
              <a:t>22</a:t>
            </a:r>
            <a:r>
              <a:rPr b="0" lang="zh-CN" sz="2000" spc="-1" strike="noStrike">
                <a:latin typeface="Arial"/>
              </a:rPr>
              <a:t>页 备份</a:t>
            </a:r>
            <a:r>
              <a:rPr b="0" lang="en-US" sz="2000" spc="-1" strike="noStrike">
                <a:latin typeface="Arial"/>
              </a:rPr>
              <a:t>E</a:t>
            </a:r>
            <a:r>
              <a:rPr b="0" lang="zh-CN" sz="2000" spc="-1" strike="noStrike">
                <a:latin typeface="Arial"/>
              </a:rPr>
              <a:t>：视觉指标与确认条件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**</a:t>
            </a:r>
            <a:r>
              <a:rPr b="0" lang="zh-CN" sz="2000" spc="-1" strike="noStrike">
                <a:latin typeface="Arial"/>
              </a:rPr>
              <a:t>累计时间：问答备用</a:t>
            </a:r>
            <a:r>
              <a:rPr b="0" lang="en-US" sz="2000" spc="-1" strike="noStrike">
                <a:latin typeface="Arial"/>
              </a:rPr>
              <a:t>**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zh-CN" sz="2000" spc="-1" strike="noStrike">
                <a:latin typeface="Arial"/>
              </a:rPr>
              <a:t>模型合成验证：</a:t>
            </a:r>
            <a:r>
              <a:rPr b="0" lang="en-US" sz="2000" spc="-1" strike="noStrike">
                <a:latin typeface="Arial"/>
              </a:rPr>
              <a:t>160</a:t>
            </a:r>
            <a:r>
              <a:rPr b="0" lang="zh-CN" sz="2000" spc="-1" strike="noStrike">
                <a:latin typeface="Arial"/>
              </a:rPr>
              <a:t>张，</a:t>
            </a:r>
            <a:r>
              <a:rPr b="0" lang="en-US" sz="2000" spc="-1" strike="noStrike">
                <a:latin typeface="Arial"/>
              </a:rPr>
              <a:t>IoU≥0.50</a:t>
            </a:r>
            <a:r>
              <a:rPr b="0" lang="zh-CN" sz="2000" spc="-1" strike="noStrike">
                <a:latin typeface="Arial"/>
              </a:rPr>
              <a:t>，置信度</a:t>
            </a:r>
            <a:r>
              <a:rPr b="0" lang="en-US" sz="2000" spc="-1" strike="noStrike">
                <a:latin typeface="Arial"/>
              </a:rPr>
              <a:t>0.45</a:t>
            </a:r>
            <a:r>
              <a:rPr b="0" lang="zh-CN" sz="2000" spc="-1" strike="noStrike">
                <a:latin typeface="Arial"/>
              </a:rPr>
              <a:t>；</a:t>
            </a:r>
            <a:r>
              <a:rPr b="0" lang="en-US" sz="2000" spc="-1" strike="noStrike">
                <a:latin typeface="Arial"/>
              </a:rPr>
              <a:t>TP=131</a:t>
            </a:r>
            <a:r>
              <a:rPr b="0" lang="zh-CN" sz="2000" spc="-1" strike="noStrike">
                <a:latin typeface="Arial"/>
              </a:rPr>
              <a:t>、</a:t>
            </a:r>
            <a:r>
              <a:rPr b="0" lang="en-US" sz="2000" spc="-1" strike="noStrike">
                <a:latin typeface="Arial"/>
              </a:rPr>
              <a:t>FP=22</a:t>
            </a:r>
            <a:r>
              <a:rPr b="0" lang="zh-CN" sz="2000" spc="-1" strike="noStrike">
                <a:latin typeface="Arial"/>
              </a:rPr>
              <a:t>、漏检</a:t>
            </a:r>
            <a:r>
              <a:rPr b="0" lang="en-US" sz="2000" spc="-1" strike="noStrike">
                <a:latin typeface="Arial"/>
              </a:rPr>
              <a:t>=54</a:t>
            </a:r>
            <a:r>
              <a:rPr b="0" lang="zh-CN" sz="2000" spc="-1" strike="noStrike">
                <a:latin typeface="Arial"/>
              </a:rPr>
              <a:t>，</a:t>
            </a:r>
            <a:r>
              <a:rPr b="0" lang="en-US" sz="2000" spc="-1" strike="noStrike">
                <a:latin typeface="Arial"/>
              </a:rPr>
              <a:t>P=85.62%</a:t>
            </a:r>
            <a:r>
              <a:rPr b="0" lang="zh-CN" sz="2000" spc="-1" strike="noStrike">
                <a:latin typeface="Arial"/>
              </a:rPr>
              <a:t>、</a:t>
            </a:r>
            <a:r>
              <a:rPr b="0" lang="en-US" sz="2000" spc="-1" strike="noStrike">
                <a:latin typeface="Arial"/>
              </a:rPr>
              <a:t>R=70.81%</a:t>
            </a:r>
            <a:r>
              <a:rPr b="0" lang="zh-CN" sz="2000" spc="-1" strike="noStrike">
                <a:latin typeface="Arial"/>
              </a:rPr>
              <a:t>。</a:t>
            </a:r>
            <a:r>
              <a:rPr b="0" lang="en-US" sz="2000" spc="-1" strike="noStrike">
                <a:latin typeface="Arial"/>
              </a:rPr>
              <a:t>59</a:t>
            </a:r>
            <a:r>
              <a:rPr b="0" lang="zh-CN" sz="2000" spc="-1" strike="noStrike">
                <a:latin typeface="Arial"/>
              </a:rPr>
              <a:t>张无目标图中</a:t>
            </a:r>
            <a:r>
              <a:rPr b="0" lang="en-US" sz="2000" spc="-1" strike="noStrike">
                <a:latin typeface="Arial"/>
              </a:rPr>
              <a:t>2</a:t>
            </a:r>
            <a:r>
              <a:rPr b="0" lang="zh-CN" sz="2000" spc="-1" strike="noStrike">
                <a:latin typeface="Arial"/>
              </a:rPr>
              <a:t>张误报，图像级误报率</a:t>
            </a:r>
            <a:r>
              <a:rPr b="0" lang="en-US" sz="2000" spc="-1" strike="noStrike">
                <a:latin typeface="Arial"/>
              </a:rPr>
              <a:t>3.39%</a:t>
            </a:r>
            <a:r>
              <a:rPr b="0" lang="zh-CN" sz="2000" spc="-1" strike="noStrike">
                <a:latin typeface="Arial"/>
              </a:rPr>
              <a:t>。这些不是视频逐帧指标，也不是多级核验后整条工程链的准确率。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zh-CN" sz="2000" spc="-1" strike="noStrike">
                <a:latin typeface="Arial"/>
              </a:rPr>
              <a:t>走廊事件确认：同一目标连续三个空间关联处理帧。当前显示框、历史类别计数和任务确认事件分别处理。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zh-CN" sz="2000" spc="-1" strike="noStrike">
                <a:latin typeface="Arial"/>
              </a:rPr>
              <a:t>核心定位确认：至少四次有效观测，不要求连续。有效样本经过重投影、离群值筛选和位置融合。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zh-CN" sz="2000" spc="-1" strike="noStrike">
                <a:latin typeface="Arial"/>
              </a:rPr>
              <a:t>完整任务集齐五类与四个标签，只证明任务级确认完整，不能宣称逐帧零误报、零漏报或</a:t>
            </a:r>
            <a:r>
              <a:rPr b="0" lang="en-US" sz="2000" spc="-1" strike="noStrike">
                <a:latin typeface="Arial"/>
              </a:rPr>
              <a:t>100%</a:t>
            </a:r>
            <a:r>
              <a:rPr b="0" lang="zh-CN" sz="2000" spc="-1" strike="noStrike">
                <a:latin typeface="Arial"/>
              </a:rPr>
              <a:t>准确。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zh-CN" sz="2000" spc="-1" strike="noStrike">
                <a:latin typeface="Arial"/>
              </a:rPr>
              <a:t>红箱像素框来自独立箱体检测器，用于画面显示，不授予推障权限或直接控制导航。系统另有可配置的</a:t>
            </a:r>
            <a:r>
              <a:rPr b="0" lang="en-US" sz="2000" spc="-1" strike="noStrike">
                <a:latin typeface="Arial"/>
              </a:rPr>
              <a:t>SIFT/RANSAC/</a:t>
            </a:r>
            <a:r>
              <a:rPr b="0" lang="zh-CN" sz="2000" spc="-1" strike="noStrike">
                <a:latin typeface="Arial"/>
              </a:rPr>
              <a:t>颜色验证回退并告警，可配置禁用回退、缺权重即失败。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</p:txBody>
      </p:sp>
      <p:sp>
        <p:nvSpPr>
          <p:cNvPr id="350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98BA381-5C37-4DF5-BC9C-E8084ACE22BD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35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## </a:t>
            </a:r>
            <a:r>
              <a:rPr b="0" lang="zh-CN" sz="2000" spc="-1" strike="noStrike">
                <a:latin typeface="Arial"/>
              </a:rPr>
              <a:t>第</a:t>
            </a:r>
            <a:r>
              <a:rPr b="0" lang="en-US" sz="2000" spc="-1" strike="noStrike">
                <a:latin typeface="Arial"/>
              </a:rPr>
              <a:t>23</a:t>
            </a:r>
            <a:r>
              <a:rPr b="0" lang="zh-CN" sz="2000" spc="-1" strike="noStrike">
                <a:latin typeface="Arial"/>
              </a:rPr>
              <a:t>页 备份</a:t>
            </a:r>
            <a:r>
              <a:rPr b="0" lang="en-US" sz="2000" spc="-1" strike="noStrike">
                <a:latin typeface="Arial"/>
              </a:rPr>
              <a:t>F</a:t>
            </a:r>
            <a:r>
              <a:rPr b="0" lang="zh-CN" sz="2000" spc="-1" strike="noStrike">
                <a:latin typeface="Arial"/>
              </a:rPr>
              <a:t>：评委常见追问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**</a:t>
            </a:r>
            <a:r>
              <a:rPr b="0" lang="zh-CN" sz="2000" spc="-1" strike="noStrike">
                <a:latin typeface="Arial"/>
              </a:rPr>
              <a:t>累计时间：问答备用</a:t>
            </a:r>
            <a:r>
              <a:rPr b="0" lang="en-US" sz="2000" spc="-1" strike="noStrike">
                <a:latin typeface="Arial"/>
              </a:rPr>
              <a:t>**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zh-CN" sz="2000" spc="-1" strike="noStrike">
                <a:latin typeface="Arial"/>
              </a:rPr>
              <a:t>为何不是固定运动轨迹？</a:t>
            </a:r>
            <a:r>
              <a:rPr b="0" lang="en-US" sz="2000" spc="-1" strike="noStrike">
                <a:latin typeface="Arial"/>
              </a:rPr>
              <a:t>YAML</a:t>
            </a:r>
            <a:r>
              <a:rPr b="0" lang="zh-CN" sz="2000" spc="-1" strike="noStrike">
                <a:latin typeface="Arial"/>
              </a:rPr>
              <a:t>配置任务目标，</a:t>
            </a:r>
            <a:r>
              <a:rPr b="0" lang="en-US" sz="2000" spc="-1" strike="noStrike">
                <a:latin typeface="Arial"/>
              </a:rPr>
              <a:t>Nav2</a:t>
            </a:r>
            <a:r>
              <a:rPr b="0" lang="zh-CN" sz="2000" spc="-1" strike="noStrike">
                <a:latin typeface="Arial"/>
              </a:rPr>
              <a:t>根据当前地图规划路径，状态机等待到点和视觉确认；当前验证有场地先验，不宣称未知场景探索。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zh-CN" sz="2000" spc="-1" strike="noStrike">
                <a:latin typeface="Arial"/>
              </a:rPr>
              <a:t>如何证明实体推障？展示</a:t>
            </a:r>
            <a:r>
              <a:rPr b="0" lang="en-US" sz="2000" spc="-1" strike="noStrike">
                <a:latin typeface="Arial"/>
              </a:rPr>
              <a:t>2 kg</a:t>
            </a:r>
            <a:r>
              <a:rPr b="0" lang="zh-CN" sz="2000" spc="-1" strike="noStrike">
                <a:latin typeface="Arial"/>
              </a:rPr>
              <a:t>动态箱体、真实接触推进画面及同次独立位移记录。控制是里程计闭环，暂未使用接触力传感器。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zh-CN" sz="2000" spc="-1" strike="noStrike">
                <a:latin typeface="Arial"/>
              </a:rPr>
              <a:t>清地图会不会忽略障碍？清理区域有边界并排除固定墙体，同栅格需三次不同时间戳的自由证据，实时障碍层继续记录新位置。当前地图图展示原始栅格与允许区，不是实测前后对照。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zh-CN" sz="2000" spc="-1" strike="noStrike">
                <a:latin typeface="Arial"/>
              </a:rPr>
              <a:t>云台更新了什么？模型增加对应的安装板、支柱、回转座等结构表达，相机由既有竖直旋转关节驱动，实际关节角参与</a:t>
            </a:r>
            <a:r>
              <a:rPr b="0" lang="en-US" sz="2000" spc="-1" strike="noStrike">
                <a:latin typeface="Arial"/>
              </a:rPr>
              <a:t>TF</a:t>
            </a:r>
            <a:r>
              <a:rPr b="0" lang="zh-CN" sz="2000" spc="-1" strike="noStrike">
                <a:latin typeface="Arial"/>
              </a:rPr>
              <a:t>。</a:t>
            </a:r>
            <a:r>
              <a:rPr b="0" lang="en-US" sz="2000" spc="-1" strike="noStrike">
                <a:latin typeface="Arial"/>
              </a:rPr>
              <a:t>PPT</a:t>
            </a:r>
            <a:r>
              <a:rPr b="0" lang="zh-CN" sz="2000" spc="-1" strike="noStrike">
                <a:latin typeface="Arial"/>
              </a:rPr>
              <a:t>图片与当前模型对应，不称增加了未经实现的俯仰轴。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zh-CN" sz="2000" spc="-1" strike="noStrike">
                <a:latin typeface="Arial"/>
              </a:rPr>
              <a:t>为何不宣称基础算法原创？</a:t>
            </a:r>
            <a:r>
              <a:rPr b="0" lang="en-US" sz="2000" spc="-1" strike="noStrike">
                <a:latin typeface="Arial"/>
              </a:rPr>
              <a:t>ROS</a:t>
            </a:r>
            <a:r>
              <a:rPr b="0" lang="zh-CN" sz="2000" spc="-1" strike="noStrike">
                <a:latin typeface="Arial"/>
              </a:rPr>
              <a:t>、</a:t>
            </a:r>
            <a:r>
              <a:rPr b="0" lang="en-US" sz="2000" spc="-1" strike="noStrike">
                <a:latin typeface="Arial"/>
              </a:rPr>
              <a:t>Gazebo</a:t>
            </a:r>
            <a:r>
              <a:rPr b="0" lang="zh-CN" sz="2000" spc="-1" strike="noStrike">
                <a:latin typeface="Arial"/>
              </a:rPr>
              <a:t>、</a:t>
            </a:r>
            <a:r>
              <a:rPr b="0" lang="en-US" sz="2000" spc="-1" strike="noStrike">
                <a:latin typeface="Arial"/>
              </a:rPr>
              <a:t>Nav2</a:t>
            </a:r>
            <a:r>
              <a:rPr b="0" lang="zh-CN" sz="2000" spc="-1" strike="noStrike">
                <a:latin typeface="Arial"/>
              </a:rPr>
              <a:t>、</a:t>
            </a:r>
            <a:r>
              <a:rPr b="0" lang="en-US" sz="2000" spc="-1" strike="noStrike">
                <a:latin typeface="Arial"/>
              </a:rPr>
              <a:t>YOLOv5</a:t>
            </a:r>
            <a:r>
              <a:rPr b="0" lang="zh-CN" sz="2000" spc="-1" strike="noStrike">
                <a:latin typeface="Arial"/>
              </a:rPr>
              <a:t>、</a:t>
            </a:r>
            <a:r>
              <a:rPr b="0" lang="en-US" sz="2000" spc="-1" strike="noStrike">
                <a:latin typeface="Arial"/>
              </a:rPr>
              <a:t>AprilTag</a:t>
            </a:r>
            <a:r>
              <a:rPr b="0" lang="zh-CN" sz="2000" spc="-1" strike="noStrike">
                <a:latin typeface="Arial"/>
              </a:rPr>
              <a:t>等明确第三方归属，团队贡献落在场景、机构、核验、接触约束、任务控制与验收实现。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zh-CN" sz="2000" spc="-1" strike="noStrike">
                <a:latin typeface="Arial"/>
              </a:rPr>
              <a:t>如何复现？</a:t>
            </a:r>
            <a:r>
              <a:rPr b="0" lang="en-US" sz="2000" spc="-1" strike="noStrike">
                <a:latin typeface="Arial"/>
              </a:rPr>
              <a:t>Ubuntu 22.04</a:t>
            </a:r>
            <a:r>
              <a:rPr b="0" lang="zh-CN" sz="2000" spc="-1" strike="noStrike">
                <a:latin typeface="Arial"/>
              </a:rPr>
              <a:t>、</a:t>
            </a:r>
            <a:r>
              <a:rPr b="0" lang="en-US" sz="2000" spc="-1" strike="noStrike">
                <a:latin typeface="Arial"/>
              </a:rPr>
              <a:t>ROS 2 Humble</a:t>
            </a:r>
            <a:r>
              <a:rPr b="0" lang="zh-CN" sz="2000" spc="-1" strike="noStrike">
                <a:latin typeface="Arial"/>
              </a:rPr>
              <a:t>、</a:t>
            </a:r>
            <a:r>
              <a:rPr b="0" lang="en-US" sz="2000" spc="-1" strike="noStrike">
                <a:latin typeface="Arial"/>
              </a:rPr>
              <a:t>Gazebo 11</a:t>
            </a:r>
            <a:r>
              <a:rPr b="0" lang="zh-CN" sz="2000" spc="-1" strike="noStrike">
                <a:latin typeface="Arial"/>
              </a:rPr>
              <a:t>，一键</a:t>
            </a:r>
            <a:r>
              <a:rPr b="0" lang="en-US" sz="2000" spc="-1" strike="noStrike">
                <a:latin typeface="Arial"/>
              </a:rPr>
              <a:t>start.sh</a:t>
            </a:r>
            <a:r>
              <a:rPr b="0" lang="zh-CN" sz="2000" spc="-1" strike="noStrike">
                <a:latin typeface="Arial"/>
              </a:rPr>
              <a:t>与独立</a:t>
            </a:r>
            <a:r>
              <a:rPr b="0" lang="en-US" sz="2000" spc="-1" strike="noStrike">
                <a:latin typeface="Arial"/>
              </a:rPr>
              <a:t>YAML</a:t>
            </a:r>
            <a:r>
              <a:rPr b="0" lang="zh-CN" sz="2000" spc="-1" strike="noStrike">
                <a:latin typeface="Arial"/>
              </a:rPr>
              <a:t>配置。跨场景泛化与真实灾害场景效果尚未评估。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</p:txBody>
      </p:sp>
      <p:sp>
        <p:nvSpPr>
          <p:cNvPr id="353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BF0416B-0C3F-4370-8706-3F2A532CF2C7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5DE84BA-03F6-4929-B8AC-361A24E6800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6843D38-6F8B-42B3-A680-B063AB266F4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F4C4448-5FF2-4BAD-B8E3-3531489E6CE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24FD04C-BC11-4C81-B64F-BE121FF4480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FC1EB55-9664-46A3-9A7A-ED9D522E17B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A2BD6FA-1978-4EA3-B7AE-D2A04AB8009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AA61009-396E-449A-9331-8C1F6F7A7FC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AAF068E-BBCA-4BFB-A4C0-A84BFFAF918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2281F48-1E36-4BF3-8B72-3E0E0C5CC15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03B0837-EDB0-4F58-A010-7232A213845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345998D-D223-4D45-9A39-11314AC26F34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9F8FEF3-C78E-48BC-885A-9C942607D9BA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&lt;date/time&gt;</a:t>
            </a:r>
            <a:endParaRPr b="0" lang="en-US" sz="12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53E7BEA-F11F-445D-BC9D-377B4FD57F04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video" Target="file:///home/c/AVS/avs_ws/submission/B09018834.mp4" TargetMode="External"/><Relationship Id="rId2" Type="http://schemas.microsoft.com/office/2007/relationships/media" Target="file:///home/c/AVS/avs_ws/submission/B09018834.mp4" TargetMode="External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image" Target="../media/image2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image" Target="../media/image2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image" Target="../media/image26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2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1"/>
          <p:cNvSpPr/>
          <p:nvPr/>
        </p:nvSpPr>
        <p:spPr>
          <a:xfrm>
            <a:off x="311040" y="164520"/>
            <a:ext cx="11566800" cy="50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1" lang="zh-CN" sz="3100" spc="-1" strike="noStrike">
                <a:solidFill>
                  <a:srgbClr val="f4f7fc"/>
                </a:solidFill>
                <a:latin typeface="Noto Sans CJK SC"/>
              </a:rPr>
              <a:t>救援无人车仿真系统</a:t>
            </a:r>
            <a:endParaRPr b="0" lang="en-US" sz="3100" spc="-1" strike="noStrike">
              <a:latin typeface="Arial"/>
            </a:endParaRPr>
          </a:p>
        </p:txBody>
      </p:sp>
      <p:sp>
        <p:nvSpPr>
          <p:cNvPr id="48" name="TextBox 2"/>
          <p:cNvSpPr/>
          <p:nvPr/>
        </p:nvSpPr>
        <p:spPr>
          <a:xfrm>
            <a:off x="320040" y="786240"/>
            <a:ext cx="11521080" cy="29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0" lang="zh-CN" sz="1800" spc="-1" strike="noStrike">
                <a:solidFill>
                  <a:srgbClr val="b8c7dc"/>
                </a:solidFill>
                <a:latin typeface="Noto Sans CJK SC"/>
              </a:rPr>
              <a:t>第十九届先进机器人及仿真技术大赛 </a:t>
            </a:r>
            <a:r>
              <a:rPr b="0" lang="en-US" sz="1800" spc="-1" strike="noStrike">
                <a:solidFill>
                  <a:srgbClr val="b8c7dc"/>
                </a:solidFill>
                <a:latin typeface="Noto Sans CJK SC"/>
              </a:rPr>
              <a:t>· </a:t>
            </a:r>
            <a:r>
              <a:rPr b="0" lang="zh-CN" sz="1800" spc="-1" strike="noStrike">
                <a:solidFill>
                  <a:srgbClr val="b8c7dc"/>
                </a:solidFill>
                <a:latin typeface="Noto Sans CJK SC"/>
              </a:rPr>
              <a:t>无人车仿真组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49" name="Rectangle 3"/>
          <p:cNvSpPr/>
          <p:nvPr/>
        </p:nvSpPr>
        <p:spPr>
          <a:xfrm>
            <a:off x="320040" y="6492240"/>
            <a:ext cx="11548440" cy="12600"/>
          </a:xfrm>
          <a:prstGeom prst="rect">
            <a:avLst/>
          </a:prstGeom>
          <a:solidFill>
            <a:srgbClr val="3b4c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0" name="TextBox 4"/>
          <p:cNvSpPr/>
          <p:nvPr/>
        </p:nvSpPr>
        <p:spPr>
          <a:xfrm>
            <a:off x="320040" y="6565320"/>
            <a:ext cx="10972440" cy="16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0" lang="zh-CN" sz="1020" spc="-1" strike="noStrike">
                <a:solidFill>
                  <a:srgbClr val="b8c7dc"/>
                </a:solidFill>
                <a:latin typeface="Noto Sans CJK SC"/>
              </a:rPr>
              <a:t>车辆结构：当前 </a:t>
            </a:r>
            <a:r>
              <a:rPr b="0" lang="en-US" sz="1020" spc="-1" strike="noStrike">
                <a:solidFill>
                  <a:srgbClr val="b8c7dc"/>
                </a:solidFill>
                <a:latin typeface="Noto Sans CJK SC"/>
              </a:rPr>
              <a:t>SDF </a:t>
            </a:r>
            <a:r>
              <a:rPr b="0" lang="zh-CN" sz="1020" spc="-1" strike="noStrike">
                <a:solidFill>
                  <a:srgbClr val="b8c7dc"/>
                </a:solidFill>
                <a:latin typeface="Noto Sans CJK SC"/>
              </a:rPr>
              <a:t>几何渲染，与 </a:t>
            </a:r>
            <a:r>
              <a:rPr b="0" lang="en-US" sz="1020" spc="-1" strike="noStrike">
                <a:solidFill>
                  <a:srgbClr val="b8c7dc"/>
                </a:solidFill>
                <a:latin typeface="Noto Sans CJK SC"/>
              </a:rPr>
              <a:t>URDF </a:t>
            </a:r>
            <a:r>
              <a:rPr b="0" lang="zh-CN" sz="1020" spc="-1" strike="noStrike">
                <a:solidFill>
                  <a:srgbClr val="b8c7dc"/>
                </a:solidFill>
                <a:latin typeface="Noto Sans CJK SC"/>
              </a:rPr>
              <a:t>可视结构对应。</a:t>
            </a:r>
            <a:endParaRPr b="0" lang="en-US" sz="1020" spc="-1" strike="noStrike">
              <a:latin typeface="Arial"/>
            </a:endParaRPr>
          </a:p>
        </p:txBody>
      </p:sp>
      <p:sp>
        <p:nvSpPr>
          <p:cNvPr id="51" name="TextBox 5"/>
          <p:cNvSpPr/>
          <p:nvPr/>
        </p:nvSpPr>
        <p:spPr>
          <a:xfrm>
            <a:off x="11421000" y="6537960"/>
            <a:ext cx="411120" cy="1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7000"/>
              </a:lnSpc>
              <a:spcAft>
                <a:spcPts val="400"/>
              </a:spcAft>
              <a:buNone/>
            </a:pPr>
            <a:r>
              <a:rPr b="1" lang="en-US" sz="1200" spc="-1" strike="noStrike">
                <a:solidFill>
                  <a:srgbClr val="42d5bb"/>
                </a:solidFill>
                <a:latin typeface="Noto Sans CJK SC"/>
              </a:rPr>
              <a:t>01</a:t>
            </a:r>
            <a:endParaRPr b="0" lang="en-US" sz="1200" spc="-1" strike="noStrike">
              <a:latin typeface="Arial"/>
            </a:endParaRPr>
          </a:p>
        </p:txBody>
      </p:sp>
      <p:pic>
        <p:nvPicPr>
          <p:cNvPr id="52" name="Picture 6" descr="vehicle_model.png"/>
          <p:cNvPicPr/>
          <p:nvPr/>
        </p:nvPicPr>
        <p:blipFill>
          <a:blip r:embed="rId1"/>
          <a:stretch/>
        </p:blipFill>
        <p:spPr>
          <a:xfrm>
            <a:off x="4617720" y="1239120"/>
            <a:ext cx="7223400" cy="5056200"/>
          </a:xfrm>
          <a:prstGeom prst="rect">
            <a:avLst/>
          </a:prstGeom>
          <a:ln w="0">
            <a:noFill/>
          </a:ln>
        </p:spPr>
      </p:pic>
      <p:sp>
        <p:nvSpPr>
          <p:cNvPr id="53" name="TextBox 7"/>
          <p:cNvSpPr/>
          <p:nvPr/>
        </p:nvSpPr>
        <p:spPr>
          <a:xfrm>
            <a:off x="502920" y="1600200"/>
            <a:ext cx="5120280" cy="99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1" lang="zh-CN" sz="2900" spc="-1" strike="noStrike">
                <a:solidFill>
                  <a:srgbClr val="f4f7fc"/>
                </a:solidFill>
                <a:latin typeface="Noto Sans CJK SC"/>
              </a:rPr>
              <a:t>巡检 </a:t>
            </a:r>
            <a:r>
              <a:rPr b="1" lang="en-US" sz="2900" spc="-1" strike="noStrike">
                <a:solidFill>
                  <a:srgbClr val="f4f7fc"/>
                </a:solidFill>
                <a:latin typeface="Noto Sans CJK SC"/>
              </a:rPr>
              <a:t>· </a:t>
            </a:r>
            <a:r>
              <a:rPr b="1" lang="zh-CN" sz="2900" spc="-1" strike="noStrike">
                <a:solidFill>
                  <a:srgbClr val="f4f7fc"/>
                </a:solidFill>
                <a:latin typeface="Noto Sans CJK SC"/>
              </a:rPr>
              <a:t>实体清障</a:t>
            </a:r>
            <a:endParaRPr b="0" lang="en-US" sz="2900" spc="-1" strike="noStrike">
              <a:latin typeface="Arial"/>
            </a:endParaRPr>
          </a:p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1" lang="zh-CN" sz="2900" spc="-1" strike="noStrike">
                <a:solidFill>
                  <a:srgbClr val="f4f7fc"/>
                </a:solidFill>
                <a:latin typeface="Noto Sans CJK SC"/>
              </a:rPr>
              <a:t>地图标定 </a:t>
            </a:r>
            <a:r>
              <a:rPr b="1" lang="en-US" sz="2900" spc="-1" strike="noStrike">
                <a:solidFill>
                  <a:srgbClr val="f4f7fc"/>
                </a:solidFill>
                <a:latin typeface="Noto Sans CJK SC"/>
              </a:rPr>
              <a:t>· </a:t>
            </a:r>
            <a:r>
              <a:rPr b="1" lang="zh-CN" sz="2900" spc="-1" strike="noStrike">
                <a:solidFill>
                  <a:srgbClr val="f4f7fc"/>
                </a:solidFill>
                <a:latin typeface="Noto Sans CJK SC"/>
              </a:rPr>
              <a:t>自主返航</a:t>
            </a:r>
            <a:endParaRPr b="0" lang="en-US" sz="2900" spc="-1" strike="noStrike">
              <a:latin typeface="Arial"/>
            </a:endParaRPr>
          </a:p>
        </p:txBody>
      </p:sp>
      <p:sp>
        <p:nvSpPr>
          <p:cNvPr id="54" name="TextBox 8"/>
          <p:cNvSpPr/>
          <p:nvPr/>
        </p:nvSpPr>
        <p:spPr>
          <a:xfrm>
            <a:off x="502920" y="3246120"/>
            <a:ext cx="5303160" cy="39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1" lang="en-US" sz="2400" spc="-1" strike="noStrike">
                <a:solidFill>
                  <a:srgbClr val="42d5bb"/>
                </a:solidFill>
                <a:latin typeface="Noto Sans CJK SC"/>
              </a:rPr>
              <a:t>Simulator  /  B09018834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55" name="TextBox 9"/>
          <p:cNvSpPr/>
          <p:nvPr/>
        </p:nvSpPr>
        <p:spPr>
          <a:xfrm>
            <a:off x="502920" y="3977640"/>
            <a:ext cx="5120280" cy="108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0" lang="zh-CN" sz="2000" spc="-1" strike="noStrike">
                <a:solidFill>
                  <a:srgbClr val="b8c7dc"/>
                </a:solidFill>
                <a:latin typeface="Noto Sans CJK SC"/>
              </a:rPr>
              <a:t>队长  陈莎莎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0" lang="zh-CN" sz="2000" spc="-1" strike="noStrike">
                <a:solidFill>
                  <a:srgbClr val="b8c7dc"/>
                </a:solidFill>
                <a:latin typeface="Noto Sans CJK SC"/>
              </a:rPr>
              <a:t>队员  梁辰瑜、赖丽燕、初冉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0" lang="zh-CN" sz="2000" spc="-1" strike="noStrike">
                <a:solidFill>
                  <a:srgbClr val="b8c7dc"/>
                </a:solidFill>
                <a:latin typeface="Noto Sans CJK SC"/>
              </a:rPr>
              <a:t>指导教师  邓彦松</a:t>
            </a:r>
            <a:endParaRPr b="0" lang="en-US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extBox 1"/>
          <p:cNvSpPr/>
          <p:nvPr/>
        </p:nvSpPr>
        <p:spPr>
          <a:xfrm>
            <a:off x="311040" y="164520"/>
            <a:ext cx="11566800" cy="50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1" lang="zh-CN" sz="3100" spc="-1" strike="noStrike">
                <a:solidFill>
                  <a:srgbClr val="f4f7fc"/>
                </a:solidFill>
                <a:latin typeface="Noto Sans CJK SC"/>
              </a:rPr>
              <a:t>自建厂区：走廊巡检 → 清障入室 → 标定 → 返航</a:t>
            </a:r>
            <a:endParaRPr b="0" lang="en-US" sz="3100" spc="-1" strike="noStrike">
              <a:latin typeface="Arial"/>
            </a:endParaRPr>
          </a:p>
        </p:txBody>
      </p:sp>
      <p:sp>
        <p:nvSpPr>
          <p:cNvPr id="57" name="TextBox 2"/>
          <p:cNvSpPr/>
          <p:nvPr/>
        </p:nvSpPr>
        <p:spPr>
          <a:xfrm>
            <a:off x="320040" y="786240"/>
            <a:ext cx="11521080" cy="29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0" lang="zh-CN" sz="1800" spc="-1" strike="noStrike">
                <a:solidFill>
                  <a:srgbClr val="b8c7dc"/>
                </a:solidFill>
                <a:latin typeface="Noto Sans CJK SC"/>
              </a:rPr>
              <a:t>本队场地 </a:t>
            </a:r>
            <a:r>
              <a:rPr b="0" lang="en-US" sz="1800" spc="-1" strike="noStrike">
                <a:solidFill>
                  <a:srgbClr val="b8c7dc"/>
                </a:solidFill>
                <a:latin typeface="Noto Sans CJK SC"/>
              </a:rPr>
              <a:t>3 × 3 m</a:t>
            </a:r>
            <a:r>
              <a:rPr b="0" lang="zh-CN" sz="1800" spc="-1" strike="noStrike">
                <a:solidFill>
                  <a:srgbClr val="b8c7dc"/>
                </a:solidFill>
                <a:latin typeface="Noto Sans CJK SC"/>
              </a:rPr>
              <a:t>，入口宽 </a:t>
            </a:r>
            <a:r>
              <a:rPr b="0" lang="en-US" sz="1800" spc="-1" strike="noStrike">
                <a:solidFill>
                  <a:srgbClr val="b8c7dc"/>
                </a:solidFill>
                <a:latin typeface="Noto Sans CJK SC"/>
              </a:rPr>
              <a:t>0.50 m</a:t>
            </a:r>
            <a:r>
              <a:rPr b="0" lang="zh-CN" sz="1800" spc="-1" strike="noStrike">
                <a:solidFill>
                  <a:srgbClr val="b8c7dc"/>
                </a:solidFill>
                <a:latin typeface="Noto Sans CJK SC"/>
              </a:rPr>
              <a:t>；九块标识图案各不相同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8" name="Rectangle 3"/>
          <p:cNvSpPr/>
          <p:nvPr/>
        </p:nvSpPr>
        <p:spPr>
          <a:xfrm>
            <a:off x="320040" y="6492240"/>
            <a:ext cx="11548440" cy="12600"/>
          </a:xfrm>
          <a:prstGeom prst="rect">
            <a:avLst/>
          </a:prstGeom>
          <a:solidFill>
            <a:srgbClr val="3b4c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9" name="TextBox 4"/>
          <p:cNvSpPr/>
          <p:nvPr/>
        </p:nvSpPr>
        <p:spPr>
          <a:xfrm>
            <a:off x="320040" y="6565320"/>
            <a:ext cx="10972440" cy="16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0" lang="zh-CN" sz="1020" spc="-1" strike="noStrike">
                <a:solidFill>
                  <a:srgbClr val="b8c7dc"/>
                </a:solidFill>
                <a:latin typeface="Noto Sans CJK SC"/>
              </a:rPr>
              <a:t>图：</a:t>
            </a:r>
            <a:r>
              <a:rPr b="0" lang="en-US" sz="1020" spc="-1" strike="noStrike">
                <a:solidFill>
                  <a:srgbClr val="b8c7dc"/>
                </a:solidFill>
                <a:latin typeface="Noto Sans CJK SC"/>
              </a:rPr>
              <a:t>2026-10-13 </a:t>
            </a:r>
            <a:r>
              <a:rPr b="0" lang="zh-CN" sz="1020" spc="-1" strike="noStrike">
                <a:solidFill>
                  <a:srgbClr val="b8c7dc"/>
                </a:solidFill>
                <a:latin typeface="Noto Sans CJK SC"/>
              </a:rPr>
              <a:t>同次 </a:t>
            </a:r>
            <a:r>
              <a:rPr b="0" lang="en-US" sz="1020" spc="-1" strike="noStrike">
                <a:solidFill>
                  <a:srgbClr val="b8c7dc"/>
                </a:solidFill>
                <a:latin typeface="Noto Sans CJK SC"/>
              </a:rPr>
              <a:t>Gazebo </a:t>
            </a:r>
            <a:r>
              <a:rPr b="0" lang="zh-CN" sz="1020" spc="-1" strike="noStrike">
                <a:solidFill>
                  <a:srgbClr val="b8c7dc"/>
                </a:solidFill>
                <a:latin typeface="Noto Sans CJK SC"/>
              </a:rPr>
              <a:t>录屏及独立 </a:t>
            </a:r>
            <a:r>
              <a:rPr b="0" lang="en-US" sz="1020" spc="-1" strike="noStrike">
                <a:solidFill>
                  <a:srgbClr val="b8c7dc"/>
                </a:solidFill>
                <a:latin typeface="Noto Sans CJK SC"/>
              </a:rPr>
              <a:t>slam_toolbox </a:t>
            </a:r>
            <a:r>
              <a:rPr b="0" lang="zh-CN" sz="1020" spc="-1" strike="noStrike">
                <a:solidFill>
                  <a:srgbClr val="b8c7dc"/>
                </a:solidFill>
                <a:latin typeface="Noto Sans CJK SC"/>
              </a:rPr>
              <a:t>留档；评分见本地 </a:t>
            </a:r>
            <a:r>
              <a:rPr b="0" lang="en-US" sz="1020" spc="-1" strike="noStrike">
                <a:solidFill>
                  <a:srgbClr val="b8c7dc"/>
                </a:solidFill>
                <a:latin typeface="Noto Sans CJK SC"/>
              </a:rPr>
              <a:t>B09 </a:t>
            </a:r>
            <a:r>
              <a:rPr b="0" lang="zh-CN" sz="1020" spc="-1" strike="noStrike">
                <a:solidFill>
                  <a:srgbClr val="b8c7dc"/>
                </a:solidFill>
                <a:latin typeface="Noto Sans CJK SC"/>
              </a:rPr>
              <a:t>规则。</a:t>
            </a:r>
            <a:endParaRPr b="0" lang="en-US" sz="1020" spc="-1" strike="noStrike">
              <a:latin typeface="Arial"/>
            </a:endParaRPr>
          </a:p>
        </p:txBody>
      </p:sp>
      <p:sp>
        <p:nvSpPr>
          <p:cNvPr id="60" name="TextBox 5"/>
          <p:cNvSpPr/>
          <p:nvPr/>
        </p:nvSpPr>
        <p:spPr>
          <a:xfrm>
            <a:off x="11421000" y="6537960"/>
            <a:ext cx="411120" cy="1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7000"/>
              </a:lnSpc>
              <a:spcAft>
                <a:spcPts val="400"/>
              </a:spcAft>
              <a:buNone/>
            </a:pPr>
            <a:r>
              <a:rPr b="1" lang="en-US" sz="1200" spc="-1" strike="noStrike">
                <a:solidFill>
                  <a:srgbClr val="42d5bb"/>
                </a:solidFill>
                <a:latin typeface="Noto Sans CJK SC"/>
              </a:rPr>
              <a:t>02</a:t>
            </a:r>
            <a:endParaRPr b="0" lang="en-US" sz="1200" spc="-1" strike="noStrike">
              <a:latin typeface="Arial"/>
            </a:endParaRPr>
          </a:p>
        </p:txBody>
      </p:sp>
      <p:pic>
        <p:nvPicPr>
          <p:cNvPr id="61" name="Picture 6" descr="scene.png"/>
          <p:cNvPicPr/>
          <p:nvPr/>
        </p:nvPicPr>
        <p:blipFill>
          <a:blip r:embed="rId1"/>
          <a:stretch/>
        </p:blipFill>
        <p:spPr>
          <a:xfrm>
            <a:off x="320040" y="1646280"/>
            <a:ext cx="6510240" cy="3656520"/>
          </a:xfrm>
          <a:prstGeom prst="rect">
            <a:avLst/>
          </a:prstGeom>
          <a:ln w="0">
            <a:noFill/>
          </a:ln>
        </p:spPr>
      </p:pic>
      <p:pic>
        <p:nvPicPr>
          <p:cNvPr id="62" name="Picture 7" descr="slam_map.png"/>
          <p:cNvPicPr/>
          <p:nvPr/>
        </p:nvPicPr>
        <p:blipFill>
          <a:blip r:embed="rId2"/>
          <a:stretch/>
        </p:blipFill>
        <p:spPr>
          <a:xfrm>
            <a:off x="7370280" y="1225440"/>
            <a:ext cx="4150440" cy="4498560"/>
          </a:xfrm>
          <a:prstGeom prst="rect">
            <a:avLst/>
          </a:prstGeom>
          <a:ln w="0">
            <a:noFill/>
          </a:ln>
        </p:spPr>
      </p:pic>
      <p:sp>
        <p:nvSpPr>
          <p:cNvPr id="63" name="TextBox 8"/>
          <p:cNvSpPr/>
          <p:nvPr/>
        </p:nvSpPr>
        <p:spPr>
          <a:xfrm>
            <a:off x="548640" y="5715000"/>
            <a:ext cx="6126120" cy="39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7000"/>
              </a:lnSpc>
              <a:spcAft>
                <a:spcPts val="400"/>
              </a:spcAft>
              <a:buNone/>
            </a:pPr>
            <a:r>
              <a:rPr b="1" lang="zh-CN" sz="2400" spc="-1" strike="noStrike">
                <a:solidFill>
                  <a:srgbClr val="42d5bb"/>
                </a:solidFill>
                <a:latin typeface="Noto Sans CJK SC"/>
              </a:rPr>
              <a:t>自建 </a:t>
            </a:r>
            <a:r>
              <a:rPr b="1" lang="en-US" sz="2400" spc="-1" strike="noStrike">
                <a:solidFill>
                  <a:srgbClr val="42d5bb"/>
                </a:solidFill>
                <a:latin typeface="Noto Sans CJK SC"/>
              </a:rPr>
              <a:t>Gazebo </a:t>
            </a:r>
            <a:r>
              <a:rPr b="1" lang="zh-CN" sz="2400" spc="-1" strike="noStrike">
                <a:solidFill>
                  <a:srgbClr val="42d5bb"/>
                </a:solidFill>
                <a:latin typeface="Noto Sans CJK SC"/>
              </a:rPr>
              <a:t>场景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64" name="TextBox 9"/>
          <p:cNvSpPr/>
          <p:nvPr/>
        </p:nvSpPr>
        <p:spPr>
          <a:xfrm>
            <a:off x="7086600" y="5715000"/>
            <a:ext cx="4727160" cy="39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7000"/>
              </a:lnSpc>
              <a:spcAft>
                <a:spcPts val="400"/>
              </a:spcAft>
              <a:buNone/>
            </a:pPr>
            <a:r>
              <a:rPr b="1" lang="zh-CN" sz="2400" spc="-1" strike="noStrike">
                <a:solidFill>
                  <a:srgbClr val="42d5bb"/>
                </a:solidFill>
                <a:latin typeface="Noto Sans CJK SC"/>
              </a:rPr>
              <a:t>在线 </a:t>
            </a:r>
            <a:r>
              <a:rPr b="1" lang="en-US" sz="2400" spc="-1" strike="noStrike">
                <a:solidFill>
                  <a:srgbClr val="42d5bb"/>
                </a:solidFill>
                <a:latin typeface="Noto Sans CJK SC"/>
              </a:rPr>
              <a:t>SLAM </a:t>
            </a:r>
            <a:r>
              <a:rPr b="1" lang="zh-CN" sz="2400" spc="-1" strike="noStrike">
                <a:solidFill>
                  <a:srgbClr val="42d5bb"/>
                </a:solidFill>
                <a:latin typeface="Noto Sans CJK SC"/>
              </a:rPr>
              <a:t>地图留档</a:t>
            </a: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" descr="">
            <a:hlinkClick r:id="" action="ppaction://media"/>
          </p:cNvPr>
          <p:cNvPicPr/>
          <p:nvPr>
            <a:videoFile r:link="rId1"/>
            <p:extLst>
              <p:ext uri="{DAA4B4D4-6D71-4841-9C94-3DE7FCFB9230}">
                <p14:media r:link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360" y="0"/>
            <a:ext cx="12192120" cy="6858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/>
          <p:nvPr/>
        </p:nvSpPr>
        <p:spPr>
          <a:xfrm>
            <a:off x="311040" y="164520"/>
            <a:ext cx="11566800" cy="50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1" lang="zh-CN" sz="3100" spc="-1" strike="noStrike">
                <a:solidFill>
                  <a:srgbClr val="f4f7fc"/>
                </a:solidFill>
                <a:latin typeface="Noto Sans CJK SC"/>
              </a:rPr>
              <a:t>新版云台与被动 </a:t>
            </a:r>
            <a:r>
              <a:rPr b="1" lang="en-US" sz="3100" spc="-1" strike="noStrike">
                <a:solidFill>
                  <a:srgbClr val="f4f7fc"/>
                </a:solidFill>
                <a:latin typeface="Noto Sans CJK SC"/>
              </a:rPr>
              <a:t>V </a:t>
            </a:r>
            <a:r>
              <a:rPr b="1" lang="zh-CN" sz="3100" spc="-1" strike="noStrike">
                <a:solidFill>
                  <a:srgbClr val="f4f7fc"/>
                </a:solidFill>
                <a:latin typeface="Noto Sans CJK SC"/>
              </a:rPr>
              <a:t>形推板</a:t>
            </a:r>
            <a:endParaRPr b="0" lang="en-US" sz="3100" spc="-1" strike="noStrike">
              <a:latin typeface="Arial"/>
            </a:endParaRPr>
          </a:p>
        </p:txBody>
      </p:sp>
      <p:sp>
        <p:nvSpPr>
          <p:cNvPr id="67" name="TextBox 2"/>
          <p:cNvSpPr/>
          <p:nvPr/>
        </p:nvSpPr>
        <p:spPr>
          <a:xfrm>
            <a:off x="320040" y="786240"/>
            <a:ext cx="11521080" cy="29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0" lang="zh-CN" sz="1800" spc="-1" strike="noStrike">
                <a:solidFill>
                  <a:srgbClr val="b8c7dc"/>
                </a:solidFill>
                <a:latin typeface="Noto Sans CJK SC"/>
              </a:rPr>
              <a:t>安装底板 → 支撑柱 → 旋转底座；几何引导与受约束控制协同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68" name="Rectangle 3"/>
          <p:cNvSpPr/>
          <p:nvPr/>
        </p:nvSpPr>
        <p:spPr>
          <a:xfrm>
            <a:off x="320040" y="6492240"/>
            <a:ext cx="11548440" cy="12600"/>
          </a:xfrm>
          <a:prstGeom prst="rect">
            <a:avLst/>
          </a:prstGeom>
          <a:solidFill>
            <a:srgbClr val="3b4c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9" name="TextBox 4"/>
          <p:cNvSpPr/>
          <p:nvPr/>
        </p:nvSpPr>
        <p:spPr>
          <a:xfrm>
            <a:off x="320040" y="6565320"/>
            <a:ext cx="10972440" cy="16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0" lang="zh-CN" sz="1020" spc="-1" strike="noStrike">
                <a:solidFill>
                  <a:srgbClr val="b8c7dc"/>
                </a:solidFill>
                <a:latin typeface="Noto Sans CJK SC"/>
              </a:rPr>
              <a:t>图：当前 </a:t>
            </a:r>
            <a:r>
              <a:rPr b="0" lang="en-US" sz="1020" spc="-1" strike="noStrike">
                <a:solidFill>
                  <a:srgbClr val="b8c7dc"/>
                </a:solidFill>
                <a:latin typeface="Noto Sans CJK SC"/>
              </a:rPr>
              <a:t>rescue_rover/model.sdf </a:t>
            </a:r>
            <a:r>
              <a:rPr b="0" lang="zh-CN" sz="1020" spc="-1" strike="noStrike">
                <a:solidFill>
                  <a:srgbClr val="b8c7dc"/>
                </a:solidFill>
                <a:latin typeface="Noto Sans CJK SC"/>
              </a:rPr>
              <a:t>等比例渲染；与 </a:t>
            </a:r>
            <a:r>
              <a:rPr b="0" lang="en-US" sz="1020" spc="-1" strike="noStrike">
                <a:solidFill>
                  <a:srgbClr val="b8c7dc"/>
                </a:solidFill>
                <a:latin typeface="Noto Sans CJK SC"/>
              </a:rPr>
              <a:t>urdf/rescue_rover.urdf </a:t>
            </a:r>
            <a:r>
              <a:rPr b="0" lang="zh-CN" sz="1020" spc="-1" strike="noStrike">
                <a:solidFill>
                  <a:srgbClr val="b8c7dc"/>
                </a:solidFill>
                <a:latin typeface="Noto Sans CJK SC"/>
              </a:rPr>
              <a:t>对应。</a:t>
            </a:r>
            <a:endParaRPr b="0" lang="en-US" sz="1020" spc="-1" strike="noStrike">
              <a:latin typeface="Arial"/>
            </a:endParaRPr>
          </a:p>
        </p:txBody>
      </p:sp>
      <p:sp>
        <p:nvSpPr>
          <p:cNvPr id="70" name="TextBox 5"/>
          <p:cNvSpPr/>
          <p:nvPr/>
        </p:nvSpPr>
        <p:spPr>
          <a:xfrm>
            <a:off x="11421000" y="6537960"/>
            <a:ext cx="411120" cy="1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7000"/>
              </a:lnSpc>
              <a:spcAft>
                <a:spcPts val="400"/>
              </a:spcAft>
              <a:buNone/>
            </a:pPr>
            <a:r>
              <a:rPr b="1" lang="en-US" sz="1200" spc="-1" strike="noStrike">
                <a:solidFill>
                  <a:srgbClr val="42d5bb"/>
                </a:solidFill>
                <a:latin typeface="Noto Sans CJK SC"/>
              </a:rPr>
              <a:t>04</a:t>
            </a:r>
            <a:endParaRPr b="0" lang="en-US" sz="1200" spc="-1" strike="noStrike">
              <a:latin typeface="Arial"/>
            </a:endParaRPr>
          </a:p>
        </p:txBody>
      </p:sp>
      <p:pic>
        <p:nvPicPr>
          <p:cNvPr id="71" name="Picture 6" descr="vehicle_model.png"/>
          <p:cNvPicPr/>
          <p:nvPr/>
        </p:nvPicPr>
        <p:blipFill>
          <a:blip r:embed="rId1"/>
          <a:stretch/>
        </p:blipFill>
        <p:spPr>
          <a:xfrm>
            <a:off x="235080" y="1097280"/>
            <a:ext cx="7393320" cy="5175000"/>
          </a:xfrm>
          <a:prstGeom prst="rect">
            <a:avLst/>
          </a:prstGeom>
          <a:ln w="0">
            <a:noFill/>
          </a:ln>
        </p:spPr>
      </p:pic>
      <p:pic>
        <p:nvPicPr>
          <p:cNvPr id="72" name="Picture 7" descr="vehicle_model_1135_185_1665_735.png"/>
          <p:cNvPicPr/>
          <p:nvPr/>
        </p:nvPicPr>
        <p:blipFill>
          <a:blip r:embed="rId2"/>
          <a:stretch/>
        </p:blipFill>
        <p:spPr>
          <a:xfrm>
            <a:off x="8269920" y="1307520"/>
            <a:ext cx="3101400" cy="3218400"/>
          </a:xfrm>
          <a:prstGeom prst="rect">
            <a:avLst/>
          </a:prstGeom>
          <a:ln w="0">
            <a:noFill/>
          </a:ln>
        </p:spPr>
      </p:pic>
      <p:sp>
        <p:nvSpPr>
          <p:cNvPr id="73" name="Rectangle 8"/>
          <p:cNvSpPr/>
          <p:nvPr/>
        </p:nvSpPr>
        <p:spPr>
          <a:xfrm>
            <a:off x="5568840" y="5609880"/>
            <a:ext cx="1645560" cy="392760"/>
          </a:xfrm>
          <a:prstGeom prst="rect">
            <a:avLst/>
          </a:prstGeom>
          <a:solidFill>
            <a:srgbClr val="101b2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4" name="TextBox 9"/>
          <p:cNvSpPr/>
          <p:nvPr/>
        </p:nvSpPr>
        <p:spPr>
          <a:xfrm>
            <a:off x="5614560" y="5641920"/>
            <a:ext cx="1554120" cy="35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1" lang="en-US" sz="2200" spc="-1" strike="noStrike">
                <a:solidFill>
                  <a:srgbClr val="42d5bb"/>
                </a:solidFill>
                <a:latin typeface="Noto Sans CJK SC"/>
              </a:rPr>
              <a:t>V </a:t>
            </a:r>
            <a:r>
              <a:rPr b="1" lang="zh-CN" sz="2200" spc="-1" strike="noStrike">
                <a:solidFill>
                  <a:srgbClr val="42d5bb"/>
                </a:solidFill>
                <a:latin typeface="Noto Sans CJK SC"/>
              </a:rPr>
              <a:t>形推板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75" name="Connector 10"/>
          <p:cNvSpPr/>
          <p:nvPr/>
        </p:nvSpPr>
        <p:spPr>
          <a:xfrm flipH="1" flipV="1">
            <a:off x="6035040" y="4809600"/>
            <a:ext cx="356400" cy="1188720"/>
          </a:xfrm>
          <a:prstGeom prst="line">
            <a:avLst/>
          </a:prstGeom>
          <a:ln>
            <a:solidFill>
              <a:srgbClr val="42d5bb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76" name="Oval 11"/>
          <p:cNvSpPr/>
          <p:nvPr/>
        </p:nvSpPr>
        <p:spPr>
          <a:xfrm>
            <a:off x="5998320" y="4773240"/>
            <a:ext cx="72720" cy="72720"/>
          </a:xfrm>
          <a:prstGeom prst="ellipse">
            <a:avLst/>
          </a:prstGeom>
          <a:solidFill>
            <a:srgbClr val="42d5b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7" name="TextBox 12"/>
          <p:cNvSpPr/>
          <p:nvPr/>
        </p:nvSpPr>
        <p:spPr>
          <a:xfrm>
            <a:off x="7754040" y="4681800"/>
            <a:ext cx="4114440" cy="35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7000"/>
              </a:lnSpc>
              <a:spcAft>
                <a:spcPts val="400"/>
              </a:spcAft>
              <a:buNone/>
            </a:pPr>
            <a:r>
              <a:rPr b="1" lang="zh-CN" sz="2200" spc="-1" strike="noStrike">
                <a:solidFill>
                  <a:srgbClr val="42d5bb"/>
                </a:solidFill>
                <a:latin typeface="Noto Sans CJK SC"/>
              </a:rPr>
              <a:t>云台安装结构（局部放大）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78" name="TextBox 13"/>
          <p:cNvSpPr/>
          <p:nvPr/>
        </p:nvSpPr>
        <p:spPr>
          <a:xfrm>
            <a:off x="7891200" y="5376600"/>
            <a:ext cx="3812760" cy="83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1" lang="zh-CN" sz="2400" spc="-1" strike="noStrike">
                <a:solidFill>
                  <a:srgbClr val="f4f7fc"/>
                </a:solidFill>
                <a:latin typeface="Noto Sans CJK SC"/>
              </a:rPr>
              <a:t>整车宽约 </a:t>
            </a:r>
            <a:r>
              <a:rPr b="1" lang="en-US" sz="2400" spc="-1" strike="noStrike">
                <a:solidFill>
                  <a:srgbClr val="f4f7fc"/>
                </a:solidFill>
                <a:latin typeface="Noto Sans CJK SC"/>
              </a:rPr>
              <a:t>0.285 m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1" lang="zh-CN" sz="2400" spc="-1" strike="noStrike">
                <a:solidFill>
                  <a:srgbClr val="f4f7fc"/>
                </a:solidFill>
                <a:latin typeface="Noto Sans CJK SC"/>
              </a:rPr>
              <a:t>推板宽 </a:t>
            </a:r>
            <a:r>
              <a:rPr b="1" lang="en-US" sz="2400" spc="-1" strike="noStrike">
                <a:solidFill>
                  <a:srgbClr val="f4f7fc"/>
                </a:solidFill>
                <a:latin typeface="Noto Sans CJK SC"/>
              </a:rPr>
              <a:t>0.28 m</a:t>
            </a: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TextBox 1"/>
          <p:cNvSpPr/>
          <p:nvPr/>
        </p:nvSpPr>
        <p:spPr>
          <a:xfrm>
            <a:off x="311040" y="164520"/>
            <a:ext cx="11566800" cy="50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1" lang="zh-CN" sz="3100" spc="-1" strike="noStrike">
                <a:solidFill>
                  <a:srgbClr val="f4f7fc"/>
                </a:solidFill>
                <a:latin typeface="Noto Sans CJK SC"/>
              </a:rPr>
              <a:t>真实接触推障：对准、推进、脱离</a:t>
            </a:r>
            <a:endParaRPr b="0" lang="en-US" sz="3100" spc="-1" strike="noStrike">
              <a:latin typeface="Arial"/>
            </a:endParaRPr>
          </a:p>
        </p:txBody>
      </p:sp>
      <p:sp>
        <p:nvSpPr>
          <p:cNvPr id="80" name="TextBox 2"/>
          <p:cNvSpPr/>
          <p:nvPr/>
        </p:nvSpPr>
        <p:spPr>
          <a:xfrm>
            <a:off x="320040" y="786240"/>
            <a:ext cx="11521080" cy="29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0" lang="en-US" sz="1800" spc="-1" strike="noStrike">
                <a:solidFill>
                  <a:srgbClr val="b8c7dc"/>
                </a:solidFill>
                <a:latin typeface="Noto Sans CJK SC"/>
              </a:rPr>
              <a:t>2 kg </a:t>
            </a:r>
            <a:r>
              <a:rPr b="0" lang="zh-CN" sz="1800" spc="-1" strike="noStrike">
                <a:solidFill>
                  <a:srgbClr val="b8c7dc"/>
                </a:solidFill>
                <a:latin typeface="Noto Sans CJK SC"/>
              </a:rPr>
              <a:t>动态箱体；</a:t>
            </a:r>
            <a:r>
              <a:rPr b="0" lang="en-US" sz="1800" spc="-1" strike="noStrike">
                <a:solidFill>
                  <a:srgbClr val="b8c7dc"/>
                </a:solidFill>
                <a:latin typeface="Noto Sans CJK SC"/>
              </a:rPr>
              <a:t>0.10 m/s </a:t>
            </a:r>
            <a:r>
              <a:rPr b="0" lang="zh-CN" sz="1800" spc="-1" strike="noStrike">
                <a:solidFill>
                  <a:srgbClr val="b8c7dc"/>
                </a:solidFill>
                <a:latin typeface="Noto Sans CJK SC"/>
              </a:rPr>
              <a:t>闭环推障；里程计推进目标 </a:t>
            </a:r>
            <a:r>
              <a:rPr b="0" lang="en-US" sz="1800" spc="-1" strike="noStrike">
                <a:solidFill>
                  <a:srgbClr val="b8c7dc"/>
                </a:solidFill>
                <a:latin typeface="Noto Sans CJK SC"/>
              </a:rPr>
              <a:t>1.08 m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81" name="Rectangle 3"/>
          <p:cNvSpPr/>
          <p:nvPr/>
        </p:nvSpPr>
        <p:spPr>
          <a:xfrm>
            <a:off x="320040" y="6492240"/>
            <a:ext cx="11548440" cy="12600"/>
          </a:xfrm>
          <a:prstGeom prst="rect">
            <a:avLst/>
          </a:prstGeom>
          <a:solidFill>
            <a:srgbClr val="3b4c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82" name="TextBox 4"/>
          <p:cNvSpPr/>
          <p:nvPr/>
        </p:nvSpPr>
        <p:spPr>
          <a:xfrm>
            <a:off x="320040" y="6565320"/>
            <a:ext cx="10972440" cy="16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0" lang="zh-CN" sz="1020" spc="-1" strike="noStrike">
                <a:solidFill>
                  <a:srgbClr val="b8c7dc"/>
                </a:solidFill>
                <a:latin typeface="Noto Sans CJK SC"/>
              </a:rPr>
              <a:t>三图：新版同次录屏 </a:t>
            </a:r>
            <a:r>
              <a:rPr b="0" lang="en-US" sz="1020" spc="-1" strike="noStrike">
                <a:solidFill>
                  <a:srgbClr val="b8c7dc"/>
                </a:solidFill>
                <a:latin typeface="Noto Sans CJK SC"/>
              </a:rPr>
              <a:t>00:47 / 00:53 / 00:59</a:t>
            </a:r>
            <a:r>
              <a:rPr b="0" lang="zh-CN" sz="1020" spc="-1" strike="noStrike">
                <a:solidFill>
                  <a:srgbClr val="b8c7dc"/>
                </a:solidFill>
                <a:latin typeface="Noto Sans CJK SC"/>
              </a:rPr>
              <a:t>，裁去界面背景；框、车辆与箱体原样保留。</a:t>
            </a:r>
            <a:endParaRPr b="0" lang="en-US" sz="1020" spc="-1" strike="noStrike">
              <a:latin typeface="Arial"/>
            </a:endParaRPr>
          </a:p>
        </p:txBody>
      </p:sp>
      <p:sp>
        <p:nvSpPr>
          <p:cNvPr id="83" name="TextBox 5"/>
          <p:cNvSpPr/>
          <p:nvPr/>
        </p:nvSpPr>
        <p:spPr>
          <a:xfrm>
            <a:off x="11421000" y="6537960"/>
            <a:ext cx="411120" cy="1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7000"/>
              </a:lnSpc>
              <a:spcAft>
                <a:spcPts val="400"/>
              </a:spcAft>
              <a:buNone/>
            </a:pPr>
            <a:r>
              <a:rPr b="1" lang="en-US" sz="1200" spc="-1" strike="noStrike">
                <a:solidFill>
                  <a:srgbClr val="42d5bb"/>
                </a:solidFill>
                <a:latin typeface="Noto Sans CJK SC"/>
              </a:rPr>
              <a:t>05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84" name="TextBox 6"/>
          <p:cNvSpPr/>
          <p:nvPr/>
        </p:nvSpPr>
        <p:spPr>
          <a:xfrm>
            <a:off x="320040" y="1188720"/>
            <a:ext cx="3721320" cy="40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7000"/>
              </a:lnSpc>
              <a:spcAft>
                <a:spcPts val="400"/>
              </a:spcAft>
              <a:buNone/>
            </a:pPr>
            <a:r>
              <a:rPr b="1" lang="en-US" sz="2500" spc="-1" strike="noStrike">
                <a:solidFill>
                  <a:srgbClr val="42d5bb"/>
                </a:solidFill>
                <a:latin typeface="Noto Sans CJK SC"/>
              </a:rPr>
              <a:t>① </a:t>
            </a:r>
            <a:r>
              <a:rPr b="1" lang="zh-CN" sz="2500" spc="-1" strike="noStrike">
                <a:solidFill>
                  <a:srgbClr val="42d5bb"/>
                </a:solidFill>
                <a:latin typeface="Noto Sans CJK SC"/>
              </a:rPr>
              <a:t>对准入口</a:t>
            </a:r>
            <a:endParaRPr b="0" lang="en-US" sz="2500" spc="-1" strike="noStrike">
              <a:latin typeface="Arial"/>
            </a:endParaRPr>
          </a:p>
        </p:txBody>
      </p:sp>
      <p:pic>
        <p:nvPicPr>
          <p:cNvPr id="85" name="Picture 7" descr="push_before.png"/>
          <p:cNvPicPr/>
          <p:nvPr/>
        </p:nvPicPr>
        <p:blipFill>
          <a:blip r:embed="rId1"/>
          <a:stretch/>
        </p:blipFill>
        <p:spPr>
          <a:xfrm>
            <a:off x="344520" y="1737360"/>
            <a:ext cx="3672360" cy="4407120"/>
          </a:xfrm>
          <a:prstGeom prst="rect">
            <a:avLst/>
          </a:prstGeom>
          <a:ln w="0">
            <a:noFill/>
          </a:ln>
        </p:spPr>
      </p:pic>
      <p:sp>
        <p:nvSpPr>
          <p:cNvPr id="86" name="TextBox 8"/>
          <p:cNvSpPr/>
          <p:nvPr/>
        </p:nvSpPr>
        <p:spPr>
          <a:xfrm>
            <a:off x="4233600" y="1188720"/>
            <a:ext cx="3721320" cy="40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7000"/>
              </a:lnSpc>
              <a:spcAft>
                <a:spcPts val="400"/>
              </a:spcAft>
              <a:buNone/>
            </a:pPr>
            <a:r>
              <a:rPr b="1" lang="en-US" sz="2500" spc="-1" strike="noStrike">
                <a:solidFill>
                  <a:srgbClr val="42d5bb"/>
                </a:solidFill>
                <a:latin typeface="Noto Sans CJK SC"/>
              </a:rPr>
              <a:t>② </a:t>
            </a:r>
            <a:r>
              <a:rPr b="1" lang="zh-CN" sz="2500" spc="-1" strike="noStrike">
                <a:solidFill>
                  <a:srgbClr val="42d5bb"/>
                </a:solidFill>
                <a:latin typeface="Noto Sans CJK SC"/>
              </a:rPr>
              <a:t>实体推进</a:t>
            </a:r>
            <a:endParaRPr b="0" lang="en-US" sz="2500" spc="-1" strike="noStrike">
              <a:latin typeface="Arial"/>
            </a:endParaRPr>
          </a:p>
        </p:txBody>
      </p:sp>
      <p:pic>
        <p:nvPicPr>
          <p:cNvPr id="87" name="Picture 9" descr="push_during.png"/>
          <p:cNvPicPr/>
          <p:nvPr/>
        </p:nvPicPr>
        <p:blipFill>
          <a:blip r:embed="rId2"/>
          <a:stretch/>
        </p:blipFill>
        <p:spPr>
          <a:xfrm>
            <a:off x="4258080" y="1737360"/>
            <a:ext cx="3672360" cy="4407120"/>
          </a:xfrm>
          <a:prstGeom prst="rect">
            <a:avLst/>
          </a:prstGeom>
          <a:ln w="0">
            <a:noFill/>
          </a:ln>
        </p:spPr>
      </p:pic>
      <p:sp>
        <p:nvSpPr>
          <p:cNvPr id="88" name="TextBox 10"/>
          <p:cNvSpPr/>
          <p:nvPr/>
        </p:nvSpPr>
        <p:spPr>
          <a:xfrm>
            <a:off x="8147160" y="1188720"/>
            <a:ext cx="3721320" cy="40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7000"/>
              </a:lnSpc>
              <a:spcAft>
                <a:spcPts val="400"/>
              </a:spcAft>
              <a:buNone/>
            </a:pPr>
            <a:r>
              <a:rPr b="1" lang="en-US" sz="2500" spc="-1" strike="noStrike">
                <a:solidFill>
                  <a:srgbClr val="42d5bb"/>
                </a:solidFill>
                <a:latin typeface="Noto Sans CJK SC"/>
              </a:rPr>
              <a:t>③ </a:t>
            </a:r>
            <a:r>
              <a:rPr b="1" lang="zh-CN" sz="2500" spc="-1" strike="noStrike">
                <a:solidFill>
                  <a:srgbClr val="42d5bb"/>
                </a:solidFill>
                <a:latin typeface="Noto Sans CJK SC"/>
              </a:rPr>
              <a:t>转向脱离</a:t>
            </a:r>
            <a:endParaRPr b="0" lang="en-US" sz="2500" spc="-1" strike="noStrike">
              <a:latin typeface="Arial"/>
            </a:endParaRPr>
          </a:p>
        </p:txBody>
      </p:sp>
      <p:pic>
        <p:nvPicPr>
          <p:cNvPr id="89" name="Picture 11" descr="push_after.png"/>
          <p:cNvPicPr/>
          <p:nvPr/>
        </p:nvPicPr>
        <p:blipFill>
          <a:blip r:embed="rId3"/>
          <a:stretch/>
        </p:blipFill>
        <p:spPr>
          <a:xfrm>
            <a:off x="8171640" y="1737360"/>
            <a:ext cx="3672360" cy="44071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TextBox 1"/>
          <p:cNvSpPr/>
          <p:nvPr/>
        </p:nvSpPr>
        <p:spPr>
          <a:xfrm>
            <a:off x="311040" y="164520"/>
            <a:ext cx="11566800" cy="50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1" lang="zh-CN" sz="3100" spc="-1" strike="noStrike">
                <a:solidFill>
                  <a:srgbClr val="f4f7fc"/>
                </a:solidFill>
                <a:latin typeface="Noto Sans CJK SC"/>
              </a:rPr>
              <a:t>主动接触的安全边界：保护完整车体</a:t>
            </a:r>
            <a:endParaRPr b="0" lang="en-US" sz="3100" spc="-1" strike="noStrike">
              <a:latin typeface="Arial"/>
            </a:endParaRPr>
          </a:p>
        </p:txBody>
      </p:sp>
      <p:sp>
        <p:nvSpPr>
          <p:cNvPr id="91" name="TextBox 2"/>
          <p:cNvSpPr/>
          <p:nvPr/>
        </p:nvSpPr>
        <p:spPr>
          <a:xfrm>
            <a:off x="320040" y="786240"/>
            <a:ext cx="11521080" cy="29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0" lang="zh-CN" sz="1800" spc="-1" strike="noStrike">
                <a:solidFill>
                  <a:srgbClr val="b8c7dc"/>
                </a:solidFill>
                <a:latin typeface="Noto Sans CJK SC"/>
              </a:rPr>
              <a:t>推板也在停车扫掠范围内；检查指令速度与实际惯性速度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92" name="Rectangle 3"/>
          <p:cNvSpPr/>
          <p:nvPr/>
        </p:nvSpPr>
        <p:spPr>
          <a:xfrm>
            <a:off x="320040" y="6492240"/>
            <a:ext cx="11548440" cy="12600"/>
          </a:xfrm>
          <a:prstGeom prst="rect">
            <a:avLst/>
          </a:prstGeom>
          <a:solidFill>
            <a:srgbClr val="3b4c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93" name="TextBox 4"/>
          <p:cNvSpPr/>
          <p:nvPr/>
        </p:nvSpPr>
        <p:spPr>
          <a:xfrm>
            <a:off x="320040" y="6565320"/>
            <a:ext cx="10972440" cy="16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0" lang="zh-CN" sz="1020" spc="-1" strike="noStrike">
                <a:solidFill>
                  <a:srgbClr val="b8c7dc"/>
                </a:solidFill>
                <a:latin typeface="Noto Sans CJK SC"/>
              </a:rPr>
              <a:t>图源：创新点 </a:t>
            </a:r>
            <a:r>
              <a:rPr b="0" lang="en-US" sz="1020" spc="-1" strike="noStrike">
                <a:solidFill>
                  <a:srgbClr val="b8c7dc"/>
                </a:solidFill>
                <a:latin typeface="Noto Sans CJK SC"/>
              </a:rPr>
              <a:t>PPT </a:t>
            </a:r>
            <a:r>
              <a:rPr b="0" lang="zh-CN" sz="1020" spc="-1" strike="noStrike">
                <a:solidFill>
                  <a:srgbClr val="b8c7dc"/>
                </a:solidFill>
                <a:latin typeface="Noto Sans CJK SC"/>
              </a:rPr>
              <a:t>第 </a:t>
            </a:r>
            <a:r>
              <a:rPr b="0" lang="en-US" sz="1020" spc="-1" strike="noStrike">
                <a:solidFill>
                  <a:srgbClr val="b8c7dc"/>
                </a:solidFill>
                <a:latin typeface="Noto Sans CJK SC"/>
              </a:rPr>
              <a:t>5 </a:t>
            </a:r>
            <a:r>
              <a:rPr b="0" lang="zh-CN" sz="1020" spc="-1" strike="noStrike">
                <a:solidFill>
                  <a:srgbClr val="b8c7dc"/>
                </a:solidFill>
                <a:latin typeface="Noto Sans CJK SC"/>
              </a:rPr>
              <a:t>页；当前 </a:t>
            </a:r>
            <a:r>
              <a:rPr b="0" lang="en-US" sz="1020" spc="-1" strike="noStrike">
                <a:solidFill>
                  <a:srgbClr val="b8c7dc"/>
                </a:solidFill>
                <a:latin typeface="Noto Sans CJK SC"/>
              </a:rPr>
              <a:t>footprint </a:t>
            </a:r>
            <a:r>
              <a:rPr b="0" lang="zh-CN" sz="1020" spc="-1" strike="noStrike">
                <a:solidFill>
                  <a:srgbClr val="b8c7dc"/>
                </a:solidFill>
                <a:latin typeface="Noto Sans CJK SC"/>
              </a:rPr>
              <a:t>与 </a:t>
            </a:r>
            <a:r>
              <a:rPr b="0" lang="en-US" sz="1020" spc="-1" strike="noStrike">
                <a:solidFill>
                  <a:srgbClr val="b8c7dc"/>
                </a:solidFill>
                <a:latin typeface="Noto Sans CJK SC"/>
              </a:rPr>
              <a:t>motion_safety.py </a:t>
            </a:r>
            <a:r>
              <a:rPr b="0" lang="zh-CN" sz="1020" spc="-1" strike="noStrike">
                <a:solidFill>
                  <a:srgbClr val="b8c7dc"/>
                </a:solidFill>
                <a:latin typeface="Noto Sans CJK SC"/>
              </a:rPr>
              <a:t>绘制的保护原理。</a:t>
            </a:r>
            <a:endParaRPr b="0" lang="en-US" sz="1020" spc="-1" strike="noStrike">
              <a:latin typeface="Arial"/>
            </a:endParaRPr>
          </a:p>
        </p:txBody>
      </p:sp>
      <p:sp>
        <p:nvSpPr>
          <p:cNvPr id="94" name="TextBox 5"/>
          <p:cNvSpPr/>
          <p:nvPr/>
        </p:nvSpPr>
        <p:spPr>
          <a:xfrm>
            <a:off x="11421000" y="6537960"/>
            <a:ext cx="411120" cy="1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7000"/>
              </a:lnSpc>
              <a:spcAft>
                <a:spcPts val="400"/>
              </a:spcAft>
              <a:buNone/>
            </a:pPr>
            <a:r>
              <a:rPr b="1" lang="en-US" sz="1200" spc="-1" strike="noStrike">
                <a:solidFill>
                  <a:srgbClr val="42d5bb"/>
                </a:solidFill>
                <a:latin typeface="Noto Sans CJK SC"/>
              </a:rPr>
              <a:t>06</a:t>
            </a:r>
            <a:endParaRPr b="0" lang="en-US" sz="1200" spc="-1" strike="noStrike">
              <a:latin typeface="Arial"/>
            </a:endParaRPr>
          </a:p>
        </p:txBody>
      </p:sp>
      <p:pic>
        <p:nvPicPr>
          <p:cNvPr id="95" name="Picture 6" descr="完整轮廓停车保护示意.png"/>
          <p:cNvPicPr/>
          <p:nvPr/>
        </p:nvPicPr>
        <p:blipFill>
          <a:blip r:embed="rId1"/>
          <a:stretch/>
        </p:blipFill>
        <p:spPr>
          <a:xfrm>
            <a:off x="330120" y="1143000"/>
            <a:ext cx="11528280" cy="4854960"/>
          </a:xfrm>
          <a:prstGeom prst="rect">
            <a:avLst/>
          </a:prstGeom>
          <a:ln w="0">
            <a:noFill/>
          </a:ln>
        </p:spPr>
      </p:pic>
      <p:sp>
        <p:nvSpPr>
          <p:cNvPr id="96" name="Rectangle 7"/>
          <p:cNvSpPr/>
          <p:nvPr/>
        </p:nvSpPr>
        <p:spPr>
          <a:xfrm>
            <a:off x="320040" y="5989320"/>
            <a:ext cx="11548440" cy="438480"/>
          </a:xfrm>
          <a:prstGeom prst="rect">
            <a:avLst/>
          </a:prstGeom>
          <a:solidFill>
            <a:srgbClr val="1d2c4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97" name="TextBox 8"/>
          <p:cNvSpPr/>
          <p:nvPr/>
        </p:nvSpPr>
        <p:spPr>
          <a:xfrm>
            <a:off x="466200" y="6039720"/>
            <a:ext cx="11246760" cy="37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7000"/>
              </a:lnSpc>
              <a:spcAft>
                <a:spcPts val="400"/>
              </a:spcAft>
              <a:buNone/>
            </a:pPr>
            <a:r>
              <a:rPr b="1" lang="zh-CN" sz="2300" spc="-1" strike="noStrike">
                <a:solidFill>
                  <a:srgbClr val="42d5bb"/>
                </a:solidFill>
                <a:latin typeface="Noto Sans CJK SC"/>
              </a:rPr>
              <a:t>低速前方接触 </a:t>
            </a:r>
            <a:r>
              <a:rPr b="1" lang="en-US" sz="2300" spc="-1" strike="noStrike">
                <a:solidFill>
                  <a:srgbClr val="42d5bb"/>
                </a:solidFill>
                <a:latin typeface="Noto Sans CJK SC"/>
              </a:rPr>
              <a:t>· </a:t>
            </a:r>
            <a:r>
              <a:rPr b="1" lang="zh-CN" sz="2300" spc="-1" strike="noStrike">
                <a:solidFill>
                  <a:srgbClr val="42d5bb"/>
                </a:solidFill>
                <a:latin typeface="Noto Sans CJK SC"/>
              </a:rPr>
              <a:t>侧后继续保护 </a:t>
            </a:r>
            <a:r>
              <a:rPr b="1" lang="en-US" sz="2300" spc="-1" strike="noStrike">
                <a:solidFill>
                  <a:srgbClr val="42d5bb"/>
                </a:solidFill>
                <a:latin typeface="Noto Sans CJK SC"/>
              </a:rPr>
              <a:t>· </a:t>
            </a:r>
            <a:r>
              <a:rPr b="1" lang="zh-CN" sz="2300" spc="-1" strike="noStrike">
                <a:solidFill>
                  <a:srgbClr val="42d5bb"/>
                </a:solidFill>
                <a:latin typeface="Noto Sans CJK SC"/>
              </a:rPr>
              <a:t>脱离 ≤</a:t>
            </a:r>
            <a:r>
              <a:rPr b="1" lang="en-US" sz="2300" spc="-1" strike="noStrike">
                <a:solidFill>
                  <a:srgbClr val="42d5bb"/>
                </a:solidFill>
                <a:latin typeface="Noto Sans CJK SC"/>
              </a:rPr>
              <a:t>12 s / ≤6 cm</a:t>
            </a:r>
            <a:endParaRPr b="0" lang="en-US" sz="2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TextBox 1"/>
          <p:cNvSpPr/>
          <p:nvPr/>
        </p:nvSpPr>
        <p:spPr>
          <a:xfrm>
            <a:off x="311040" y="164520"/>
            <a:ext cx="11566800" cy="50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1" lang="zh-CN" sz="3100" spc="-1" strike="noStrike">
                <a:solidFill>
                  <a:srgbClr val="f4f7fc"/>
                </a:solidFill>
                <a:latin typeface="Noto Sans CJK SC"/>
              </a:rPr>
              <a:t>云台左右观察，任务等待多帧确认</a:t>
            </a:r>
            <a:endParaRPr b="0" lang="en-US" sz="3100" spc="-1" strike="noStrike">
              <a:latin typeface="Arial"/>
            </a:endParaRPr>
          </a:p>
        </p:txBody>
      </p:sp>
      <p:sp>
        <p:nvSpPr>
          <p:cNvPr id="99" name="TextBox 2"/>
          <p:cNvSpPr/>
          <p:nvPr/>
        </p:nvSpPr>
        <p:spPr>
          <a:xfrm>
            <a:off x="320040" y="786240"/>
            <a:ext cx="11521080" cy="29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0" lang="zh-CN" sz="1800" spc="-1" strike="noStrike">
                <a:solidFill>
                  <a:srgbClr val="b8c7dc"/>
                </a:solidFill>
                <a:latin typeface="Noto Sans CJK SC"/>
              </a:rPr>
              <a:t>到观察点 → 确认停车 → 扫描 → 连续 </a:t>
            </a:r>
            <a:r>
              <a:rPr b="0" lang="en-US" sz="1800" spc="-1" strike="noStrike">
                <a:solidFill>
                  <a:srgbClr val="b8c7dc"/>
                </a:solidFill>
                <a:latin typeface="Noto Sans CJK SC"/>
              </a:rPr>
              <a:t>3 </a:t>
            </a:r>
            <a:r>
              <a:rPr b="0" lang="zh-CN" sz="1800" spc="-1" strike="noStrike">
                <a:solidFill>
                  <a:srgbClr val="b8c7dc"/>
                </a:solidFill>
                <a:latin typeface="Noto Sans CJK SC"/>
              </a:rPr>
              <a:t>个关联处理帧 → 继续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00" name="Rectangle 3"/>
          <p:cNvSpPr/>
          <p:nvPr/>
        </p:nvSpPr>
        <p:spPr>
          <a:xfrm>
            <a:off x="320040" y="6492240"/>
            <a:ext cx="11548440" cy="12600"/>
          </a:xfrm>
          <a:prstGeom prst="rect">
            <a:avLst/>
          </a:prstGeom>
          <a:solidFill>
            <a:srgbClr val="3b4c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01" name="TextBox 4"/>
          <p:cNvSpPr/>
          <p:nvPr/>
        </p:nvSpPr>
        <p:spPr>
          <a:xfrm>
            <a:off x="320040" y="6565320"/>
            <a:ext cx="10972440" cy="16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0" lang="zh-CN" sz="1020" spc="-1" strike="noStrike">
                <a:solidFill>
                  <a:srgbClr val="b8c7dc"/>
                </a:solidFill>
                <a:latin typeface="Noto Sans CJK SC"/>
              </a:rPr>
              <a:t>图：创新点 </a:t>
            </a:r>
            <a:r>
              <a:rPr b="0" lang="en-US" sz="1020" spc="-1" strike="noStrike">
                <a:solidFill>
                  <a:srgbClr val="b8c7dc"/>
                </a:solidFill>
                <a:latin typeface="Noto Sans CJK SC"/>
              </a:rPr>
              <a:t>PPT </a:t>
            </a:r>
            <a:r>
              <a:rPr b="0" lang="zh-CN" sz="1020" spc="-1" strike="noStrike">
                <a:solidFill>
                  <a:srgbClr val="b8c7dc"/>
                </a:solidFill>
                <a:latin typeface="Noto Sans CJK SC"/>
              </a:rPr>
              <a:t>第 </a:t>
            </a:r>
            <a:r>
              <a:rPr b="0" lang="en-US" sz="1020" spc="-1" strike="noStrike">
                <a:solidFill>
                  <a:srgbClr val="b8c7dc"/>
                </a:solidFill>
                <a:latin typeface="Noto Sans CJK SC"/>
              </a:rPr>
              <a:t>2 </a:t>
            </a:r>
            <a:r>
              <a:rPr b="0" lang="zh-CN" sz="1020" spc="-1" strike="noStrike">
                <a:solidFill>
                  <a:srgbClr val="b8c7dc"/>
                </a:solidFill>
                <a:latin typeface="Noto Sans CJK SC"/>
              </a:rPr>
              <a:t>页，同一停车点两个扫视时刻；用于机制说明，与本次量化结果分开。</a:t>
            </a:r>
            <a:endParaRPr b="0" lang="en-US" sz="1020" spc="-1" strike="noStrike">
              <a:latin typeface="Arial"/>
            </a:endParaRPr>
          </a:p>
        </p:txBody>
      </p:sp>
      <p:sp>
        <p:nvSpPr>
          <p:cNvPr id="102" name="TextBox 5"/>
          <p:cNvSpPr/>
          <p:nvPr/>
        </p:nvSpPr>
        <p:spPr>
          <a:xfrm>
            <a:off x="11421000" y="6537960"/>
            <a:ext cx="411120" cy="1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7000"/>
              </a:lnSpc>
              <a:spcAft>
                <a:spcPts val="400"/>
              </a:spcAft>
              <a:buNone/>
            </a:pPr>
            <a:r>
              <a:rPr b="1" lang="en-US" sz="1200" spc="-1" strike="noStrike">
                <a:solidFill>
                  <a:srgbClr val="42d5bb"/>
                </a:solidFill>
                <a:latin typeface="Noto Sans CJK SC"/>
              </a:rPr>
              <a:t>07</a:t>
            </a:r>
            <a:endParaRPr b="0" lang="en-US" sz="1200" spc="-1" strike="noStrike">
              <a:latin typeface="Arial"/>
            </a:endParaRPr>
          </a:p>
        </p:txBody>
      </p:sp>
      <p:pic>
        <p:nvPicPr>
          <p:cNvPr id="103" name="Picture 6" descr="scan_stop_A.png"/>
          <p:cNvPicPr/>
          <p:nvPr/>
        </p:nvPicPr>
        <p:blipFill>
          <a:blip r:embed="rId1"/>
          <a:stretch/>
        </p:blipFill>
        <p:spPr>
          <a:xfrm>
            <a:off x="320040" y="1230840"/>
            <a:ext cx="5677920" cy="4258440"/>
          </a:xfrm>
          <a:prstGeom prst="rect">
            <a:avLst/>
          </a:prstGeom>
          <a:ln w="0">
            <a:noFill/>
          </a:ln>
        </p:spPr>
      </p:pic>
      <p:sp>
        <p:nvSpPr>
          <p:cNvPr id="104" name="TextBox 7"/>
          <p:cNvSpPr/>
          <p:nvPr/>
        </p:nvSpPr>
        <p:spPr>
          <a:xfrm>
            <a:off x="320040" y="5696640"/>
            <a:ext cx="5677920" cy="40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7000"/>
              </a:lnSpc>
              <a:spcAft>
                <a:spcPts val="400"/>
              </a:spcAft>
              <a:buNone/>
            </a:pPr>
            <a:r>
              <a:rPr b="1" lang="zh-CN" sz="2500" spc="-1" strike="noStrike">
                <a:solidFill>
                  <a:srgbClr val="42d5bb"/>
                </a:solidFill>
                <a:latin typeface="Noto Sans CJK SC"/>
              </a:rPr>
              <a:t>扫视时刻 </a:t>
            </a:r>
            <a:r>
              <a:rPr b="1" lang="en-US" sz="2500" spc="-1" strike="noStrike">
                <a:solidFill>
                  <a:srgbClr val="42d5bb"/>
                </a:solidFill>
                <a:latin typeface="Noto Sans CJK SC"/>
              </a:rPr>
              <a:t>A</a:t>
            </a:r>
            <a:endParaRPr b="0" lang="en-US" sz="2500" spc="-1" strike="noStrike">
              <a:latin typeface="Arial"/>
            </a:endParaRPr>
          </a:p>
        </p:txBody>
      </p:sp>
      <p:pic>
        <p:nvPicPr>
          <p:cNvPr id="105" name="Picture 8" descr="scan_stop_B.png"/>
          <p:cNvPicPr/>
          <p:nvPr/>
        </p:nvPicPr>
        <p:blipFill>
          <a:blip r:embed="rId2"/>
          <a:stretch/>
        </p:blipFill>
        <p:spPr>
          <a:xfrm>
            <a:off x="6190560" y="1230840"/>
            <a:ext cx="5677920" cy="4258440"/>
          </a:xfrm>
          <a:prstGeom prst="rect">
            <a:avLst/>
          </a:prstGeom>
          <a:ln w="0">
            <a:noFill/>
          </a:ln>
        </p:spPr>
      </p:pic>
      <p:sp>
        <p:nvSpPr>
          <p:cNvPr id="106" name="TextBox 9"/>
          <p:cNvSpPr/>
          <p:nvPr/>
        </p:nvSpPr>
        <p:spPr>
          <a:xfrm>
            <a:off x="6190560" y="5696640"/>
            <a:ext cx="5677920" cy="40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7000"/>
              </a:lnSpc>
              <a:spcAft>
                <a:spcPts val="400"/>
              </a:spcAft>
              <a:buNone/>
            </a:pPr>
            <a:r>
              <a:rPr b="1" lang="zh-CN" sz="2500" spc="-1" strike="noStrike">
                <a:solidFill>
                  <a:srgbClr val="42d5bb"/>
                </a:solidFill>
                <a:latin typeface="Noto Sans CJK SC"/>
              </a:rPr>
              <a:t>扫视时刻 </a:t>
            </a:r>
            <a:r>
              <a:rPr b="1" lang="en-US" sz="2500" spc="-1" strike="noStrike">
                <a:solidFill>
                  <a:srgbClr val="42d5bb"/>
                </a:solidFill>
                <a:latin typeface="Noto Sans CJK SC"/>
              </a:rPr>
              <a:t>B</a:t>
            </a:r>
            <a:endParaRPr b="0" lang="en-US" sz="25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TextBox 1"/>
          <p:cNvSpPr/>
          <p:nvPr/>
        </p:nvSpPr>
        <p:spPr>
          <a:xfrm>
            <a:off x="311040" y="164520"/>
            <a:ext cx="11566800" cy="50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1" lang="zh-CN" sz="3100" spc="-1" strike="noStrike">
                <a:solidFill>
                  <a:srgbClr val="f4f7fc"/>
                </a:solidFill>
                <a:latin typeface="Noto Sans CJK SC"/>
              </a:rPr>
              <a:t>走廊识别：火灾、化学、辐射</a:t>
            </a:r>
            <a:endParaRPr b="0" lang="en-US" sz="3100" spc="-1" strike="noStrike">
              <a:latin typeface="Arial"/>
            </a:endParaRPr>
          </a:p>
        </p:txBody>
      </p:sp>
      <p:sp>
        <p:nvSpPr>
          <p:cNvPr id="108" name="TextBox 2"/>
          <p:cNvSpPr/>
          <p:nvPr/>
        </p:nvSpPr>
        <p:spPr>
          <a:xfrm>
            <a:off x="320040" y="786240"/>
            <a:ext cx="11521080" cy="29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0" lang="zh-CN" sz="1800" spc="-1" strike="noStrike">
                <a:solidFill>
                  <a:srgbClr val="b8c7dc"/>
                </a:solidFill>
                <a:latin typeface="Noto Sans CJK SC"/>
              </a:rPr>
              <a:t>绿色框为当前图案分类；三帧确认事件与单帧显示框分别记录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09" name="Rectangle 3"/>
          <p:cNvSpPr/>
          <p:nvPr/>
        </p:nvSpPr>
        <p:spPr>
          <a:xfrm>
            <a:off x="320040" y="6492240"/>
            <a:ext cx="11548440" cy="12600"/>
          </a:xfrm>
          <a:prstGeom prst="rect">
            <a:avLst/>
          </a:prstGeom>
          <a:solidFill>
            <a:srgbClr val="3b4c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10" name="TextBox 4"/>
          <p:cNvSpPr/>
          <p:nvPr/>
        </p:nvSpPr>
        <p:spPr>
          <a:xfrm>
            <a:off x="320040" y="6565320"/>
            <a:ext cx="10972440" cy="16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0" lang="zh-CN" sz="1020" spc="-1" strike="noStrike">
                <a:solidFill>
                  <a:srgbClr val="b8c7dc"/>
                </a:solidFill>
                <a:latin typeface="Noto Sans CJK SC"/>
              </a:rPr>
              <a:t>相机图：新版同次运行，保留原检测框与类别；原图与裁剪坐标见素材来源记录。</a:t>
            </a:r>
            <a:endParaRPr b="0" lang="en-US" sz="1020" spc="-1" strike="noStrike">
              <a:latin typeface="Arial"/>
            </a:endParaRPr>
          </a:p>
        </p:txBody>
      </p:sp>
      <p:sp>
        <p:nvSpPr>
          <p:cNvPr id="111" name="TextBox 5"/>
          <p:cNvSpPr/>
          <p:nvPr/>
        </p:nvSpPr>
        <p:spPr>
          <a:xfrm>
            <a:off x="11421000" y="6537960"/>
            <a:ext cx="411120" cy="1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7000"/>
              </a:lnSpc>
              <a:spcAft>
                <a:spcPts val="400"/>
              </a:spcAft>
              <a:buNone/>
            </a:pPr>
            <a:r>
              <a:rPr b="1" lang="en-US" sz="1200" spc="-1" strike="noStrike">
                <a:solidFill>
                  <a:srgbClr val="42d5bb"/>
                </a:solidFill>
                <a:latin typeface="Noto Sans CJK SC"/>
              </a:rPr>
              <a:t>08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12" name="TextBox 6"/>
          <p:cNvSpPr/>
          <p:nvPr/>
        </p:nvSpPr>
        <p:spPr>
          <a:xfrm>
            <a:off x="320040" y="1161360"/>
            <a:ext cx="3721320" cy="37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7000"/>
              </a:lnSpc>
              <a:spcAft>
                <a:spcPts val="400"/>
              </a:spcAft>
              <a:buNone/>
            </a:pPr>
            <a:r>
              <a:rPr b="1" lang="zh-CN" sz="2300" spc="-1" strike="noStrike">
                <a:solidFill>
                  <a:srgbClr val="42d5bb"/>
                </a:solidFill>
                <a:latin typeface="Noto Sans CJK SC"/>
              </a:rPr>
              <a:t>火灾 </a:t>
            </a:r>
            <a:r>
              <a:rPr b="1" lang="en-US" sz="2300" spc="-1" strike="noStrike">
                <a:solidFill>
                  <a:srgbClr val="42d5bb"/>
                </a:solidFill>
                <a:latin typeface="Noto Sans CJK SC"/>
              </a:rPr>
              <a:t>FIRE</a:t>
            </a:r>
            <a:endParaRPr b="0" lang="en-US" sz="2300" spc="-1" strike="noStrike">
              <a:latin typeface="Arial"/>
            </a:endParaRPr>
          </a:p>
        </p:txBody>
      </p:sp>
      <p:pic>
        <p:nvPicPr>
          <p:cNvPr id="113" name="Picture 7" descr="fire_large.png"/>
          <p:cNvPicPr/>
          <p:nvPr/>
        </p:nvPicPr>
        <p:blipFill>
          <a:blip r:embed="rId1"/>
          <a:stretch/>
        </p:blipFill>
        <p:spPr>
          <a:xfrm>
            <a:off x="320040" y="1915560"/>
            <a:ext cx="3721320" cy="4123800"/>
          </a:xfrm>
          <a:prstGeom prst="rect">
            <a:avLst/>
          </a:prstGeom>
          <a:ln w="0">
            <a:noFill/>
          </a:ln>
        </p:spPr>
      </p:pic>
      <p:sp>
        <p:nvSpPr>
          <p:cNvPr id="114" name="TextBox 8"/>
          <p:cNvSpPr/>
          <p:nvPr/>
        </p:nvSpPr>
        <p:spPr>
          <a:xfrm>
            <a:off x="4233600" y="1161360"/>
            <a:ext cx="3721320" cy="37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7000"/>
              </a:lnSpc>
              <a:spcAft>
                <a:spcPts val="400"/>
              </a:spcAft>
              <a:buNone/>
            </a:pPr>
            <a:r>
              <a:rPr b="1" lang="zh-CN" sz="2300" spc="-1" strike="noStrike">
                <a:solidFill>
                  <a:srgbClr val="42d5bb"/>
                </a:solidFill>
                <a:latin typeface="Noto Sans CJK SC"/>
              </a:rPr>
              <a:t>化学 </a:t>
            </a:r>
            <a:r>
              <a:rPr b="1" lang="en-US" sz="2300" spc="-1" strike="noStrike">
                <a:solidFill>
                  <a:srgbClr val="42d5bb"/>
                </a:solidFill>
                <a:latin typeface="Noto Sans CJK SC"/>
              </a:rPr>
              <a:t>CHEMICAL</a:t>
            </a:r>
            <a:endParaRPr b="0" lang="en-US" sz="2300" spc="-1" strike="noStrike">
              <a:latin typeface="Arial"/>
            </a:endParaRPr>
          </a:p>
        </p:txBody>
      </p:sp>
      <p:pic>
        <p:nvPicPr>
          <p:cNvPr id="115" name="Picture 9" descr="chemical_video_large.png"/>
          <p:cNvPicPr/>
          <p:nvPr/>
        </p:nvPicPr>
        <p:blipFill>
          <a:blip r:embed="rId2"/>
          <a:stretch/>
        </p:blipFill>
        <p:spPr>
          <a:xfrm>
            <a:off x="4233600" y="1868760"/>
            <a:ext cx="3721320" cy="4217400"/>
          </a:xfrm>
          <a:prstGeom prst="rect">
            <a:avLst/>
          </a:prstGeom>
          <a:ln w="0">
            <a:noFill/>
          </a:ln>
        </p:spPr>
      </p:pic>
      <p:sp>
        <p:nvSpPr>
          <p:cNvPr id="116" name="TextBox 10"/>
          <p:cNvSpPr/>
          <p:nvPr/>
        </p:nvSpPr>
        <p:spPr>
          <a:xfrm>
            <a:off x="8147160" y="1161360"/>
            <a:ext cx="3721320" cy="37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7000"/>
              </a:lnSpc>
              <a:spcAft>
                <a:spcPts val="400"/>
              </a:spcAft>
              <a:buNone/>
            </a:pPr>
            <a:r>
              <a:rPr b="1" lang="zh-CN" sz="2300" spc="-1" strike="noStrike">
                <a:solidFill>
                  <a:srgbClr val="42d5bb"/>
                </a:solidFill>
                <a:latin typeface="Noto Sans CJK SC"/>
              </a:rPr>
              <a:t>辐射 </a:t>
            </a:r>
            <a:r>
              <a:rPr b="1" lang="en-US" sz="2300" spc="-1" strike="noStrike">
                <a:solidFill>
                  <a:srgbClr val="42d5bb"/>
                </a:solidFill>
                <a:latin typeface="Noto Sans CJK SC"/>
              </a:rPr>
              <a:t>RADIATION</a:t>
            </a:r>
            <a:endParaRPr b="0" lang="en-US" sz="2300" spc="-1" strike="noStrike">
              <a:latin typeface="Arial"/>
            </a:endParaRPr>
          </a:p>
        </p:txBody>
      </p:sp>
      <p:pic>
        <p:nvPicPr>
          <p:cNvPr id="117" name="Picture 11" descr="radiation_large.png"/>
          <p:cNvPicPr/>
          <p:nvPr/>
        </p:nvPicPr>
        <p:blipFill>
          <a:blip r:embed="rId3"/>
          <a:stretch/>
        </p:blipFill>
        <p:spPr>
          <a:xfrm>
            <a:off x="8620200" y="1719000"/>
            <a:ext cx="2775600" cy="4516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TextBox 1"/>
          <p:cNvSpPr/>
          <p:nvPr/>
        </p:nvSpPr>
        <p:spPr>
          <a:xfrm>
            <a:off x="311040" y="164520"/>
            <a:ext cx="11566800" cy="50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1" lang="zh-CN" sz="3100" spc="-1" strike="noStrike">
                <a:solidFill>
                  <a:srgbClr val="f4f7fc"/>
                </a:solidFill>
                <a:latin typeface="Noto Sans CJK SC"/>
              </a:rPr>
              <a:t>走廊识别：电气、生物危害与终端打印</a:t>
            </a:r>
            <a:endParaRPr b="0" lang="en-US" sz="3100" spc="-1" strike="noStrike">
              <a:latin typeface="Arial"/>
            </a:endParaRPr>
          </a:p>
        </p:txBody>
      </p:sp>
      <p:sp>
        <p:nvSpPr>
          <p:cNvPr id="119" name="TextBox 2"/>
          <p:cNvSpPr/>
          <p:nvPr/>
        </p:nvSpPr>
        <p:spPr>
          <a:xfrm>
            <a:off x="320040" y="786240"/>
            <a:ext cx="11521080" cy="29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0" lang="zh-CN" sz="1800" spc="-1" strike="noStrike">
                <a:solidFill>
                  <a:srgbClr val="b8c7dc"/>
                </a:solidFill>
                <a:latin typeface="Noto Sans CJK SC"/>
              </a:rPr>
              <a:t>规则要求：入室前识别五类标识，并在终端打印结果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20" name="Rectangle 3"/>
          <p:cNvSpPr/>
          <p:nvPr/>
        </p:nvSpPr>
        <p:spPr>
          <a:xfrm>
            <a:off x="320040" y="6492240"/>
            <a:ext cx="11548440" cy="12600"/>
          </a:xfrm>
          <a:prstGeom prst="rect">
            <a:avLst/>
          </a:prstGeom>
          <a:solidFill>
            <a:srgbClr val="3b4c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21" name="TextBox 4"/>
          <p:cNvSpPr/>
          <p:nvPr/>
        </p:nvSpPr>
        <p:spPr>
          <a:xfrm>
            <a:off x="320040" y="6565320"/>
            <a:ext cx="10972440" cy="16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0" lang="zh-CN" sz="1020" spc="-1" strike="noStrike">
                <a:solidFill>
                  <a:srgbClr val="b8c7dc"/>
                </a:solidFill>
                <a:latin typeface="Noto Sans CJK SC"/>
              </a:rPr>
              <a:t>相机及终端：新版同次连续录屏；终端原字保留，按行裁剪换行排布，未重写检测结果。</a:t>
            </a:r>
            <a:endParaRPr b="0" lang="en-US" sz="1020" spc="-1" strike="noStrike">
              <a:latin typeface="Arial"/>
            </a:endParaRPr>
          </a:p>
        </p:txBody>
      </p:sp>
      <p:sp>
        <p:nvSpPr>
          <p:cNvPr id="122" name="TextBox 5"/>
          <p:cNvSpPr/>
          <p:nvPr/>
        </p:nvSpPr>
        <p:spPr>
          <a:xfrm>
            <a:off x="11421000" y="6537960"/>
            <a:ext cx="411120" cy="1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7000"/>
              </a:lnSpc>
              <a:spcAft>
                <a:spcPts val="400"/>
              </a:spcAft>
              <a:buNone/>
            </a:pPr>
            <a:r>
              <a:rPr b="1" lang="en-US" sz="1200" spc="-1" strike="noStrike">
                <a:solidFill>
                  <a:srgbClr val="42d5bb"/>
                </a:solidFill>
                <a:latin typeface="Noto Sans CJK SC"/>
              </a:rPr>
              <a:t>09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23" name="TextBox 6"/>
          <p:cNvSpPr/>
          <p:nvPr/>
        </p:nvSpPr>
        <p:spPr>
          <a:xfrm>
            <a:off x="320040" y="1161360"/>
            <a:ext cx="3721320" cy="37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7000"/>
              </a:lnSpc>
              <a:spcAft>
                <a:spcPts val="400"/>
              </a:spcAft>
              <a:buNone/>
            </a:pPr>
            <a:r>
              <a:rPr b="1" lang="zh-CN" sz="2300" spc="-1" strike="noStrike">
                <a:solidFill>
                  <a:srgbClr val="42d5bb"/>
                </a:solidFill>
                <a:latin typeface="Noto Sans CJK SC"/>
              </a:rPr>
              <a:t>电气 </a:t>
            </a:r>
            <a:r>
              <a:rPr b="1" lang="en-US" sz="2300" spc="-1" strike="noStrike">
                <a:solidFill>
                  <a:srgbClr val="42d5bb"/>
                </a:solidFill>
                <a:latin typeface="Noto Sans CJK SC"/>
              </a:rPr>
              <a:t>ELECTRICAL</a:t>
            </a:r>
            <a:endParaRPr b="0" lang="en-US" sz="2300" spc="-1" strike="noStrike">
              <a:latin typeface="Arial"/>
            </a:endParaRPr>
          </a:p>
        </p:txBody>
      </p:sp>
      <p:pic>
        <p:nvPicPr>
          <p:cNvPr id="124" name="Picture 7" descr="electrical_large.png"/>
          <p:cNvPicPr/>
          <p:nvPr/>
        </p:nvPicPr>
        <p:blipFill>
          <a:blip r:embed="rId1"/>
          <a:stretch/>
        </p:blipFill>
        <p:spPr>
          <a:xfrm>
            <a:off x="322560" y="1737360"/>
            <a:ext cx="3716640" cy="4388760"/>
          </a:xfrm>
          <a:prstGeom prst="rect">
            <a:avLst/>
          </a:prstGeom>
          <a:ln w="0">
            <a:noFill/>
          </a:ln>
        </p:spPr>
      </p:pic>
      <p:sp>
        <p:nvSpPr>
          <p:cNvPr id="125" name="TextBox 8"/>
          <p:cNvSpPr/>
          <p:nvPr/>
        </p:nvSpPr>
        <p:spPr>
          <a:xfrm>
            <a:off x="4233600" y="1161360"/>
            <a:ext cx="3721320" cy="37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7000"/>
              </a:lnSpc>
              <a:spcAft>
                <a:spcPts val="400"/>
              </a:spcAft>
              <a:buNone/>
            </a:pPr>
            <a:r>
              <a:rPr b="1" lang="zh-CN" sz="2300" spc="-1" strike="noStrike">
                <a:solidFill>
                  <a:srgbClr val="42d5bb"/>
                </a:solidFill>
                <a:latin typeface="Noto Sans CJK SC"/>
              </a:rPr>
              <a:t>生物 </a:t>
            </a:r>
            <a:r>
              <a:rPr b="1" lang="en-US" sz="2300" spc="-1" strike="noStrike">
                <a:solidFill>
                  <a:srgbClr val="42d5bb"/>
                </a:solidFill>
                <a:latin typeface="Noto Sans CJK SC"/>
              </a:rPr>
              <a:t>BIOHAZARD</a:t>
            </a:r>
            <a:endParaRPr b="0" lang="en-US" sz="2300" spc="-1" strike="noStrike">
              <a:latin typeface="Arial"/>
            </a:endParaRPr>
          </a:p>
        </p:txBody>
      </p:sp>
      <p:pic>
        <p:nvPicPr>
          <p:cNvPr id="126" name="Picture 9" descr="biohazard_video_large.png"/>
          <p:cNvPicPr/>
          <p:nvPr/>
        </p:nvPicPr>
        <p:blipFill>
          <a:blip r:embed="rId2"/>
          <a:stretch/>
        </p:blipFill>
        <p:spPr>
          <a:xfrm>
            <a:off x="4233600" y="1740240"/>
            <a:ext cx="3721320" cy="4383000"/>
          </a:xfrm>
          <a:prstGeom prst="rect">
            <a:avLst/>
          </a:prstGeom>
          <a:ln w="0">
            <a:noFill/>
          </a:ln>
        </p:spPr>
      </p:pic>
      <p:sp>
        <p:nvSpPr>
          <p:cNvPr id="127" name="TextBox 10"/>
          <p:cNvSpPr/>
          <p:nvPr/>
        </p:nvSpPr>
        <p:spPr>
          <a:xfrm>
            <a:off x="8229600" y="1170360"/>
            <a:ext cx="3565800" cy="35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7000"/>
              </a:lnSpc>
              <a:spcAft>
                <a:spcPts val="400"/>
              </a:spcAft>
              <a:buNone/>
            </a:pPr>
            <a:r>
              <a:rPr b="1" lang="zh-CN" sz="2200" spc="-1" strike="noStrike">
                <a:solidFill>
                  <a:srgbClr val="42d5bb"/>
                </a:solidFill>
                <a:latin typeface="Noto Sans CJK SC"/>
              </a:rPr>
              <a:t>五类终端确认</a:t>
            </a:r>
            <a:endParaRPr b="0" lang="en-US" sz="2200" spc="-1" strike="noStrike">
              <a:latin typeface="Arial"/>
            </a:endParaRPr>
          </a:p>
        </p:txBody>
      </p:sp>
      <p:pic>
        <p:nvPicPr>
          <p:cNvPr id="128" name="Picture 11" descr="corridor_terminal.png"/>
          <p:cNvPicPr/>
          <p:nvPr/>
        </p:nvPicPr>
        <p:blipFill>
          <a:blip r:embed="rId3"/>
          <a:stretch/>
        </p:blipFill>
        <p:spPr>
          <a:xfrm>
            <a:off x="8229600" y="1980360"/>
            <a:ext cx="3638880" cy="4067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TextBox 1"/>
          <p:cNvSpPr/>
          <p:nvPr/>
        </p:nvSpPr>
        <p:spPr>
          <a:xfrm>
            <a:off x="311040" y="164520"/>
            <a:ext cx="11566800" cy="50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1" lang="zh-CN" sz="3100" spc="-1" strike="noStrike">
                <a:solidFill>
                  <a:srgbClr val="f4f7fc"/>
                </a:solidFill>
                <a:latin typeface="Noto Sans CJK SC"/>
              </a:rPr>
              <a:t>同帧局部放大重检，恢复部分小目标</a:t>
            </a:r>
            <a:endParaRPr b="0" lang="en-US" sz="3100" spc="-1" strike="noStrike">
              <a:latin typeface="Arial"/>
            </a:endParaRPr>
          </a:p>
        </p:txBody>
      </p:sp>
      <p:sp>
        <p:nvSpPr>
          <p:cNvPr id="130" name="TextBox 2"/>
          <p:cNvSpPr/>
          <p:nvPr/>
        </p:nvSpPr>
        <p:spPr>
          <a:xfrm>
            <a:off x="320040" y="786240"/>
            <a:ext cx="11521080" cy="29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0" lang="zh-CN" sz="1800" spc="-1" strike="noStrike">
                <a:solidFill>
                  <a:srgbClr val="b8c7dc"/>
                </a:solidFill>
                <a:latin typeface="Noto Sans CJK SC"/>
              </a:rPr>
              <a:t>同色负例训练 → 图案 </a:t>
            </a:r>
            <a:r>
              <a:rPr b="0" lang="en-US" sz="1800" spc="-1" strike="noStrike">
                <a:solidFill>
                  <a:srgbClr val="b8c7dc"/>
                </a:solidFill>
                <a:latin typeface="Noto Sans CJK SC"/>
              </a:rPr>
              <a:t>/ </a:t>
            </a:r>
            <a:r>
              <a:rPr b="0" lang="zh-CN" sz="1800" spc="-1" strike="noStrike">
                <a:solidFill>
                  <a:srgbClr val="b8c7dc"/>
                </a:solidFill>
                <a:latin typeface="Noto Sans CJK SC"/>
              </a:rPr>
              <a:t>牌边核验 → 局部重检 → 时序确认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31" name="Rectangle 3"/>
          <p:cNvSpPr/>
          <p:nvPr/>
        </p:nvSpPr>
        <p:spPr>
          <a:xfrm>
            <a:off x="320040" y="6492240"/>
            <a:ext cx="11548440" cy="12600"/>
          </a:xfrm>
          <a:prstGeom prst="rect">
            <a:avLst/>
          </a:prstGeom>
          <a:solidFill>
            <a:srgbClr val="3b4c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32" name="TextBox 4"/>
          <p:cNvSpPr/>
          <p:nvPr/>
        </p:nvSpPr>
        <p:spPr>
          <a:xfrm>
            <a:off x="320040" y="6565320"/>
            <a:ext cx="10972440" cy="16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0" lang="zh-CN" sz="1020" spc="-1" strike="noStrike">
                <a:solidFill>
                  <a:srgbClr val="b8c7dc"/>
                </a:solidFill>
                <a:latin typeface="Noto Sans CJK SC"/>
              </a:rPr>
              <a:t>图源：创新点 </a:t>
            </a:r>
            <a:r>
              <a:rPr b="0" lang="en-US" sz="1020" spc="-1" strike="noStrike">
                <a:solidFill>
                  <a:srgbClr val="b8c7dc"/>
                </a:solidFill>
                <a:latin typeface="Noto Sans CJK SC"/>
              </a:rPr>
              <a:t>PPT </a:t>
            </a:r>
            <a:r>
              <a:rPr b="0" lang="zh-CN" sz="1020" spc="-1" strike="noStrike">
                <a:solidFill>
                  <a:srgbClr val="b8c7dc"/>
                </a:solidFill>
                <a:latin typeface="Noto Sans CJK SC"/>
              </a:rPr>
              <a:t>第 </a:t>
            </a:r>
            <a:r>
              <a:rPr b="0" lang="en-US" sz="1020" spc="-1" strike="noStrike">
                <a:solidFill>
                  <a:srgbClr val="b8c7dc"/>
                </a:solidFill>
                <a:latin typeface="Noto Sans CJK SC"/>
              </a:rPr>
              <a:t>7 </a:t>
            </a:r>
            <a:r>
              <a:rPr b="0" lang="zh-CN" sz="1020" spc="-1" strike="noStrike">
                <a:solidFill>
                  <a:srgbClr val="b8c7dc"/>
                </a:solidFill>
                <a:latin typeface="Noto Sans CJK SC"/>
              </a:rPr>
              <a:t>页；</a:t>
            </a:r>
            <a:r>
              <a:rPr b="0" lang="en-US" sz="1020" spc="-1" strike="noStrike">
                <a:solidFill>
                  <a:srgbClr val="b8c7dc"/>
                </a:solidFill>
                <a:latin typeface="Noto Sans CJK SC"/>
              </a:rPr>
              <a:t>v19 / image_0462 </a:t>
            </a:r>
            <a:r>
              <a:rPr b="0" lang="zh-CN" sz="1020" spc="-1" strike="noStrike">
                <a:solidFill>
                  <a:srgbClr val="b8c7dc"/>
                </a:solidFill>
                <a:latin typeface="Noto Sans CJK SC"/>
              </a:rPr>
              <a:t>同输入离线回放，不是两次现场录像。</a:t>
            </a:r>
            <a:endParaRPr b="0" lang="en-US" sz="1020" spc="-1" strike="noStrike">
              <a:latin typeface="Arial"/>
            </a:endParaRPr>
          </a:p>
        </p:txBody>
      </p:sp>
      <p:sp>
        <p:nvSpPr>
          <p:cNvPr id="133" name="TextBox 5"/>
          <p:cNvSpPr/>
          <p:nvPr/>
        </p:nvSpPr>
        <p:spPr>
          <a:xfrm>
            <a:off x="11421000" y="6537960"/>
            <a:ext cx="411120" cy="1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7000"/>
              </a:lnSpc>
              <a:spcAft>
                <a:spcPts val="400"/>
              </a:spcAft>
              <a:buNone/>
            </a:pPr>
            <a:r>
              <a:rPr b="1" lang="en-US" sz="1200" spc="-1" strike="noStrike">
                <a:solidFill>
                  <a:srgbClr val="42d5bb"/>
                </a:solidFill>
                <a:latin typeface="Noto Sans CJK SC"/>
              </a:rPr>
              <a:t>10</a:t>
            </a:r>
            <a:endParaRPr b="0" lang="en-US" sz="1200" spc="-1" strike="noStrike">
              <a:latin typeface="Arial"/>
            </a:endParaRPr>
          </a:p>
        </p:txBody>
      </p:sp>
      <p:pic>
        <p:nvPicPr>
          <p:cNvPr id="134" name="Picture 6" descr="recovery_same_frame_verified.png"/>
          <p:cNvPicPr/>
          <p:nvPr/>
        </p:nvPicPr>
        <p:blipFill>
          <a:blip r:embed="rId1"/>
          <a:stretch/>
        </p:blipFill>
        <p:spPr>
          <a:xfrm>
            <a:off x="478440" y="1179720"/>
            <a:ext cx="11231280" cy="5202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extBox 1"/>
          <p:cNvSpPr/>
          <p:nvPr/>
        </p:nvSpPr>
        <p:spPr>
          <a:xfrm>
            <a:off x="311040" y="164520"/>
            <a:ext cx="11566800" cy="50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1" lang="zh-CN" sz="3100" spc="-1" strike="noStrike">
                <a:solidFill>
                  <a:srgbClr val="f4f7fc"/>
                </a:solidFill>
                <a:latin typeface="Noto Sans CJK SC"/>
              </a:rPr>
              <a:t>核心标识：坍塌与有毒泄漏</a:t>
            </a:r>
            <a:endParaRPr b="0" lang="en-US" sz="3100" spc="-1" strike="noStrike">
              <a:latin typeface="Arial"/>
            </a:endParaRPr>
          </a:p>
        </p:txBody>
      </p:sp>
      <p:sp>
        <p:nvSpPr>
          <p:cNvPr id="136" name="TextBox 2"/>
          <p:cNvSpPr/>
          <p:nvPr/>
        </p:nvSpPr>
        <p:spPr>
          <a:xfrm>
            <a:off x="320040" y="786240"/>
            <a:ext cx="11521080" cy="29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0" lang="zh-CN" sz="1800" spc="-1" strike="noStrike">
                <a:solidFill>
                  <a:srgbClr val="b8c7dc"/>
                </a:solidFill>
                <a:latin typeface="Noto Sans CJK SC"/>
              </a:rPr>
              <a:t>四种图案各不相同；核心标识附加 </a:t>
            </a:r>
            <a:r>
              <a:rPr b="0" lang="en-US" sz="1800" spc="-1" strike="noStrike">
                <a:solidFill>
                  <a:srgbClr val="b8c7dc"/>
                </a:solidFill>
                <a:latin typeface="Noto Sans CJK SC"/>
              </a:rPr>
              <a:t>AprilTag</a:t>
            </a:r>
            <a:r>
              <a:rPr b="0" lang="zh-CN" sz="1800" spc="-1" strike="noStrike">
                <a:solidFill>
                  <a:srgbClr val="b8c7dc"/>
                </a:solidFill>
                <a:latin typeface="Noto Sans CJK SC"/>
              </a:rPr>
              <a:t>，类别由 </a:t>
            </a:r>
            <a:r>
              <a:rPr b="0" lang="en-US" sz="1800" spc="-1" strike="noStrike">
                <a:solidFill>
                  <a:srgbClr val="b8c7dc"/>
                </a:solidFill>
                <a:latin typeface="Noto Sans CJK SC"/>
              </a:rPr>
              <a:t>ID </a:t>
            </a:r>
            <a:r>
              <a:rPr b="0" lang="zh-CN" sz="1800" spc="-1" strike="noStrike">
                <a:solidFill>
                  <a:srgbClr val="b8c7dc"/>
                </a:solidFill>
                <a:latin typeface="Noto Sans CJK SC"/>
              </a:rPr>
              <a:t>与语义表关联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37" name="Rectangle 3"/>
          <p:cNvSpPr/>
          <p:nvPr/>
        </p:nvSpPr>
        <p:spPr>
          <a:xfrm>
            <a:off x="320040" y="6492240"/>
            <a:ext cx="11548440" cy="12600"/>
          </a:xfrm>
          <a:prstGeom prst="rect">
            <a:avLst/>
          </a:prstGeom>
          <a:solidFill>
            <a:srgbClr val="3b4c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38" name="TextBox 4"/>
          <p:cNvSpPr/>
          <p:nvPr/>
        </p:nvSpPr>
        <p:spPr>
          <a:xfrm>
            <a:off x="320040" y="6565320"/>
            <a:ext cx="10972440" cy="16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0" lang="zh-CN" sz="1020" spc="-1" strike="noStrike">
                <a:solidFill>
                  <a:srgbClr val="b8c7dc"/>
                </a:solidFill>
                <a:latin typeface="Noto Sans CJK SC"/>
              </a:rPr>
              <a:t>相机图：新版同次运行，保留原 </a:t>
            </a:r>
            <a:r>
              <a:rPr b="0" lang="en-US" sz="1020" spc="-1" strike="noStrike">
                <a:solidFill>
                  <a:srgbClr val="b8c7dc"/>
                </a:solidFill>
                <a:latin typeface="Noto Sans CJK SC"/>
              </a:rPr>
              <a:t>ID</a:t>
            </a:r>
            <a:r>
              <a:rPr b="0" lang="zh-CN" sz="1020" spc="-1" strike="noStrike">
                <a:solidFill>
                  <a:srgbClr val="b8c7dc"/>
                </a:solidFill>
                <a:latin typeface="Noto Sans CJK SC"/>
              </a:rPr>
              <a:t>、类别与估计 </a:t>
            </a:r>
            <a:r>
              <a:rPr b="0" lang="en-US" sz="1020" spc="-1" strike="noStrike">
                <a:solidFill>
                  <a:srgbClr val="b8c7dc"/>
                </a:solidFill>
                <a:latin typeface="Noto Sans CJK SC"/>
              </a:rPr>
              <a:t>map </a:t>
            </a:r>
            <a:r>
              <a:rPr b="0" lang="zh-CN" sz="1020" spc="-1" strike="noStrike">
                <a:solidFill>
                  <a:srgbClr val="b8c7dc"/>
                </a:solidFill>
                <a:latin typeface="Noto Sans CJK SC"/>
              </a:rPr>
              <a:t>坐标；仅裁背景。</a:t>
            </a:r>
            <a:endParaRPr b="0" lang="en-US" sz="1020" spc="-1" strike="noStrike">
              <a:latin typeface="Arial"/>
            </a:endParaRPr>
          </a:p>
        </p:txBody>
      </p:sp>
      <p:sp>
        <p:nvSpPr>
          <p:cNvPr id="139" name="TextBox 5"/>
          <p:cNvSpPr/>
          <p:nvPr/>
        </p:nvSpPr>
        <p:spPr>
          <a:xfrm>
            <a:off x="11421000" y="6537960"/>
            <a:ext cx="411120" cy="1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7000"/>
              </a:lnSpc>
              <a:spcAft>
                <a:spcPts val="400"/>
              </a:spcAft>
              <a:buNone/>
            </a:pPr>
            <a:r>
              <a:rPr b="1" lang="en-US" sz="1200" spc="-1" strike="noStrike">
                <a:solidFill>
                  <a:srgbClr val="42d5bb"/>
                </a:solidFill>
                <a:latin typeface="Noto Sans CJK SC"/>
              </a:rPr>
              <a:t>11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40" name="TextBox 6"/>
          <p:cNvSpPr/>
          <p:nvPr/>
        </p:nvSpPr>
        <p:spPr>
          <a:xfrm>
            <a:off x="320040" y="1170360"/>
            <a:ext cx="5677920" cy="44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7000"/>
              </a:lnSpc>
              <a:spcAft>
                <a:spcPts val="400"/>
              </a:spcAft>
              <a:buNone/>
            </a:pPr>
            <a:r>
              <a:rPr b="1" lang="en-US" sz="2700" spc="-1" strike="noStrike">
                <a:solidFill>
                  <a:srgbClr val="42d5bb"/>
                </a:solidFill>
                <a:latin typeface="Noto Sans CJK SC"/>
              </a:rPr>
              <a:t>T0 · </a:t>
            </a:r>
            <a:r>
              <a:rPr b="1" lang="zh-CN" sz="2700" spc="-1" strike="noStrike">
                <a:solidFill>
                  <a:srgbClr val="42d5bb"/>
                </a:solidFill>
                <a:latin typeface="Noto Sans CJK SC"/>
              </a:rPr>
              <a:t>坍塌</a:t>
            </a:r>
            <a:endParaRPr b="0" lang="en-US" sz="2700" spc="-1" strike="noStrike">
              <a:latin typeface="Arial"/>
            </a:endParaRPr>
          </a:p>
        </p:txBody>
      </p:sp>
      <p:pic>
        <p:nvPicPr>
          <p:cNvPr id="141" name="Picture 7" descr="tag_0_large.png"/>
          <p:cNvPicPr/>
          <p:nvPr/>
        </p:nvPicPr>
        <p:blipFill>
          <a:blip r:embed="rId1"/>
          <a:stretch/>
        </p:blipFill>
        <p:spPr>
          <a:xfrm>
            <a:off x="667080" y="1774080"/>
            <a:ext cx="4984200" cy="4434480"/>
          </a:xfrm>
          <a:prstGeom prst="rect">
            <a:avLst/>
          </a:prstGeom>
          <a:ln w="0">
            <a:noFill/>
          </a:ln>
        </p:spPr>
      </p:pic>
      <p:sp>
        <p:nvSpPr>
          <p:cNvPr id="142" name="TextBox 8"/>
          <p:cNvSpPr/>
          <p:nvPr/>
        </p:nvSpPr>
        <p:spPr>
          <a:xfrm>
            <a:off x="6190560" y="1170360"/>
            <a:ext cx="5677920" cy="44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7000"/>
              </a:lnSpc>
              <a:spcAft>
                <a:spcPts val="400"/>
              </a:spcAft>
              <a:buNone/>
            </a:pPr>
            <a:r>
              <a:rPr b="1" lang="en-US" sz="2700" spc="-1" strike="noStrike">
                <a:solidFill>
                  <a:srgbClr val="42d5bb"/>
                </a:solidFill>
                <a:latin typeface="Noto Sans CJK SC"/>
              </a:rPr>
              <a:t>T1 · </a:t>
            </a:r>
            <a:r>
              <a:rPr b="1" lang="zh-CN" sz="2700" spc="-1" strike="noStrike">
                <a:solidFill>
                  <a:srgbClr val="42d5bb"/>
                </a:solidFill>
                <a:latin typeface="Noto Sans CJK SC"/>
              </a:rPr>
              <a:t>有毒泄漏</a:t>
            </a:r>
            <a:endParaRPr b="0" lang="en-US" sz="2700" spc="-1" strike="noStrike">
              <a:latin typeface="Arial"/>
            </a:endParaRPr>
          </a:p>
        </p:txBody>
      </p:sp>
      <p:pic>
        <p:nvPicPr>
          <p:cNvPr id="143" name="Picture 9" descr="tag_1_large.png"/>
          <p:cNvPicPr/>
          <p:nvPr/>
        </p:nvPicPr>
        <p:blipFill>
          <a:blip r:embed="rId2"/>
          <a:stretch/>
        </p:blipFill>
        <p:spPr>
          <a:xfrm>
            <a:off x="6788520" y="1774080"/>
            <a:ext cx="4482000" cy="4434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TextBox 1"/>
          <p:cNvSpPr/>
          <p:nvPr/>
        </p:nvSpPr>
        <p:spPr>
          <a:xfrm>
            <a:off x="311040" y="164520"/>
            <a:ext cx="11566800" cy="50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1" lang="zh-CN" sz="3100" spc="-1" strike="noStrike">
                <a:solidFill>
                  <a:srgbClr val="f4f7fc"/>
                </a:solidFill>
                <a:latin typeface="Noto Sans CJK SC"/>
              </a:rPr>
              <a:t>核心标识：被困人员与高温</a:t>
            </a:r>
            <a:endParaRPr b="0" lang="en-US" sz="3100" spc="-1" strike="noStrike">
              <a:latin typeface="Arial"/>
            </a:endParaRPr>
          </a:p>
        </p:txBody>
      </p:sp>
      <p:sp>
        <p:nvSpPr>
          <p:cNvPr id="145" name="TextBox 2"/>
          <p:cNvSpPr/>
          <p:nvPr/>
        </p:nvSpPr>
        <p:spPr>
          <a:xfrm>
            <a:off x="320040" y="786240"/>
            <a:ext cx="11521080" cy="29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0" lang="zh-CN" sz="1800" spc="-1" strike="noStrike">
                <a:solidFill>
                  <a:srgbClr val="b8c7dc"/>
                </a:solidFill>
                <a:latin typeface="Noto Sans CJK SC"/>
              </a:rPr>
              <a:t>四种图案各不相同；核心标识附加 </a:t>
            </a:r>
            <a:r>
              <a:rPr b="0" lang="en-US" sz="1800" spc="-1" strike="noStrike">
                <a:solidFill>
                  <a:srgbClr val="b8c7dc"/>
                </a:solidFill>
                <a:latin typeface="Noto Sans CJK SC"/>
              </a:rPr>
              <a:t>AprilTag</a:t>
            </a:r>
            <a:r>
              <a:rPr b="0" lang="zh-CN" sz="1800" spc="-1" strike="noStrike">
                <a:solidFill>
                  <a:srgbClr val="b8c7dc"/>
                </a:solidFill>
                <a:latin typeface="Noto Sans CJK SC"/>
              </a:rPr>
              <a:t>，类别由 </a:t>
            </a:r>
            <a:r>
              <a:rPr b="0" lang="en-US" sz="1800" spc="-1" strike="noStrike">
                <a:solidFill>
                  <a:srgbClr val="b8c7dc"/>
                </a:solidFill>
                <a:latin typeface="Noto Sans CJK SC"/>
              </a:rPr>
              <a:t>ID </a:t>
            </a:r>
            <a:r>
              <a:rPr b="0" lang="zh-CN" sz="1800" spc="-1" strike="noStrike">
                <a:solidFill>
                  <a:srgbClr val="b8c7dc"/>
                </a:solidFill>
                <a:latin typeface="Noto Sans CJK SC"/>
              </a:rPr>
              <a:t>与语义表关联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46" name="Rectangle 3"/>
          <p:cNvSpPr/>
          <p:nvPr/>
        </p:nvSpPr>
        <p:spPr>
          <a:xfrm>
            <a:off x="320040" y="6492240"/>
            <a:ext cx="11548440" cy="12600"/>
          </a:xfrm>
          <a:prstGeom prst="rect">
            <a:avLst/>
          </a:prstGeom>
          <a:solidFill>
            <a:srgbClr val="3b4c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47" name="TextBox 4"/>
          <p:cNvSpPr/>
          <p:nvPr/>
        </p:nvSpPr>
        <p:spPr>
          <a:xfrm>
            <a:off x="320040" y="6565320"/>
            <a:ext cx="10972440" cy="16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0" lang="zh-CN" sz="1020" spc="-1" strike="noStrike">
                <a:solidFill>
                  <a:srgbClr val="b8c7dc"/>
                </a:solidFill>
                <a:latin typeface="Noto Sans CJK SC"/>
              </a:rPr>
              <a:t>相机图：新版同次运行，保留原 </a:t>
            </a:r>
            <a:r>
              <a:rPr b="0" lang="en-US" sz="1020" spc="-1" strike="noStrike">
                <a:solidFill>
                  <a:srgbClr val="b8c7dc"/>
                </a:solidFill>
                <a:latin typeface="Noto Sans CJK SC"/>
              </a:rPr>
              <a:t>ID</a:t>
            </a:r>
            <a:r>
              <a:rPr b="0" lang="zh-CN" sz="1020" spc="-1" strike="noStrike">
                <a:solidFill>
                  <a:srgbClr val="b8c7dc"/>
                </a:solidFill>
                <a:latin typeface="Noto Sans CJK SC"/>
              </a:rPr>
              <a:t>、类别与估计 </a:t>
            </a:r>
            <a:r>
              <a:rPr b="0" lang="en-US" sz="1020" spc="-1" strike="noStrike">
                <a:solidFill>
                  <a:srgbClr val="b8c7dc"/>
                </a:solidFill>
                <a:latin typeface="Noto Sans CJK SC"/>
              </a:rPr>
              <a:t>map </a:t>
            </a:r>
            <a:r>
              <a:rPr b="0" lang="zh-CN" sz="1020" spc="-1" strike="noStrike">
                <a:solidFill>
                  <a:srgbClr val="b8c7dc"/>
                </a:solidFill>
                <a:latin typeface="Noto Sans CJK SC"/>
              </a:rPr>
              <a:t>坐标；仅裁背景。</a:t>
            </a:r>
            <a:endParaRPr b="0" lang="en-US" sz="1020" spc="-1" strike="noStrike">
              <a:latin typeface="Arial"/>
            </a:endParaRPr>
          </a:p>
        </p:txBody>
      </p:sp>
      <p:sp>
        <p:nvSpPr>
          <p:cNvPr id="148" name="TextBox 5"/>
          <p:cNvSpPr/>
          <p:nvPr/>
        </p:nvSpPr>
        <p:spPr>
          <a:xfrm>
            <a:off x="11421000" y="6537960"/>
            <a:ext cx="411120" cy="1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7000"/>
              </a:lnSpc>
              <a:spcAft>
                <a:spcPts val="400"/>
              </a:spcAft>
              <a:buNone/>
            </a:pPr>
            <a:r>
              <a:rPr b="1" lang="en-US" sz="1200" spc="-1" strike="noStrike">
                <a:solidFill>
                  <a:srgbClr val="42d5bb"/>
                </a:solidFill>
                <a:latin typeface="Noto Sans CJK SC"/>
              </a:rPr>
              <a:t>12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49" name="TextBox 6"/>
          <p:cNvSpPr/>
          <p:nvPr/>
        </p:nvSpPr>
        <p:spPr>
          <a:xfrm>
            <a:off x="320040" y="1170360"/>
            <a:ext cx="5677920" cy="44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7000"/>
              </a:lnSpc>
              <a:spcAft>
                <a:spcPts val="400"/>
              </a:spcAft>
              <a:buNone/>
            </a:pPr>
            <a:r>
              <a:rPr b="1" lang="en-US" sz="2700" spc="-1" strike="noStrike">
                <a:solidFill>
                  <a:srgbClr val="42d5bb"/>
                </a:solidFill>
                <a:latin typeface="Noto Sans CJK SC"/>
              </a:rPr>
              <a:t>T2 · </a:t>
            </a:r>
            <a:r>
              <a:rPr b="1" lang="zh-CN" sz="2700" spc="-1" strike="noStrike">
                <a:solidFill>
                  <a:srgbClr val="42d5bb"/>
                </a:solidFill>
                <a:latin typeface="Noto Sans CJK SC"/>
              </a:rPr>
              <a:t>被困人员</a:t>
            </a:r>
            <a:endParaRPr b="0" lang="en-US" sz="2700" spc="-1" strike="noStrike">
              <a:latin typeface="Arial"/>
            </a:endParaRPr>
          </a:p>
        </p:txBody>
      </p:sp>
      <p:pic>
        <p:nvPicPr>
          <p:cNvPr id="150" name="Picture 7" descr="tag_2_large.png"/>
          <p:cNvPicPr/>
          <p:nvPr/>
        </p:nvPicPr>
        <p:blipFill>
          <a:blip r:embed="rId1"/>
          <a:stretch/>
        </p:blipFill>
        <p:spPr>
          <a:xfrm>
            <a:off x="1009440" y="1774080"/>
            <a:ext cx="4299480" cy="4434480"/>
          </a:xfrm>
          <a:prstGeom prst="rect">
            <a:avLst/>
          </a:prstGeom>
          <a:ln w="0">
            <a:noFill/>
          </a:ln>
        </p:spPr>
      </p:pic>
      <p:sp>
        <p:nvSpPr>
          <p:cNvPr id="151" name="TextBox 8"/>
          <p:cNvSpPr/>
          <p:nvPr/>
        </p:nvSpPr>
        <p:spPr>
          <a:xfrm>
            <a:off x="6190560" y="1170360"/>
            <a:ext cx="5677920" cy="44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7000"/>
              </a:lnSpc>
              <a:spcAft>
                <a:spcPts val="400"/>
              </a:spcAft>
              <a:buNone/>
            </a:pPr>
            <a:r>
              <a:rPr b="1" lang="en-US" sz="2700" spc="-1" strike="noStrike">
                <a:solidFill>
                  <a:srgbClr val="42d5bb"/>
                </a:solidFill>
                <a:latin typeface="Noto Sans CJK SC"/>
              </a:rPr>
              <a:t>T3 · </a:t>
            </a:r>
            <a:r>
              <a:rPr b="1" lang="zh-CN" sz="2700" spc="-1" strike="noStrike">
                <a:solidFill>
                  <a:srgbClr val="42d5bb"/>
                </a:solidFill>
                <a:latin typeface="Noto Sans CJK SC"/>
              </a:rPr>
              <a:t>高温</a:t>
            </a:r>
            <a:endParaRPr b="0" lang="en-US" sz="2700" spc="-1" strike="noStrike">
              <a:latin typeface="Arial"/>
            </a:endParaRPr>
          </a:p>
        </p:txBody>
      </p:sp>
      <p:pic>
        <p:nvPicPr>
          <p:cNvPr id="152" name="Picture 9" descr="tag_3_large.png"/>
          <p:cNvPicPr/>
          <p:nvPr/>
        </p:nvPicPr>
        <p:blipFill>
          <a:blip r:embed="rId2"/>
          <a:stretch/>
        </p:blipFill>
        <p:spPr>
          <a:xfrm>
            <a:off x="6190560" y="1914840"/>
            <a:ext cx="5677920" cy="4152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TextBox 1"/>
          <p:cNvSpPr/>
          <p:nvPr/>
        </p:nvSpPr>
        <p:spPr>
          <a:xfrm>
            <a:off x="311040" y="164520"/>
            <a:ext cx="11566800" cy="50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1" lang="zh-CN" sz="3100" spc="-1" strike="noStrike">
                <a:solidFill>
                  <a:srgbClr val="f4f7fc"/>
                </a:solidFill>
                <a:latin typeface="Noto Sans CJK SC"/>
              </a:rPr>
              <a:t>拍摄时刻 </a:t>
            </a:r>
            <a:r>
              <a:rPr b="1" lang="en-US" sz="3100" spc="-1" strike="noStrike">
                <a:solidFill>
                  <a:srgbClr val="f4f7fc"/>
                </a:solidFill>
                <a:latin typeface="Noto Sans CJK SC"/>
              </a:rPr>
              <a:t>TF</a:t>
            </a:r>
            <a:r>
              <a:rPr b="1" lang="zh-CN" sz="3100" spc="-1" strike="noStrike">
                <a:solidFill>
                  <a:srgbClr val="f4f7fc"/>
                </a:solidFill>
                <a:latin typeface="Noto Sans CJK SC"/>
              </a:rPr>
              <a:t>，让视觉结果对应 </a:t>
            </a:r>
            <a:r>
              <a:rPr b="1" lang="en-US" sz="3100" spc="-1" strike="noStrike">
                <a:solidFill>
                  <a:srgbClr val="f4f7fc"/>
                </a:solidFill>
                <a:latin typeface="Noto Sans CJK SC"/>
              </a:rPr>
              <a:t>RViz </a:t>
            </a:r>
            <a:r>
              <a:rPr b="1" lang="zh-CN" sz="3100" spc="-1" strike="noStrike">
                <a:solidFill>
                  <a:srgbClr val="f4f7fc"/>
                </a:solidFill>
                <a:latin typeface="Noto Sans CJK SC"/>
              </a:rPr>
              <a:t>地图</a:t>
            </a:r>
            <a:endParaRPr b="0" lang="en-US" sz="3100" spc="-1" strike="noStrike">
              <a:latin typeface="Arial"/>
            </a:endParaRPr>
          </a:p>
        </p:txBody>
      </p:sp>
      <p:sp>
        <p:nvSpPr>
          <p:cNvPr id="154" name="TextBox 2"/>
          <p:cNvSpPr/>
          <p:nvPr/>
        </p:nvSpPr>
        <p:spPr>
          <a:xfrm>
            <a:off x="320040" y="786240"/>
            <a:ext cx="11521080" cy="29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0" lang="zh-CN" sz="1800" spc="-1" strike="noStrike">
                <a:solidFill>
                  <a:srgbClr val="b8c7dc"/>
                </a:solidFill>
                <a:latin typeface="Noto Sans CJK SC"/>
              </a:rPr>
              <a:t>实际云台关节角 → 图像拍摄时刻坐标变换 → 多次有效观测融合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55" name="Rectangle 3"/>
          <p:cNvSpPr/>
          <p:nvPr/>
        </p:nvSpPr>
        <p:spPr>
          <a:xfrm>
            <a:off x="320040" y="6492240"/>
            <a:ext cx="11548440" cy="12600"/>
          </a:xfrm>
          <a:prstGeom prst="rect">
            <a:avLst/>
          </a:prstGeom>
          <a:solidFill>
            <a:srgbClr val="3b4c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56" name="TextBox 4"/>
          <p:cNvSpPr/>
          <p:nvPr/>
        </p:nvSpPr>
        <p:spPr>
          <a:xfrm>
            <a:off x="320040" y="6565320"/>
            <a:ext cx="10972440" cy="16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0" lang="zh-CN" sz="1020" spc="-1" strike="noStrike">
                <a:solidFill>
                  <a:srgbClr val="b8c7dc"/>
                </a:solidFill>
                <a:latin typeface="Noto Sans CJK SC"/>
              </a:rPr>
              <a:t>地图：新版同次录屏 </a:t>
            </a:r>
            <a:r>
              <a:rPr b="0" lang="en-US" sz="1020" spc="-1" strike="noStrike">
                <a:solidFill>
                  <a:srgbClr val="b8c7dc"/>
                </a:solidFill>
                <a:latin typeface="Noto Sans CJK SC"/>
              </a:rPr>
              <a:t>01:26 </a:t>
            </a:r>
            <a:r>
              <a:rPr b="0" lang="zh-CN" sz="1020" spc="-1" strike="noStrike">
                <a:solidFill>
                  <a:srgbClr val="b8c7dc"/>
                </a:solidFill>
                <a:latin typeface="Noto Sans CJK SC"/>
              </a:rPr>
              <a:t>的 </a:t>
            </a:r>
            <a:r>
              <a:rPr b="0" lang="en-US" sz="1020" spc="-1" strike="noStrike">
                <a:solidFill>
                  <a:srgbClr val="b8c7dc"/>
                </a:solidFill>
                <a:latin typeface="Noto Sans CJK SC"/>
              </a:rPr>
              <a:t>RViz</a:t>
            </a:r>
            <a:r>
              <a:rPr b="0" lang="zh-CN" sz="1020" spc="-1" strike="noStrike">
                <a:solidFill>
                  <a:srgbClr val="b8c7dc"/>
                </a:solidFill>
                <a:latin typeface="Noto Sans CJK SC"/>
              </a:rPr>
              <a:t>；源码机制来自 </a:t>
            </a:r>
            <a:r>
              <a:rPr b="0" lang="en-US" sz="1020" spc="-1" strike="noStrike">
                <a:solidFill>
                  <a:srgbClr val="b8c7dc"/>
                </a:solidFill>
                <a:latin typeface="Noto Sans CJK SC"/>
              </a:rPr>
              <a:t>vision_node.py</a:t>
            </a:r>
            <a:r>
              <a:rPr b="0" lang="zh-CN" sz="1020" spc="-1" strike="noStrike">
                <a:solidFill>
                  <a:srgbClr val="b8c7dc"/>
                </a:solidFill>
                <a:latin typeface="Noto Sans CJK SC"/>
              </a:rPr>
              <a:t>，非纯 </a:t>
            </a:r>
            <a:r>
              <a:rPr b="0" lang="en-US" sz="1020" spc="-1" strike="noStrike">
                <a:solidFill>
                  <a:srgbClr val="b8c7dc"/>
                </a:solidFill>
                <a:latin typeface="Noto Sans CJK SC"/>
              </a:rPr>
              <a:t>PnP </a:t>
            </a:r>
            <a:r>
              <a:rPr b="0" lang="zh-CN" sz="1020" spc="-1" strike="noStrike">
                <a:solidFill>
                  <a:srgbClr val="b8c7dc"/>
                </a:solidFill>
                <a:latin typeface="Noto Sans CJK SC"/>
              </a:rPr>
              <a:t>误差。</a:t>
            </a:r>
            <a:endParaRPr b="0" lang="en-US" sz="1020" spc="-1" strike="noStrike">
              <a:latin typeface="Arial"/>
            </a:endParaRPr>
          </a:p>
        </p:txBody>
      </p:sp>
      <p:sp>
        <p:nvSpPr>
          <p:cNvPr id="157" name="TextBox 5"/>
          <p:cNvSpPr/>
          <p:nvPr/>
        </p:nvSpPr>
        <p:spPr>
          <a:xfrm>
            <a:off x="11421000" y="6537960"/>
            <a:ext cx="411120" cy="1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7000"/>
              </a:lnSpc>
              <a:spcAft>
                <a:spcPts val="400"/>
              </a:spcAft>
              <a:buNone/>
            </a:pPr>
            <a:r>
              <a:rPr b="1" lang="en-US" sz="1200" spc="-1" strike="noStrike">
                <a:solidFill>
                  <a:srgbClr val="42d5bb"/>
                </a:solidFill>
                <a:latin typeface="Noto Sans CJK SC"/>
              </a:rPr>
              <a:t>13</a:t>
            </a:r>
            <a:endParaRPr b="0" lang="en-US" sz="1200" spc="-1" strike="noStrike">
              <a:latin typeface="Arial"/>
            </a:endParaRPr>
          </a:p>
        </p:txBody>
      </p:sp>
      <p:pic>
        <p:nvPicPr>
          <p:cNvPr id="158" name="Picture 6" descr="core_markers.png"/>
          <p:cNvPicPr/>
          <p:nvPr/>
        </p:nvPicPr>
        <p:blipFill>
          <a:blip r:embed="rId1"/>
          <a:stretch/>
        </p:blipFill>
        <p:spPr>
          <a:xfrm>
            <a:off x="703440" y="1179720"/>
            <a:ext cx="7517520" cy="5202720"/>
          </a:xfrm>
          <a:prstGeom prst="rect">
            <a:avLst/>
          </a:prstGeom>
          <a:ln w="0">
            <a:noFill/>
          </a:ln>
        </p:spPr>
      </p:pic>
      <p:sp>
        <p:nvSpPr>
          <p:cNvPr id="159" name="Rectangle 7"/>
          <p:cNvSpPr/>
          <p:nvPr/>
        </p:nvSpPr>
        <p:spPr>
          <a:xfrm>
            <a:off x="8897040" y="1572840"/>
            <a:ext cx="2962440" cy="1206720"/>
          </a:xfrm>
          <a:prstGeom prst="rect">
            <a:avLst/>
          </a:prstGeom>
          <a:solidFill>
            <a:srgbClr val="1d2c4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60" name="TextBox 8"/>
          <p:cNvSpPr/>
          <p:nvPr/>
        </p:nvSpPr>
        <p:spPr>
          <a:xfrm>
            <a:off x="9052560" y="1682640"/>
            <a:ext cx="2651400" cy="42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1" lang="zh-CN" sz="2600" spc="-1" strike="noStrike">
                <a:solidFill>
                  <a:srgbClr val="42d5bb"/>
                </a:solidFill>
                <a:latin typeface="Noto Sans CJK SC"/>
              </a:rPr>
              <a:t>拍摄时刻</a:t>
            </a:r>
            <a:endParaRPr b="0" lang="en-US" sz="2600" spc="-1" strike="noStrike">
              <a:latin typeface="Arial"/>
            </a:endParaRPr>
          </a:p>
        </p:txBody>
      </p:sp>
      <p:sp>
        <p:nvSpPr>
          <p:cNvPr id="161" name="TextBox 9"/>
          <p:cNvSpPr/>
          <p:nvPr/>
        </p:nvSpPr>
        <p:spPr>
          <a:xfrm>
            <a:off x="9052560" y="2286000"/>
            <a:ext cx="265140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0" lang="zh-CN" sz="1900" spc="-1" strike="noStrike">
                <a:solidFill>
                  <a:srgbClr val="f4f7fc"/>
                </a:solidFill>
                <a:latin typeface="Noto Sans CJK SC"/>
              </a:rPr>
              <a:t>匹配实际关节姿态</a:t>
            </a:r>
            <a:endParaRPr b="0" lang="en-US" sz="1900" spc="-1" strike="noStrike">
              <a:latin typeface="Arial"/>
            </a:endParaRPr>
          </a:p>
        </p:txBody>
      </p:sp>
      <p:sp>
        <p:nvSpPr>
          <p:cNvPr id="162" name="Rectangle 10"/>
          <p:cNvSpPr/>
          <p:nvPr/>
        </p:nvSpPr>
        <p:spPr>
          <a:xfrm>
            <a:off x="8897040" y="3108960"/>
            <a:ext cx="2962440" cy="1206720"/>
          </a:xfrm>
          <a:prstGeom prst="rect">
            <a:avLst/>
          </a:prstGeom>
          <a:solidFill>
            <a:srgbClr val="1d2c4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63" name="TextBox 11"/>
          <p:cNvSpPr/>
          <p:nvPr/>
        </p:nvSpPr>
        <p:spPr>
          <a:xfrm>
            <a:off x="9052560" y="3218760"/>
            <a:ext cx="2651400" cy="42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1" lang="zh-CN" sz="2600" spc="-1" strike="noStrike">
                <a:solidFill>
                  <a:srgbClr val="42d5bb"/>
                </a:solidFill>
                <a:latin typeface="Noto Sans CJK SC"/>
              </a:rPr>
              <a:t>质量筛选</a:t>
            </a:r>
            <a:endParaRPr b="0" lang="en-US" sz="2600" spc="-1" strike="noStrike">
              <a:latin typeface="Arial"/>
            </a:endParaRPr>
          </a:p>
        </p:txBody>
      </p:sp>
      <p:sp>
        <p:nvSpPr>
          <p:cNvPr id="164" name="TextBox 12"/>
          <p:cNvSpPr/>
          <p:nvPr/>
        </p:nvSpPr>
        <p:spPr>
          <a:xfrm>
            <a:off x="9052560" y="3822120"/>
            <a:ext cx="265140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0" lang="zh-CN" sz="1900" spc="-1" strike="noStrike">
                <a:solidFill>
                  <a:srgbClr val="f4f7fc"/>
                </a:solidFill>
                <a:latin typeface="Noto Sans CJK SC"/>
              </a:rPr>
              <a:t>重投影 ≤</a:t>
            </a:r>
            <a:r>
              <a:rPr b="0" lang="en-US" sz="1900" spc="-1" strike="noStrike">
                <a:solidFill>
                  <a:srgbClr val="f4f7fc"/>
                </a:solidFill>
                <a:latin typeface="Noto Sans CJK SC"/>
              </a:rPr>
              <a:t>2.5 px</a:t>
            </a:r>
            <a:endParaRPr b="0" lang="en-US" sz="1900" spc="-1" strike="noStrike">
              <a:latin typeface="Arial"/>
            </a:endParaRPr>
          </a:p>
        </p:txBody>
      </p:sp>
      <p:sp>
        <p:nvSpPr>
          <p:cNvPr id="165" name="Rectangle 13"/>
          <p:cNvSpPr/>
          <p:nvPr/>
        </p:nvSpPr>
        <p:spPr>
          <a:xfrm>
            <a:off x="8897040" y="4645080"/>
            <a:ext cx="2962440" cy="1206720"/>
          </a:xfrm>
          <a:prstGeom prst="rect">
            <a:avLst/>
          </a:prstGeom>
          <a:solidFill>
            <a:srgbClr val="1d2c4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66" name="TextBox 14"/>
          <p:cNvSpPr/>
          <p:nvPr/>
        </p:nvSpPr>
        <p:spPr>
          <a:xfrm>
            <a:off x="9052560" y="4754880"/>
            <a:ext cx="2651400" cy="42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1" lang="zh-CN" sz="2600" spc="-1" strike="noStrike">
                <a:solidFill>
                  <a:srgbClr val="42d5bb"/>
                </a:solidFill>
                <a:latin typeface="Noto Sans CJK SC"/>
              </a:rPr>
              <a:t>融合确认</a:t>
            </a:r>
            <a:endParaRPr b="0" lang="en-US" sz="2600" spc="-1" strike="noStrike">
              <a:latin typeface="Arial"/>
            </a:endParaRPr>
          </a:p>
        </p:txBody>
      </p:sp>
      <p:sp>
        <p:nvSpPr>
          <p:cNvPr id="167" name="TextBox 15"/>
          <p:cNvSpPr/>
          <p:nvPr/>
        </p:nvSpPr>
        <p:spPr>
          <a:xfrm>
            <a:off x="9052560" y="5358240"/>
            <a:ext cx="265140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0" lang="zh-CN" sz="1900" spc="-1" strike="noStrike">
                <a:solidFill>
                  <a:srgbClr val="f4f7fc"/>
                </a:solidFill>
                <a:latin typeface="Noto Sans CJK SC"/>
              </a:rPr>
              <a:t>至少 </a:t>
            </a:r>
            <a:r>
              <a:rPr b="0" lang="en-US" sz="1900" spc="-1" strike="noStrike">
                <a:solidFill>
                  <a:srgbClr val="f4f7fc"/>
                </a:solidFill>
                <a:latin typeface="Noto Sans CJK SC"/>
              </a:rPr>
              <a:t>4 </a:t>
            </a:r>
            <a:r>
              <a:rPr b="0" lang="zh-CN" sz="1900" spc="-1" strike="noStrike">
                <a:solidFill>
                  <a:srgbClr val="f4f7fc"/>
                </a:solidFill>
                <a:latin typeface="Noto Sans CJK SC"/>
              </a:rPr>
              <a:t>次有效观测</a:t>
            </a:r>
            <a:endParaRPr b="0" lang="en-US" sz="1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TextBox 1"/>
          <p:cNvSpPr/>
          <p:nvPr/>
        </p:nvSpPr>
        <p:spPr>
          <a:xfrm>
            <a:off x="311040" y="164520"/>
            <a:ext cx="11566800" cy="50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1" lang="zh-CN" sz="3100" spc="-1" strike="noStrike">
                <a:solidFill>
                  <a:srgbClr val="f4f7fc"/>
                </a:solidFill>
                <a:latin typeface="Noto Sans CJK SC"/>
              </a:rPr>
              <a:t>门洞残留栅格清理区：让旧占用不再堵路</a:t>
            </a:r>
            <a:endParaRPr b="0" lang="en-US" sz="3100" spc="-1" strike="noStrike">
              <a:latin typeface="Arial"/>
            </a:endParaRPr>
          </a:p>
        </p:txBody>
      </p:sp>
      <p:sp>
        <p:nvSpPr>
          <p:cNvPr id="169" name="TextBox 2"/>
          <p:cNvSpPr/>
          <p:nvPr/>
        </p:nvSpPr>
        <p:spPr>
          <a:xfrm>
            <a:off x="320040" y="786240"/>
            <a:ext cx="11521080" cy="29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0" lang="zh-CN" sz="1800" spc="-1" strike="noStrike">
                <a:solidFill>
                  <a:srgbClr val="b8c7dc"/>
                </a:solidFill>
                <a:latin typeface="Noto Sans CJK SC"/>
              </a:rPr>
              <a:t>限定区域内，三次不同时间戳的激光自由证据才清理派生导航图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70" name="Rectangle 3"/>
          <p:cNvSpPr/>
          <p:nvPr/>
        </p:nvSpPr>
        <p:spPr>
          <a:xfrm>
            <a:off x="320040" y="6492240"/>
            <a:ext cx="11548440" cy="12600"/>
          </a:xfrm>
          <a:prstGeom prst="rect">
            <a:avLst/>
          </a:prstGeom>
          <a:solidFill>
            <a:srgbClr val="3b4c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71" name="TextBox 4"/>
          <p:cNvSpPr/>
          <p:nvPr/>
        </p:nvSpPr>
        <p:spPr>
          <a:xfrm>
            <a:off x="320040" y="6565320"/>
            <a:ext cx="10972440" cy="16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0" lang="zh-CN" sz="1020" spc="-1" strike="noStrike">
                <a:solidFill>
                  <a:srgbClr val="b8c7dc"/>
                </a:solidFill>
                <a:latin typeface="Noto Sans CJK SC"/>
              </a:rPr>
              <a:t>图：实际 </a:t>
            </a:r>
            <a:r>
              <a:rPr b="0" lang="en-US" sz="1020" spc="-1" strike="noStrike">
                <a:solidFill>
                  <a:srgbClr val="b8c7dc"/>
                </a:solidFill>
                <a:latin typeface="Noto Sans CJK SC"/>
              </a:rPr>
              <a:t>rescue_map.pgm + navigation_map.yaml</a:t>
            </a:r>
            <a:r>
              <a:rPr b="0" lang="zh-CN" sz="1020" spc="-1" strike="noStrike">
                <a:solidFill>
                  <a:srgbClr val="b8c7dc"/>
                </a:solidFill>
                <a:latin typeface="Noto Sans CJK SC"/>
              </a:rPr>
              <a:t>；配置叠加原理图，未录制逐格清理前后对照。</a:t>
            </a:r>
            <a:endParaRPr b="0" lang="en-US" sz="1020" spc="-1" strike="noStrike">
              <a:latin typeface="Arial"/>
            </a:endParaRPr>
          </a:p>
        </p:txBody>
      </p:sp>
      <p:sp>
        <p:nvSpPr>
          <p:cNvPr id="172" name="TextBox 5"/>
          <p:cNvSpPr/>
          <p:nvPr/>
        </p:nvSpPr>
        <p:spPr>
          <a:xfrm>
            <a:off x="11421000" y="6537960"/>
            <a:ext cx="411120" cy="1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7000"/>
              </a:lnSpc>
              <a:spcAft>
                <a:spcPts val="400"/>
              </a:spcAft>
              <a:buNone/>
            </a:pPr>
            <a:r>
              <a:rPr b="1" lang="en-US" sz="1200" spc="-1" strike="noStrike">
                <a:solidFill>
                  <a:srgbClr val="42d5bb"/>
                </a:solidFill>
                <a:latin typeface="Noto Sans CJK SC"/>
              </a:rPr>
              <a:t>14</a:t>
            </a:r>
            <a:endParaRPr b="0" lang="en-US" sz="1200" spc="-1" strike="noStrike">
              <a:latin typeface="Arial"/>
            </a:endParaRPr>
          </a:p>
        </p:txBody>
      </p:sp>
      <p:pic>
        <p:nvPicPr>
          <p:cNvPr id="173" name="Picture 6" descr="navigation_map_regions.png"/>
          <p:cNvPicPr/>
          <p:nvPr/>
        </p:nvPicPr>
        <p:blipFill>
          <a:blip r:embed="rId1"/>
          <a:stretch/>
        </p:blipFill>
        <p:spPr>
          <a:xfrm>
            <a:off x="407160" y="1152000"/>
            <a:ext cx="5101560" cy="5211720"/>
          </a:xfrm>
          <a:prstGeom prst="rect">
            <a:avLst/>
          </a:prstGeom>
          <a:ln w="0">
            <a:noFill/>
          </a:ln>
        </p:spPr>
      </p:pic>
      <p:pic>
        <p:nvPicPr>
          <p:cNvPr id="174" name="Picture 7" descr="地图门洞放大.png"/>
          <p:cNvPicPr/>
          <p:nvPr/>
        </p:nvPicPr>
        <p:blipFill>
          <a:blip r:embed="rId2"/>
          <a:stretch/>
        </p:blipFill>
        <p:spPr>
          <a:xfrm>
            <a:off x="5824800" y="1226160"/>
            <a:ext cx="6043680" cy="3966120"/>
          </a:xfrm>
          <a:prstGeom prst="rect">
            <a:avLst/>
          </a:prstGeom>
          <a:ln w="0">
            <a:noFill/>
          </a:ln>
        </p:spPr>
      </p:pic>
      <p:sp>
        <p:nvSpPr>
          <p:cNvPr id="175" name="TextBox 8"/>
          <p:cNvSpPr/>
          <p:nvPr/>
        </p:nvSpPr>
        <p:spPr>
          <a:xfrm>
            <a:off x="5989320" y="5495400"/>
            <a:ext cx="5723640" cy="86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1" lang="zh-CN" sz="2500" spc="-1" strike="noStrike">
                <a:solidFill>
                  <a:srgbClr val="42d5bb"/>
                </a:solidFill>
                <a:latin typeface="Noto Sans CJK SC"/>
              </a:rPr>
              <a:t>原始 </a:t>
            </a:r>
            <a:r>
              <a:rPr b="1" lang="en-US" sz="2500" spc="-1" strike="noStrike">
                <a:solidFill>
                  <a:srgbClr val="42d5bb"/>
                </a:solidFill>
                <a:latin typeface="Noto Sans CJK SC"/>
              </a:rPr>
              <a:t>PGM </a:t>
            </a:r>
            <a:r>
              <a:rPr b="1" lang="zh-CN" sz="2500" spc="-1" strike="noStrike">
                <a:solidFill>
                  <a:srgbClr val="42d5bb"/>
                </a:solidFill>
                <a:latin typeface="Noto Sans CJK SC"/>
              </a:rPr>
              <a:t>保留</a:t>
            </a:r>
            <a:endParaRPr b="0" lang="en-US" sz="2500" spc="-1" strike="noStrike">
              <a:latin typeface="Arial"/>
            </a:endParaRPr>
          </a:p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1" lang="zh-CN" sz="2500" spc="-1" strike="noStrike">
                <a:solidFill>
                  <a:srgbClr val="42d5bb"/>
                </a:solidFill>
                <a:latin typeface="Noto Sans CJK SC"/>
              </a:rPr>
              <a:t>新障碍由实时激光层标记</a:t>
            </a:r>
            <a:endParaRPr b="0" lang="en-US" sz="25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TextBox 1"/>
          <p:cNvSpPr/>
          <p:nvPr/>
        </p:nvSpPr>
        <p:spPr>
          <a:xfrm>
            <a:off x="311040" y="164520"/>
            <a:ext cx="11566800" cy="50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1" lang="zh-CN" sz="3100" spc="-1" strike="noStrike">
                <a:solidFill>
                  <a:srgbClr val="f4f7fc"/>
                </a:solidFill>
                <a:latin typeface="Noto Sans CJK SC"/>
              </a:rPr>
              <a:t>按任务阶段选速度：完整任务平均缩短 </a:t>
            </a:r>
            <a:r>
              <a:rPr b="1" lang="en-US" sz="3100" spc="-1" strike="noStrike">
                <a:solidFill>
                  <a:srgbClr val="f4f7fc"/>
                </a:solidFill>
                <a:latin typeface="Noto Sans CJK SC"/>
              </a:rPr>
              <a:t>7.6%</a:t>
            </a:r>
            <a:endParaRPr b="0" lang="en-US" sz="3100" spc="-1" strike="noStrike">
              <a:latin typeface="Arial"/>
            </a:endParaRPr>
          </a:p>
        </p:txBody>
      </p:sp>
      <p:sp>
        <p:nvSpPr>
          <p:cNvPr id="177" name="TextBox 2"/>
          <p:cNvSpPr/>
          <p:nvPr/>
        </p:nvSpPr>
        <p:spPr>
          <a:xfrm>
            <a:off x="320040" y="786240"/>
            <a:ext cx="11521080" cy="29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0" lang="zh-CN" sz="1800" spc="-1" strike="noStrike">
                <a:solidFill>
                  <a:srgbClr val="b8c7dc"/>
                </a:solidFill>
                <a:latin typeface="Noto Sans CJK SC"/>
              </a:rPr>
              <a:t>普通 </a:t>
            </a:r>
            <a:r>
              <a:rPr b="0" lang="en-US" sz="1800" spc="-1" strike="noStrike">
                <a:solidFill>
                  <a:srgbClr val="b8c7dc"/>
                </a:solidFill>
                <a:latin typeface="Noto Sans CJK SC"/>
              </a:rPr>
              <a:t>0.20 m/s · </a:t>
            </a:r>
            <a:r>
              <a:rPr b="0" lang="zh-CN" sz="1800" spc="-1" strike="noStrike">
                <a:solidFill>
                  <a:srgbClr val="b8c7dc"/>
                </a:solidFill>
                <a:latin typeface="Noto Sans CJK SC"/>
              </a:rPr>
              <a:t>精细 </a:t>
            </a:r>
            <a:r>
              <a:rPr b="0" lang="en-US" sz="1800" spc="-1" strike="noStrike">
                <a:solidFill>
                  <a:srgbClr val="b8c7dc"/>
                </a:solidFill>
                <a:latin typeface="Noto Sans CJK SC"/>
              </a:rPr>
              <a:t>0.12 m/s · </a:t>
            </a:r>
            <a:r>
              <a:rPr b="0" lang="zh-CN" sz="1800" spc="-1" strike="noStrike">
                <a:solidFill>
                  <a:srgbClr val="b8c7dc"/>
                </a:solidFill>
                <a:latin typeface="Noto Sans CJK SC"/>
              </a:rPr>
              <a:t>推障 </a:t>
            </a:r>
            <a:r>
              <a:rPr b="0" lang="en-US" sz="1800" spc="-1" strike="noStrike">
                <a:solidFill>
                  <a:srgbClr val="b8c7dc"/>
                </a:solidFill>
                <a:latin typeface="Noto Sans CJK SC"/>
              </a:rPr>
              <a:t>0.10 m/s</a:t>
            </a:r>
            <a:r>
              <a:rPr b="0" lang="zh-CN" sz="1800" spc="-1" strike="noStrike">
                <a:solidFill>
                  <a:srgbClr val="b8c7dc"/>
                </a:solidFill>
                <a:latin typeface="Noto Sans CJK SC"/>
              </a:rPr>
              <a:t>；到位置后单独对正朝向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78" name="Rectangle 3"/>
          <p:cNvSpPr/>
          <p:nvPr/>
        </p:nvSpPr>
        <p:spPr>
          <a:xfrm>
            <a:off x="320040" y="6492240"/>
            <a:ext cx="11548440" cy="12600"/>
          </a:xfrm>
          <a:prstGeom prst="rect">
            <a:avLst/>
          </a:prstGeom>
          <a:solidFill>
            <a:srgbClr val="3b4c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79" name="TextBox 4"/>
          <p:cNvSpPr/>
          <p:nvPr/>
        </p:nvSpPr>
        <p:spPr>
          <a:xfrm>
            <a:off x="320040" y="6565320"/>
            <a:ext cx="10972440" cy="16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0" lang="zh-CN" sz="1020" spc="-1" strike="noStrike">
                <a:solidFill>
                  <a:srgbClr val="b8c7dc"/>
                </a:solidFill>
                <a:latin typeface="Noto Sans CJK SC"/>
              </a:rPr>
              <a:t>数据：</a:t>
            </a:r>
            <a:r>
              <a:rPr b="0" lang="en-US" sz="1020" spc="-1" strike="noStrike">
                <a:solidFill>
                  <a:srgbClr val="b8c7dc"/>
                </a:solidFill>
                <a:latin typeface="Noto Sans CJK SC"/>
              </a:rPr>
              <a:t>2026-10-12 </a:t>
            </a:r>
            <a:r>
              <a:rPr b="0" lang="zh-CN" sz="1020" spc="-1" strike="noStrike">
                <a:solidFill>
                  <a:srgbClr val="b8c7dc"/>
                </a:solidFill>
                <a:latin typeface="Noto Sans CJK SC"/>
              </a:rPr>
              <a:t>独立无界面速度实验；</a:t>
            </a:r>
            <a:r>
              <a:rPr b="0" lang="en-US" sz="1020" spc="-1" strike="noStrike">
                <a:solidFill>
                  <a:srgbClr val="b8c7dc"/>
                </a:solidFill>
                <a:latin typeface="Noto Sans CJK SC"/>
              </a:rPr>
              <a:t>1 </a:t>
            </a:r>
            <a:r>
              <a:rPr b="0" lang="zh-CN" sz="1020" spc="-1" strike="noStrike">
                <a:solidFill>
                  <a:srgbClr val="b8c7dc"/>
                </a:solidFill>
                <a:latin typeface="Noto Sans CJK SC"/>
              </a:rPr>
              <a:t>次基准、</a:t>
            </a:r>
            <a:r>
              <a:rPr b="0" lang="en-US" sz="1020" spc="-1" strike="noStrike">
                <a:solidFill>
                  <a:srgbClr val="b8c7dc"/>
                </a:solidFill>
                <a:latin typeface="Noto Sans CJK SC"/>
              </a:rPr>
              <a:t>2 </a:t>
            </a:r>
            <a:r>
              <a:rPr b="0" lang="zh-CN" sz="1020" spc="-1" strike="noStrike">
                <a:solidFill>
                  <a:srgbClr val="b8c7dc"/>
                </a:solidFill>
                <a:latin typeface="Noto Sans CJK SC"/>
              </a:rPr>
              <a:t>次最终配置，与本次 </a:t>
            </a:r>
            <a:r>
              <a:rPr b="0" lang="en-US" sz="1020" spc="-1" strike="noStrike">
                <a:solidFill>
                  <a:srgbClr val="b8c7dc"/>
                </a:solidFill>
                <a:latin typeface="Noto Sans CJK SC"/>
              </a:rPr>
              <a:t>GUI </a:t>
            </a:r>
            <a:r>
              <a:rPr b="0" lang="zh-CN" sz="1020" spc="-1" strike="noStrike">
                <a:solidFill>
                  <a:srgbClr val="b8c7dc"/>
                </a:solidFill>
                <a:latin typeface="Noto Sans CJK SC"/>
              </a:rPr>
              <a:t>录屏分别统计。</a:t>
            </a:r>
            <a:endParaRPr b="0" lang="en-US" sz="1020" spc="-1" strike="noStrike">
              <a:latin typeface="Arial"/>
            </a:endParaRPr>
          </a:p>
        </p:txBody>
      </p:sp>
      <p:sp>
        <p:nvSpPr>
          <p:cNvPr id="180" name="TextBox 5"/>
          <p:cNvSpPr/>
          <p:nvPr/>
        </p:nvSpPr>
        <p:spPr>
          <a:xfrm>
            <a:off x="11421000" y="6537960"/>
            <a:ext cx="411120" cy="1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7000"/>
              </a:lnSpc>
              <a:spcAft>
                <a:spcPts val="400"/>
              </a:spcAft>
              <a:buNone/>
            </a:pPr>
            <a:r>
              <a:rPr b="1" lang="en-US" sz="1200" spc="-1" strike="noStrike">
                <a:solidFill>
                  <a:srgbClr val="42d5bb"/>
                </a:solidFill>
                <a:latin typeface="Noto Sans CJK SC"/>
              </a:rPr>
              <a:t>15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81" name="TextBox 6"/>
          <p:cNvSpPr/>
          <p:nvPr/>
        </p:nvSpPr>
        <p:spPr>
          <a:xfrm>
            <a:off x="502920" y="1280160"/>
            <a:ext cx="8503560" cy="44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1" lang="zh-CN" sz="2700" spc="-1" strike="noStrike">
                <a:solidFill>
                  <a:srgbClr val="f4f7fc"/>
                </a:solidFill>
                <a:latin typeface="Noto Sans CJK SC"/>
              </a:rPr>
              <a:t>首次导航 → 完整任务完成</a:t>
            </a:r>
            <a:endParaRPr b="0" lang="en-US" sz="2700" spc="-1" strike="noStrike">
              <a:latin typeface="Arial"/>
            </a:endParaRPr>
          </a:p>
        </p:txBody>
      </p:sp>
      <p:sp>
        <p:nvSpPr>
          <p:cNvPr id="182" name="TextBox 7"/>
          <p:cNvSpPr/>
          <p:nvPr/>
        </p:nvSpPr>
        <p:spPr>
          <a:xfrm>
            <a:off x="548640" y="2368440"/>
            <a:ext cx="2971440" cy="42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1" lang="zh-CN" sz="2600" spc="-1" strike="noStrike">
                <a:solidFill>
                  <a:srgbClr val="f4f7fc"/>
                </a:solidFill>
                <a:latin typeface="Noto Sans CJK SC"/>
              </a:rPr>
              <a:t>原速（</a:t>
            </a:r>
            <a:r>
              <a:rPr b="1" lang="en-US" sz="2600" spc="-1" strike="noStrike">
                <a:solidFill>
                  <a:srgbClr val="f4f7fc"/>
                </a:solidFill>
                <a:latin typeface="Noto Sans CJK SC"/>
              </a:rPr>
              <a:t>1 </a:t>
            </a:r>
            <a:r>
              <a:rPr b="1" lang="zh-CN" sz="2600" spc="-1" strike="noStrike">
                <a:solidFill>
                  <a:srgbClr val="f4f7fc"/>
                </a:solidFill>
                <a:latin typeface="Noto Sans CJK SC"/>
              </a:rPr>
              <a:t>次）</a:t>
            </a:r>
            <a:endParaRPr b="0" lang="en-US" sz="2600" spc="-1" strike="noStrike">
              <a:latin typeface="Arial"/>
            </a:endParaRPr>
          </a:p>
        </p:txBody>
      </p:sp>
      <p:sp>
        <p:nvSpPr>
          <p:cNvPr id="183" name="Rectangle 8"/>
          <p:cNvSpPr/>
          <p:nvPr/>
        </p:nvSpPr>
        <p:spPr>
          <a:xfrm>
            <a:off x="3703320" y="2176200"/>
            <a:ext cx="5934600" cy="877320"/>
          </a:xfrm>
          <a:prstGeom prst="rect">
            <a:avLst/>
          </a:prstGeom>
          <a:solidFill>
            <a:srgbClr val="b8c7d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84" name="TextBox 9"/>
          <p:cNvSpPr/>
          <p:nvPr/>
        </p:nvSpPr>
        <p:spPr>
          <a:xfrm>
            <a:off x="9812160" y="2350080"/>
            <a:ext cx="1919880" cy="50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1" lang="en-US" sz="3100" spc="-1" strike="noStrike">
                <a:solidFill>
                  <a:srgbClr val="b8c7dc"/>
                </a:solidFill>
                <a:latin typeface="Noto Sans CJK SC"/>
              </a:rPr>
              <a:t>310.82 s</a:t>
            </a:r>
            <a:endParaRPr b="0" lang="en-US" sz="3100" spc="-1" strike="noStrike">
              <a:latin typeface="Arial"/>
            </a:endParaRPr>
          </a:p>
        </p:txBody>
      </p:sp>
      <p:sp>
        <p:nvSpPr>
          <p:cNvPr id="185" name="TextBox 10"/>
          <p:cNvSpPr/>
          <p:nvPr/>
        </p:nvSpPr>
        <p:spPr>
          <a:xfrm>
            <a:off x="548640" y="3895200"/>
            <a:ext cx="2971440" cy="42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1" lang="zh-CN" sz="2600" spc="-1" strike="noStrike">
                <a:solidFill>
                  <a:srgbClr val="f4f7fc"/>
                </a:solidFill>
                <a:latin typeface="Noto Sans CJK SC"/>
              </a:rPr>
              <a:t>最终（</a:t>
            </a:r>
            <a:r>
              <a:rPr b="1" lang="en-US" sz="2600" spc="-1" strike="noStrike">
                <a:solidFill>
                  <a:srgbClr val="f4f7fc"/>
                </a:solidFill>
                <a:latin typeface="Noto Sans CJK SC"/>
              </a:rPr>
              <a:t>2 </a:t>
            </a:r>
            <a:r>
              <a:rPr b="1" lang="zh-CN" sz="2600" spc="-1" strike="noStrike">
                <a:solidFill>
                  <a:srgbClr val="f4f7fc"/>
                </a:solidFill>
                <a:latin typeface="Noto Sans CJK SC"/>
              </a:rPr>
              <a:t>次均值）</a:t>
            </a:r>
            <a:endParaRPr b="0" lang="en-US" sz="2600" spc="-1" strike="noStrike">
              <a:latin typeface="Arial"/>
            </a:endParaRPr>
          </a:p>
        </p:txBody>
      </p:sp>
      <p:sp>
        <p:nvSpPr>
          <p:cNvPr id="186" name="Rectangle 11"/>
          <p:cNvSpPr/>
          <p:nvPr/>
        </p:nvSpPr>
        <p:spPr>
          <a:xfrm>
            <a:off x="3703320" y="3703320"/>
            <a:ext cx="5483520" cy="877320"/>
          </a:xfrm>
          <a:prstGeom prst="rect">
            <a:avLst/>
          </a:prstGeom>
          <a:solidFill>
            <a:srgbClr val="42d5b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87" name="TextBox 12"/>
          <p:cNvSpPr/>
          <p:nvPr/>
        </p:nvSpPr>
        <p:spPr>
          <a:xfrm>
            <a:off x="9361080" y="3877200"/>
            <a:ext cx="1919880" cy="50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1" lang="en-US" sz="3100" spc="-1" strike="noStrike">
                <a:solidFill>
                  <a:srgbClr val="42d5bb"/>
                </a:solidFill>
                <a:latin typeface="Noto Sans CJK SC"/>
              </a:rPr>
              <a:t>287.20 s</a:t>
            </a:r>
            <a:endParaRPr b="0" lang="en-US" sz="3100" spc="-1" strike="noStrike">
              <a:latin typeface="Arial"/>
            </a:endParaRPr>
          </a:p>
        </p:txBody>
      </p:sp>
      <p:sp>
        <p:nvSpPr>
          <p:cNvPr id="188" name="TextBox 13"/>
          <p:cNvSpPr/>
          <p:nvPr/>
        </p:nvSpPr>
        <p:spPr>
          <a:xfrm>
            <a:off x="640080" y="5294520"/>
            <a:ext cx="4388760" cy="60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1" lang="zh-CN" sz="3700" spc="-1" strike="noStrike">
                <a:solidFill>
                  <a:srgbClr val="ffc466"/>
                </a:solidFill>
                <a:latin typeface="Noto Sans CJK SC"/>
              </a:rPr>
              <a:t>节省 </a:t>
            </a:r>
            <a:r>
              <a:rPr b="1" lang="en-US" sz="3700" spc="-1" strike="noStrike">
                <a:solidFill>
                  <a:srgbClr val="ffc466"/>
                </a:solidFill>
                <a:latin typeface="Noto Sans CJK SC"/>
              </a:rPr>
              <a:t>23.62 s</a:t>
            </a:r>
            <a:endParaRPr b="0" lang="en-US" sz="3700" spc="-1" strike="noStrike">
              <a:latin typeface="Arial"/>
            </a:endParaRPr>
          </a:p>
        </p:txBody>
      </p:sp>
      <p:sp>
        <p:nvSpPr>
          <p:cNvPr id="189" name="TextBox 14"/>
          <p:cNvSpPr/>
          <p:nvPr/>
        </p:nvSpPr>
        <p:spPr>
          <a:xfrm>
            <a:off x="5513760" y="5221080"/>
            <a:ext cx="6126120" cy="96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1" lang="en-US" sz="2800" spc="-1" strike="noStrike">
                <a:solidFill>
                  <a:srgbClr val="42d5bb"/>
                </a:solidFill>
                <a:latin typeface="Noto Sans CJK SC"/>
              </a:rPr>
              <a:t>5 </a:t>
            </a:r>
            <a:r>
              <a:rPr b="1" lang="zh-CN" sz="2800" spc="-1" strike="noStrike">
                <a:solidFill>
                  <a:srgbClr val="42d5bb"/>
                </a:solidFill>
                <a:latin typeface="Noto Sans CJK SC"/>
              </a:rPr>
              <a:t>类 </a:t>
            </a:r>
            <a:r>
              <a:rPr b="1" lang="en-US" sz="2800" spc="-1" strike="noStrike">
                <a:solidFill>
                  <a:srgbClr val="42d5bb"/>
                </a:solidFill>
                <a:latin typeface="Noto Sans CJK SC"/>
              </a:rPr>
              <a:t>+ 4 </a:t>
            </a:r>
            <a:r>
              <a:rPr b="1" lang="zh-CN" sz="2800" spc="-1" strike="noStrike">
                <a:solidFill>
                  <a:srgbClr val="42d5bb"/>
                </a:solidFill>
                <a:latin typeface="Noto Sans CJK SC"/>
              </a:rPr>
              <a:t>标签</a:t>
            </a:r>
            <a:endParaRPr b="0" lang="en-US" sz="2800" spc="-1" strike="noStrike">
              <a:latin typeface="Arial"/>
            </a:endParaRPr>
          </a:p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1" lang="zh-CN" sz="2800" spc="-1" strike="noStrike">
                <a:solidFill>
                  <a:srgbClr val="42d5bb"/>
                </a:solidFill>
                <a:latin typeface="Noto Sans CJK SC"/>
              </a:rPr>
              <a:t>两次均完成全部目标</a:t>
            </a:r>
            <a:endParaRPr b="0" lang="en-US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TextBox 1"/>
          <p:cNvSpPr/>
          <p:nvPr/>
        </p:nvSpPr>
        <p:spPr>
          <a:xfrm>
            <a:off x="311040" y="164520"/>
            <a:ext cx="11566800" cy="50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1" lang="zh-CN" sz="3100" spc="-1" strike="noStrike">
                <a:solidFill>
                  <a:srgbClr val="f4f7fc"/>
                </a:solidFill>
                <a:latin typeface="Noto Sans CJK SC"/>
              </a:rPr>
              <a:t>当前视频的同次验收结果</a:t>
            </a:r>
            <a:endParaRPr b="0" lang="en-US" sz="3100" spc="-1" strike="noStrike">
              <a:latin typeface="Arial"/>
            </a:endParaRPr>
          </a:p>
        </p:txBody>
      </p:sp>
      <p:sp>
        <p:nvSpPr>
          <p:cNvPr id="191" name="TextBox 2"/>
          <p:cNvSpPr/>
          <p:nvPr/>
        </p:nvSpPr>
        <p:spPr>
          <a:xfrm>
            <a:off x="320040" y="786240"/>
            <a:ext cx="11521080" cy="29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0" lang="zh-CN" sz="1800" spc="-1" strike="noStrike">
                <a:solidFill>
                  <a:srgbClr val="b8c7dc"/>
                </a:solidFill>
                <a:latin typeface="Noto Sans CJK SC"/>
              </a:rPr>
              <a:t>完整任务、相机画面、日志、轨迹和源码哈希对应同一运行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92" name="Rectangle 3"/>
          <p:cNvSpPr/>
          <p:nvPr/>
        </p:nvSpPr>
        <p:spPr>
          <a:xfrm>
            <a:off x="320040" y="6492240"/>
            <a:ext cx="11548440" cy="12600"/>
          </a:xfrm>
          <a:prstGeom prst="rect">
            <a:avLst/>
          </a:prstGeom>
          <a:solidFill>
            <a:srgbClr val="3b4c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93" name="TextBox 4"/>
          <p:cNvSpPr/>
          <p:nvPr/>
        </p:nvSpPr>
        <p:spPr>
          <a:xfrm>
            <a:off x="320040" y="6565320"/>
            <a:ext cx="10972440" cy="16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0" lang="zh-CN" sz="1020" spc="-1" strike="noStrike">
                <a:solidFill>
                  <a:srgbClr val="b8c7dc"/>
                </a:solidFill>
                <a:latin typeface="Noto Sans CJK SC"/>
              </a:rPr>
              <a:t>同次 </a:t>
            </a:r>
            <a:r>
              <a:rPr b="0" lang="en-US" sz="1020" spc="-1" strike="noStrike">
                <a:solidFill>
                  <a:srgbClr val="b8c7dc"/>
                </a:solidFill>
                <a:latin typeface="Noto Sans CJK SC"/>
              </a:rPr>
              <a:t>evidence/evaluation.json</a:t>
            </a:r>
            <a:r>
              <a:rPr b="0" lang="zh-CN" sz="1020" spc="-1" strike="noStrike">
                <a:solidFill>
                  <a:srgbClr val="b8c7dc"/>
                </a:solidFill>
                <a:latin typeface="Noto Sans CJK SC"/>
              </a:rPr>
              <a:t>；墙体轮廓离散采样为空，不等于连续接触测量。</a:t>
            </a:r>
            <a:endParaRPr b="0" lang="en-US" sz="1020" spc="-1" strike="noStrike">
              <a:latin typeface="Arial"/>
            </a:endParaRPr>
          </a:p>
        </p:txBody>
      </p:sp>
      <p:sp>
        <p:nvSpPr>
          <p:cNvPr id="194" name="TextBox 5"/>
          <p:cNvSpPr/>
          <p:nvPr/>
        </p:nvSpPr>
        <p:spPr>
          <a:xfrm>
            <a:off x="11421000" y="6537960"/>
            <a:ext cx="411120" cy="1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7000"/>
              </a:lnSpc>
              <a:spcAft>
                <a:spcPts val="400"/>
              </a:spcAft>
              <a:buNone/>
            </a:pPr>
            <a:r>
              <a:rPr b="1" lang="en-US" sz="1200" spc="-1" strike="noStrike">
                <a:solidFill>
                  <a:srgbClr val="42d5bb"/>
                </a:solidFill>
                <a:latin typeface="Noto Sans CJK SC"/>
              </a:rPr>
              <a:t>16</a:t>
            </a:r>
            <a:endParaRPr b="0" lang="en-US" sz="1200" spc="-1" strike="noStrike">
              <a:latin typeface="Arial"/>
            </a:endParaRPr>
          </a:p>
        </p:txBody>
      </p:sp>
      <p:pic>
        <p:nvPicPr>
          <p:cNvPr id="195" name="Picture 6" descr="trajectory.png"/>
          <p:cNvPicPr/>
          <p:nvPr/>
        </p:nvPicPr>
        <p:blipFill>
          <a:blip r:embed="rId1"/>
          <a:stretch/>
        </p:blipFill>
        <p:spPr>
          <a:xfrm>
            <a:off x="329760" y="1188720"/>
            <a:ext cx="4890240" cy="5147640"/>
          </a:xfrm>
          <a:prstGeom prst="rect">
            <a:avLst/>
          </a:prstGeom>
          <a:ln w="0">
            <a:noFill/>
          </a:ln>
        </p:spPr>
      </p:pic>
      <p:sp>
        <p:nvSpPr>
          <p:cNvPr id="196" name="Rectangle 7"/>
          <p:cNvSpPr/>
          <p:nvPr/>
        </p:nvSpPr>
        <p:spPr>
          <a:xfrm>
            <a:off x="5440680" y="1325880"/>
            <a:ext cx="3181680" cy="1142640"/>
          </a:xfrm>
          <a:prstGeom prst="rect">
            <a:avLst/>
          </a:prstGeom>
          <a:solidFill>
            <a:srgbClr val="1d2c4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97" name="TextBox 8"/>
          <p:cNvSpPr/>
          <p:nvPr/>
        </p:nvSpPr>
        <p:spPr>
          <a:xfrm>
            <a:off x="5596200" y="1417320"/>
            <a:ext cx="287100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1" lang="en-US" sz="3200" spc="-1" strike="noStrike">
                <a:solidFill>
                  <a:srgbClr val="42d5bb"/>
                </a:solidFill>
                <a:latin typeface="Noto Sans CJK SC"/>
              </a:rPr>
              <a:t>5 / 5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198" name="TextBox 9"/>
          <p:cNvSpPr/>
          <p:nvPr/>
        </p:nvSpPr>
        <p:spPr>
          <a:xfrm>
            <a:off x="5596200" y="1984320"/>
            <a:ext cx="2871000" cy="29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0" lang="zh-CN" sz="1800" spc="-1" strike="noStrike">
                <a:solidFill>
                  <a:srgbClr val="b8c7dc"/>
                </a:solidFill>
                <a:latin typeface="Noto Sans CJK SC"/>
              </a:rPr>
              <a:t>走廊类别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99" name="Rectangle 10"/>
          <p:cNvSpPr/>
          <p:nvPr/>
        </p:nvSpPr>
        <p:spPr>
          <a:xfrm>
            <a:off x="8686800" y="1325880"/>
            <a:ext cx="3181680" cy="1142640"/>
          </a:xfrm>
          <a:prstGeom prst="rect">
            <a:avLst/>
          </a:prstGeom>
          <a:solidFill>
            <a:srgbClr val="1d2c4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00" name="TextBox 11"/>
          <p:cNvSpPr/>
          <p:nvPr/>
        </p:nvSpPr>
        <p:spPr>
          <a:xfrm>
            <a:off x="8842320" y="1417320"/>
            <a:ext cx="287100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1" lang="en-US" sz="3200" spc="-1" strike="noStrike">
                <a:solidFill>
                  <a:srgbClr val="42d5bb"/>
                </a:solidFill>
                <a:latin typeface="Noto Sans CJK SC"/>
              </a:rPr>
              <a:t>4 / 4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201" name="TextBox 12"/>
          <p:cNvSpPr/>
          <p:nvPr/>
        </p:nvSpPr>
        <p:spPr>
          <a:xfrm>
            <a:off x="8842320" y="1984320"/>
            <a:ext cx="2871000" cy="29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0" lang="zh-CN" sz="1800" spc="-1" strike="noStrike">
                <a:solidFill>
                  <a:srgbClr val="b8c7dc"/>
                </a:solidFill>
                <a:latin typeface="Noto Sans CJK SC"/>
              </a:rPr>
              <a:t>核心 </a:t>
            </a:r>
            <a:r>
              <a:rPr b="0" lang="en-US" sz="1800" spc="-1" strike="noStrike">
                <a:solidFill>
                  <a:srgbClr val="b8c7dc"/>
                </a:solidFill>
                <a:latin typeface="Noto Sans CJK SC"/>
              </a:rPr>
              <a:t>Marker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02" name="Rectangle 13"/>
          <p:cNvSpPr/>
          <p:nvPr/>
        </p:nvSpPr>
        <p:spPr>
          <a:xfrm>
            <a:off x="5440680" y="2788920"/>
            <a:ext cx="3181680" cy="1142640"/>
          </a:xfrm>
          <a:prstGeom prst="rect">
            <a:avLst/>
          </a:prstGeom>
          <a:solidFill>
            <a:srgbClr val="1d2c4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03" name="TextBox 14"/>
          <p:cNvSpPr/>
          <p:nvPr/>
        </p:nvSpPr>
        <p:spPr>
          <a:xfrm>
            <a:off x="5596200" y="2880360"/>
            <a:ext cx="287100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1" lang="en-US" sz="3200" spc="-1" strike="noStrike">
                <a:solidFill>
                  <a:srgbClr val="42d5bb"/>
                </a:solidFill>
                <a:latin typeface="Noto Sans CJK SC"/>
              </a:rPr>
              <a:t>0.9960 m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204" name="TextBox 15"/>
          <p:cNvSpPr/>
          <p:nvPr/>
        </p:nvSpPr>
        <p:spPr>
          <a:xfrm>
            <a:off x="5596200" y="3447360"/>
            <a:ext cx="2871000" cy="29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0" lang="zh-CN" sz="1800" spc="-1" strike="noStrike">
                <a:solidFill>
                  <a:srgbClr val="b8c7dc"/>
                </a:solidFill>
                <a:latin typeface="Noto Sans CJK SC"/>
              </a:rPr>
              <a:t>箱体实际位移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05" name="Rectangle 16"/>
          <p:cNvSpPr/>
          <p:nvPr/>
        </p:nvSpPr>
        <p:spPr>
          <a:xfrm>
            <a:off x="8686800" y="2788920"/>
            <a:ext cx="3181680" cy="1142640"/>
          </a:xfrm>
          <a:prstGeom prst="rect">
            <a:avLst/>
          </a:prstGeom>
          <a:solidFill>
            <a:srgbClr val="1d2c4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06" name="TextBox 17"/>
          <p:cNvSpPr/>
          <p:nvPr/>
        </p:nvSpPr>
        <p:spPr>
          <a:xfrm>
            <a:off x="8842320" y="2880360"/>
            <a:ext cx="287100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1" lang="en-US" sz="3200" spc="-1" strike="noStrike">
                <a:solidFill>
                  <a:srgbClr val="42d5bb"/>
                </a:solidFill>
                <a:latin typeface="Noto Sans CJK SC"/>
              </a:rPr>
              <a:t>4.26 cm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207" name="TextBox 18"/>
          <p:cNvSpPr/>
          <p:nvPr/>
        </p:nvSpPr>
        <p:spPr>
          <a:xfrm>
            <a:off x="8842320" y="3447360"/>
            <a:ext cx="2871000" cy="29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0" lang="zh-CN" sz="1800" spc="-1" strike="noStrike">
                <a:solidFill>
                  <a:srgbClr val="b8c7dc"/>
                </a:solidFill>
                <a:latin typeface="Noto Sans CJK SC"/>
              </a:rPr>
              <a:t>返航位置误差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08" name="TextBox 19"/>
          <p:cNvSpPr/>
          <p:nvPr/>
        </p:nvSpPr>
        <p:spPr>
          <a:xfrm>
            <a:off x="5614560" y="4389120"/>
            <a:ext cx="5943240" cy="40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1" lang="zh-CN" sz="2500" spc="-1" strike="noStrike">
                <a:solidFill>
                  <a:srgbClr val="f4f7fc"/>
                </a:solidFill>
                <a:latin typeface="Noto Sans CJK SC"/>
              </a:rPr>
              <a:t>四标记 </a:t>
            </a:r>
            <a:r>
              <a:rPr b="1" lang="en-US" sz="2500" spc="-1" strike="noStrike">
                <a:solidFill>
                  <a:srgbClr val="f4f7fc"/>
                </a:solidFill>
                <a:latin typeface="Noto Sans CJK SC"/>
              </a:rPr>
              <a:t>map </a:t>
            </a:r>
            <a:r>
              <a:rPr b="1" lang="zh-CN" sz="2500" spc="-1" strike="noStrike">
                <a:solidFill>
                  <a:srgbClr val="f4f7fc"/>
                </a:solidFill>
                <a:latin typeface="Noto Sans CJK SC"/>
              </a:rPr>
              <a:t>平面误差</a:t>
            </a:r>
            <a:endParaRPr b="0" lang="en-US" sz="2500" spc="-1" strike="noStrike">
              <a:latin typeface="Arial"/>
            </a:endParaRPr>
          </a:p>
        </p:txBody>
      </p:sp>
      <p:sp>
        <p:nvSpPr>
          <p:cNvPr id="209" name="TextBox 20"/>
          <p:cNvSpPr/>
          <p:nvPr/>
        </p:nvSpPr>
        <p:spPr>
          <a:xfrm>
            <a:off x="5614560" y="5001840"/>
            <a:ext cx="5943240" cy="60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1" lang="en-US" sz="3700" spc="-1" strike="noStrike">
                <a:solidFill>
                  <a:srgbClr val="42d5bb"/>
                </a:solidFill>
                <a:latin typeface="Noto Sans CJK SC"/>
              </a:rPr>
              <a:t>7.52–13.94 cm</a:t>
            </a:r>
            <a:endParaRPr b="0" lang="en-US" sz="3700" spc="-1" strike="noStrike">
              <a:latin typeface="Arial"/>
            </a:endParaRPr>
          </a:p>
        </p:txBody>
      </p:sp>
      <p:sp>
        <p:nvSpPr>
          <p:cNvPr id="210" name="TextBox 21"/>
          <p:cNvSpPr/>
          <p:nvPr/>
        </p:nvSpPr>
        <p:spPr>
          <a:xfrm>
            <a:off x="5605200" y="5852160"/>
            <a:ext cx="6080400" cy="35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0" lang="zh-CN" sz="2200" spc="-1" strike="noStrike">
                <a:solidFill>
                  <a:srgbClr val="b8c7dc"/>
                </a:solidFill>
                <a:latin typeface="Noto Sans CJK SC"/>
              </a:rPr>
              <a:t>在线 </a:t>
            </a:r>
            <a:r>
              <a:rPr b="0" lang="en-US" sz="2200" spc="-1" strike="noStrike">
                <a:solidFill>
                  <a:srgbClr val="b8c7dc"/>
                </a:solidFill>
                <a:latin typeface="Noto Sans CJK SC"/>
              </a:rPr>
              <a:t>SLAM </a:t>
            </a:r>
            <a:r>
              <a:rPr b="0" lang="zh-CN" sz="2200" spc="-1" strike="noStrike">
                <a:solidFill>
                  <a:srgbClr val="b8c7dc"/>
                </a:solidFill>
                <a:latin typeface="Noto Sans CJK SC"/>
              </a:rPr>
              <a:t>已留档 </a:t>
            </a:r>
            <a:r>
              <a:rPr b="0" lang="en-US" sz="2200" spc="-1" strike="noStrike">
                <a:solidFill>
                  <a:srgbClr val="b8c7dc"/>
                </a:solidFill>
                <a:latin typeface="Noto Sans CJK SC"/>
              </a:rPr>
              <a:t>· </a:t>
            </a:r>
            <a:r>
              <a:rPr b="0" lang="zh-CN" sz="2200" spc="-1" strike="noStrike">
                <a:solidFill>
                  <a:srgbClr val="b8c7dc"/>
                </a:solidFill>
                <a:latin typeface="Noto Sans CJK SC"/>
              </a:rPr>
              <a:t>项目验收通过</a:t>
            </a:r>
            <a:endParaRPr b="0" lang="en-US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Box 1"/>
          <p:cNvSpPr/>
          <p:nvPr/>
        </p:nvSpPr>
        <p:spPr>
          <a:xfrm>
            <a:off x="311040" y="164520"/>
            <a:ext cx="11566800" cy="50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1" lang="zh-CN" sz="3100" spc="-1" strike="noStrike">
                <a:solidFill>
                  <a:srgbClr val="f4f7fc"/>
                </a:solidFill>
                <a:latin typeface="Noto Sans CJK SC"/>
              </a:rPr>
              <a:t>团队贡献：结构、感知与导航协同实现</a:t>
            </a:r>
            <a:endParaRPr b="0" lang="en-US" sz="3100" spc="-1" strike="noStrike">
              <a:latin typeface="Arial"/>
            </a:endParaRPr>
          </a:p>
        </p:txBody>
      </p:sp>
      <p:sp>
        <p:nvSpPr>
          <p:cNvPr id="212" name="TextBox 2"/>
          <p:cNvSpPr/>
          <p:nvPr/>
        </p:nvSpPr>
        <p:spPr>
          <a:xfrm>
            <a:off x="320040" y="786240"/>
            <a:ext cx="11521080" cy="29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0" lang="zh-CN" sz="1800" spc="-1" strike="noStrike">
                <a:solidFill>
                  <a:srgbClr val="b8c7dc"/>
                </a:solidFill>
                <a:latin typeface="Noto Sans CJK SC"/>
              </a:rPr>
              <a:t>面向本场地验证；下一步做随机初始条件、逐帧评估与接触力检测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13" name="Rectangle 3"/>
          <p:cNvSpPr/>
          <p:nvPr/>
        </p:nvSpPr>
        <p:spPr>
          <a:xfrm>
            <a:off x="320040" y="6492240"/>
            <a:ext cx="11548440" cy="12600"/>
          </a:xfrm>
          <a:prstGeom prst="rect">
            <a:avLst/>
          </a:prstGeom>
          <a:solidFill>
            <a:srgbClr val="3b4c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14" name="TextBox 4"/>
          <p:cNvSpPr/>
          <p:nvPr/>
        </p:nvSpPr>
        <p:spPr>
          <a:xfrm>
            <a:off x="320040" y="6565320"/>
            <a:ext cx="10972440" cy="16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0" lang="zh-CN" sz="1020" spc="-1" strike="noStrike">
                <a:solidFill>
                  <a:srgbClr val="b8c7dc"/>
                </a:solidFill>
                <a:latin typeface="Noto Sans CJK SC"/>
              </a:rPr>
              <a:t>基础算法与框架明确第三方归属，团队贡献可追溯到机构设计、源码及实测。</a:t>
            </a:r>
            <a:endParaRPr b="0" lang="en-US" sz="1020" spc="-1" strike="noStrike">
              <a:latin typeface="Arial"/>
            </a:endParaRPr>
          </a:p>
        </p:txBody>
      </p:sp>
      <p:sp>
        <p:nvSpPr>
          <p:cNvPr id="215" name="TextBox 5"/>
          <p:cNvSpPr/>
          <p:nvPr/>
        </p:nvSpPr>
        <p:spPr>
          <a:xfrm>
            <a:off x="11421000" y="6537960"/>
            <a:ext cx="411120" cy="1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7000"/>
              </a:lnSpc>
              <a:spcAft>
                <a:spcPts val="400"/>
              </a:spcAft>
              <a:buNone/>
            </a:pPr>
            <a:r>
              <a:rPr b="1" lang="en-US" sz="1200" spc="-1" strike="noStrike">
                <a:solidFill>
                  <a:srgbClr val="42d5bb"/>
                </a:solidFill>
                <a:latin typeface="Noto Sans CJK SC"/>
              </a:rPr>
              <a:t>17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16" name="Rectangle 6"/>
          <p:cNvSpPr/>
          <p:nvPr/>
        </p:nvSpPr>
        <p:spPr>
          <a:xfrm>
            <a:off x="320040" y="1517760"/>
            <a:ext cx="3721320" cy="3062880"/>
          </a:xfrm>
          <a:prstGeom prst="rect">
            <a:avLst/>
          </a:prstGeom>
          <a:solidFill>
            <a:srgbClr val="1d2c4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17" name="TextBox 7"/>
          <p:cNvSpPr/>
          <p:nvPr/>
        </p:nvSpPr>
        <p:spPr>
          <a:xfrm>
            <a:off x="530280" y="1710000"/>
            <a:ext cx="3291480" cy="50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1" lang="en-US" sz="3100" spc="-1" strike="noStrike">
                <a:solidFill>
                  <a:srgbClr val="42d5bb"/>
                </a:solidFill>
                <a:latin typeface="Noto Sans CJK SC"/>
              </a:rPr>
              <a:t>01</a:t>
            </a:r>
            <a:endParaRPr b="0" lang="en-US" sz="3100" spc="-1" strike="noStrike">
              <a:latin typeface="Arial"/>
            </a:endParaRPr>
          </a:p>
        </p:txBody>
      </p:sp>
      <p:sp>
        <p:nvSpPr>
          <p:cNvPr id="218" name="TextBox 8"/>
          <p:cNvSpPr/>
          <p:nvPr/>
        </p:nvSpPr>
        <p:spPr>
          <a:xfrm>
            <a:off x="530280" y="2386440"/>
            <a:ext cx="32914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1" lang="zh-CN" sz="2800" spc="-1" strike="noStrike">
                <a:solidFill>
                  <a:srgbClr val="f4f7fc"/>
                </a:solidFill>
                <a:latin typeface="Noto Sans CJK SC"/>
              </a:rPr>
              <a:t>结构与接触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219" name="TextBox 9"/>
          <p:cNvSpPr/>
          <p:nvPr/>
        </p:nvSpPr>
        <p:spPr>
          <a:xfrm>
            <a:off x="530280" y="3163680"/>
            <a:ext cx="3291480" cy="73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0" lang="zh-CN" sz="2100" spc="-1" strike="noStrike">
                <a:solidFill>
                  <a:srgbClr val="f4f7fc"/>
                </a:solidFill>
                <a:latin typeface="Noto Sans CJK SC"/>
              </a:rPr>
              <a:t>新版云台 </a:t>
            </a:r>
            <a:r>
              <a:rPr b="0" lang="en-US" sz="2100" spc="-1" strike="noStrike">
                <a:solidFill>
                  <a:srgbClr val="f4f7fc"/>
                </a:solidFill>
                <a:latin typeface="Noto Sans CJK SC"/>
              </a:rPr>
              <a:t>· </a:t>
            </a:r>
            <a:r>
              <a:rPr b="0" lang="zh-CN" sz="2100" spc="-1" strike="noStrike">
                <a:solidFill>
                  <a:srgbClr val="f4f7fc"/>
                </a:solidFill>
                <a:latin typeface="Noto Sans CJK SC"/>
              </a:rPr>
              <a:t>被动推板</a:t>
            </a:r>
            <a:endParaRPr b="0" lang="en-US" sz="2100" spc="-1" strike="noStrike">
              <a:latin typeface="Arial"/>
            </a:endParaRPr>
          </a:p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0" lang="zh-CN" sz="2100" spc="-1" strike="noStrike">
                <a:solidFill>
                  <a:srgbClr val="f4f7fc"/>
                </a:solidFill>
                <a:latin typeface="Noto Sans CJK SC"/>
              </a:rPr>
              <a:t>完整轮廓 </a:t>
            </a:r>
            <a:r>
              <a:rPr b="0" lang="en-US" sz="2100" spc="-1" strike="noStrike">
                <a:solidFill>
                  <a:srgbClr val="f4f7fc"/>
                </a:solidFill>
                <a:latin typeface="Noto Sans CJK SC"/>
              </a:rPr>
              <a:t>· </a:t>
            </a:r>
            <a:r>
              <a:rPr b="0" lang="zh-CN" sz="2100" spc="-1" strike="noStrike">
                <a:solidFill>
                  <a:srgbClr val="f4f7fc"/>
                </a:solidFill>
                <a:latin typeface="Noto Sans CJK SC"/>
              </a:rPr>
              <a:t>有界接触</a:t>
            </a:r>
            <a:endParaRPr b="0" lang="en-US" sz="2100" spc="-1" strike="noStrike">
              <a:latin typeface="Arial"/>
            </a:endParaRPr>
          </a:p>
        </p:txBody>
      </p:sp>
      <p:sp>
        <p:nvSpPr>
          <p:cNvPr id="220" name="Rectangle 10"/>
          <p:cNvSpPr/>
          <p:nvPr/>
        </p:nvSpPr>
        <p:spPr>
          <a:xfrm>
            <a:off x="4233600" y="1517760"/>
            <a:ext cx="3721320" cy="3062880"/>
          </a:xfrm>
          <a:prstGeom prst="rect">
            <a:avLst/>
          </a:prstGeom>
          <a:solidFill>
            <a:srgbClr val="1d2c4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21" name="TextBox 11"/>
          <p:cNvSpPr/>
          <p:nvPr/>
        </p:nvSpPr>
        <p:spPr>
          <a:xfrm>
            <a:off x="4443840" y="1710000"/>
            <a:ext cx="3291480" cy="50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1" lang="en-US" sz="3100" spc="-1" strike="noStrike">
                <a:solidFill>
                  <a:srgbClr val="42d5bb"/>
                </a:solidFill>
                <a:latin typeface="Noto Sans CJK SC"/>
              </a:rPr>
              <a:t>02</a:t>
            </a:r>
            <a:endParaRPr b="0" lang="en-US" sz="3100" spc="-1" strike="noStrike">
              <a:latin typeface="Arial"/>
            </a:endParaRPr>
          </a:p>
        </p:txBody>
      </p:sp>
      <p:sp>
        <p:nvSpPr>
          <p:cNvPr id="222" name="TextBox 12"/>
          <p:cNvSpPr/>
          <p:nvPr/>
        </p:nvSpPr>
        <p:spPr>
          <a:xfrm>
            <a:off x="4443840" y="2386440"/>
            <a:ext cx="32914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1" lang="zh-CN" sz="2800" spc="-1" strike="noStrike">
                <a:solidFill>
                  <a:srgbClr val="f4f7fc"/>
                </a:solidFill>
                <a:latin typeface="Noto Sans CJK SC"/>
              </a:rPr>
              <a:t>感知与标定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223" name="TextBox 13"/>
          <p:cNvSpPr/>
          <p:nvPr/>
        </p:nvSpPr>
        <p:spPr>
          <a:xfrm>
            <a:off x="4443840" y="3163680"/>
            <a:ext cx="3291480" cy="73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0" lang="zh-CN" sz="2100" spc="-1" strike="noStrike">
                <a:solidFill>
                  <a:srgbClr val="f4f7fc"/>
                </a:solidFill>
                <a:latin typeface="Noto Sans CJK SC"/>
              </a:rPr>
              <a:t>图案 </a:t>
            </a:r>
            <a:r>
              <a:rPr b="0" lang="en-US" sz="2100" spc="-1" strike="noStrike">
                <a:solidFill>
                  <a:srgbClr val="f4f7fc"/>
                </a:solidFill>
                <a:latin typeface="Noto Sans CJK SC"/>
              </a:rPr>
              <a:t>· </a:t>
            </a:r>
            <a:r>
              <a:rPr b="0" lang="zh-CN" sz="2100" spc="-1" strike="noStrike">
                <a:solidFill>
                  <a:srgbClr val="f4f7fc"/>
                </a:solidFill>
                <a:latin typeface="Noto Sans CJK SC"/>
              </a:rPr>
              <a:t>几何 </a:t>
            </a:r>
            <a:r>
              <a:rPr b="0" lang="en-US" sz="2100" spc="-1" strike="noStrike">
                <a:solidFill>
                  <a:srgbClr val="f4f7fc"/>
                </a:solidFill>
                <a:latin typeface="Noto Sans CJK SC"/>
              </a:rPr>
              <a:t>· </a:t>
            </a:r>
            <a:r>
              <a:rPr b="0" lang="zh-CN" sz="2100" spc="-1" strike="noStrike">
                <a:solidFill>
                  <a:srgbClr val="f4f7fc"/>
                </a:solidFill>
                <a:latin typeface="Noto Sans CJK SC"/>
              </a:rPr>
              <a:t>时序核验</a:t>
            </a:r>
            <a:endParaRPr b="0" lang="en-US" sz="2100" spc="-1" strike="noStrike">
              <a:latin typeface="Arial"/>
            </a:endParaRPr>
          </a:p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0" lang="zh-CN" sz="2100" spc="-1" strike="noStrike">
                <a:solidFill>
                  <a:srgbClr val="f4f7fc"/>
                </a:solidFill>
                <a:latin typeface="Noto Sans CJK SC"/>
              </a:rPr>
              <a:t>拍摄时刻 </a:t>
            </a:r>
            <a:r>
              <a:rPr b="0" lang="en-US" sz="2100" spc="-1" strike="noStrike">
                <a:solidFill>
                  <a:srgbClr val="f4f7fc"/>
                </a:solidFill>
                <a:latin typeface="Noto Sans CJK SC"/>
              </a:rPr>
              <a:t>TF · </a:t>
            </a:r>
            <a:r>
              <a:rPr b="0" lang="zh-CN" sz="2100" spc="-1" strike="noStrike">
                <a:solidFill>
                  <a:srgbClr val="f4f7fc"/>
                </a:solidFill>
                <a:latin typeface="Noto Sans CJK SC"/>
              </a:rPr>
              <a:t>位置融合</a:t>
            </a:r>
            <a:endParaRPr b="0" lang="en-US" sz="2100" spc="-1" strike="noStrike">
              <a:latin typeface="Arial"/>
            </a:endParaRPr>
          </a:p>
        </p:txBody>
      </p:sp>
      <p:sp>
        <p:nvSpPr>
          <p:cNvPr id="224" name="Rectangle 14"/>
          <p:cNvSpPr/>
          <p:nvPr/>
        </p:nvSpPr>
        <p:spPr>
          <a:xfrm>
            <a:off x="8147160" y="1517760"/>
            <a:ext cx="3721320" cy="3062880"/>
          </a:xfrm>
          <a:prstGeom prst="rect">
            <a:avLst/>
          </a:prstGeom>
          <a:solidFill>
            <a:srgbClr val="1d2c4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25" name="TextBox 15"/>
          <p:cNvSpPr/>
          <p:nvPr/>
        </p:nvSpPr>
        <p:spPr>
          <a:xfrm>
            <a:off x="8357760" y="1710000"/>
            <a:ext cx="3291480" cy="50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1" lang="en-US" sz="3100" spc="-1" strike="noStrike">
                <a:solidFill>
                  <a:srgbClr val="42d5bb"/>
                </a:solidFill>
                <a:latin typeface="Noto Sans CJK SC"/>
              </a:rPr>
              <a:t>03</a:t>
            </a:r>
            <a:endParaRPr b="0" lang="en-US" sz="3100" spc="-1" strike="noStrike">
              <a:latin typeface="Arial"/>
            </a:endParaRPr>
          </a:p>
        </p:txBody>
      </p:sp>
      <p:sp>
        <p:nvSpPr>
          <p:cNvPr id="226" name="TextBox 16"/>
          <p:cNvSpPr/>
          <p:nvPr/>
        </p:nvSpPr>
        <p:spPr>
          <a:xfrm>
            <a:off x="8357760" y="2386440"/>
            <a:ext cx="32914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1" lang="zh-CN" sz="2800" spc="-1" strike="noStrike">
                <a:solidFill>
                  <a:srgbClr val="f4f7fc"/>
                </a:solidFill>
                <a:latin typeface="Noto Sans CJK SC"/>
              </a:rPr>
              <a:t>导航与复现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227" name="TextBox 17"/>
          <p:cNvSpPr/>
          <p:nvPr/>
        </p:nvSpPr>
        <p:spPr>
          <a:xfrm>
            <a:off x="8357760" y="3163680"/>
            <a:ext cx="3291480" cy="73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0" lang="zh-CN" sz="2100" spc="-1" strike="noStrike">
                <a:solidFill>
                  <a:srgbClr val="f4f7fc"/>
                </a:solidFill>
                <a:latin typeface="Noto Sans CJK SC"/>
              </a:rPr>
              <a:t>激光自由证据地图处理</a:t>
            </a:r>
            <a:endParaRPr b="0" lang="en-US" sz="2100" spc="-1" strike="noStrike">
              <a:latin typeface="Arial"/>
            </a:endParaRPr>
          </a:p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0" lang="zh-CN" sz="2100" spc="-1" strike="noStrike">
                <a:solidFill>
                  <a:srgbClr val="f4f7fc"/>
                </a:solidFill>
                <a:latin typeface="Noto Sans CJK SC"/>
              </a:rPr>
              <a:t>阶段控制 </a:t>
            </a:r>
            <a:r>
              <a:rPr b="0" lang="en-US" sz="2100" spc="-1" strike="noStrike">
                <a:solidFill>
                  <a:srgbClr val="f4f7fc"/>
                </a:solidFill>
                <a:latin typeface="Noto Sans CJK SC"/>
              </a:rPr>
              <a:t>· </a:t>
            </a:r>
            <a:r>
              <a:rPr b="0" lang="zh-CN" sz="2100" spc="-1" strike="noStrike">
                <a:solidFill>
                  <a:srgbClr val="f4f7fc"/>
                </a:solidFill>
                <a:latin typeface="Noto Sans CJK SC"/>
              </a:rPr>
              <a:t>独立验收</a:t>
            </a:r>
            <a:endParaRPr b="0" lang="en-US" sz="2100" spc="-1" strike="noStrike">
              <a:latin typeface="Arial"/>
            </a:endParaRPr>
          </a:p>
        </p:txBody>
      </p:sp>
      <p:sp>
        <p:nvSpPr>
          <p:cNvPr id="228" name="TextBox 18"/>
          <p:cNvSpPr/>
          <p:nvPr/>
        </p:nvSpPr>
        <p:spPr>
          <a:xfrm>
            <a:off x="411480" y="5083920"/>
            <a:ext cx="11383920" cy="76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7000"/>
              </a:lnSpc>
              <a:spcAft>
                <a:spcPts val="400"/>
              </a:spcAft>
              <a:buNone/>
            </a:pPr>
            <a:r>
              <a:rPr b="0" lang="zh-CN" sz="2200" spc="-1" strike="noStrike">
                <a:solidFill>
                  <a:srgbClr val="b8c7dc"/>
                </a:solidFill>
                <a:latin typeface="Noto Sans CJK SC"/>
              </a:rPr>
              <a:t>第三方基础：</a:t>
            </a:r>
            <a:r>
              <a:rPr b="0" lang="en-US" sz="2200" spc="-1" strike="noStrike">
                <a:solidFill>
                  <a:srgbClr val="b8c7dc"/>
                </a:solidFill>
                <a:latin typeface="Noto Sans CJK SC"/>
              </a:rPr>
              <a:t>ROS 2 · Gazebo · Nav2 · slam_toolbox</a:t>
            </a:r>
            <a:endParaRPr b="0" lang="en-US" sz="2200" spc="-1" strike="noStrike">
              <a:latin typeface="Arial"/>
            </a:endParaRPr>
          </a:p>
          <a:p>
            <a:pPr algn="ctr">
              <a:lnSpc>
                <a:spcPct val="107000"/>
              </a:lnSpc>
              <a:spcAft>
                <a:spcPts val="400"/>
              </a:spcAft>
              <a:buNone/>
            </a:pPr>
            <a:r>
              <a:rPr b="0" lang="en-US" sz="2200" spc="-1" strike="noStrike">
                <a:solidFill>
                  <a:srgbClr val="b8c7dc"/>
                </a:solidFill>
                <a:latin typeface="Noto Sans CJK SC"/>
              </a:rPr>
              <a:t>YOLOv5 · OpenCV · AprilTag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229" name="TextBox 19"/>
          <p:cNvSpPr/>
          <p:nvPr/>
        </p:nvSpPr>
        <p:spPr>
          <a:xfrm>
            <a:off x="411480" y="5943600"/>
            <a:ext cx="113839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7000"/>
              </a:lnSpc>
              <a:spcAft>
                <a:spcPts val="400"/>
              </a:spcAft>
              <a:buNone/>
            </a:pPr>
            <a:r>
              <a:rPr b="1" lang="zh-CN" sz="2800" spc="-1" strike="noStrike">
                <a:solidFill>
                  <a:srgbClr val="42d5bb"/>
                </a:solidFill>
                <a:latin typeface="Noto Sans CJK SC"/>
              </a:rPr>
              <a:t>谢谢各位老师</a:t>
            </a:r>
            <a:endParaRPr b="0" lang="en-US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bg>
      <p:bgPr>
        <a:solidFill>
          <a:srgbClr val="10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TextBox 1"/>
          <p:cNvSpPr/>
          <p:nvPr/>
        </p:nvSpPr>
        <p:spPr>
          <a:xfrm>
            <a:off x="311040" y="164520"/>
            <a:ext cx="11566800" cy="50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1" lang="zh-CN" sz="3100" spc="-1" strike="noStrike">
                <a:solidFill>
                  <a:srgbClr val="f4f7fc"/>
                </a:solidFill>
                <a:latin typeface="Noto Sans CJK SC"/>
              </a:rPr>
              <a:t>备份 </a:t>
            </a:r>
            <a:r>
              <a:rPr b="1" lang="en-US" sz="3100" spc="-1" strike="noStrike">
                <a:solidFill>
                  <a:srgbClr val="f4f7fc"/>
                </a:solidFill>
                <a:latin typeface="Noto Sans CJK SC"/>
              </a:rPr>
              <a:t>A</a:t>
            </a:r>
            <a:r>
              <a:rPr b="1" lang="zh-CN" sz="3100" spc="-1" strike="noStrike">
                <a:solidFill>
                  <a:srgbClr val="f4f7fc"/>
                </a:solidFill>
                <a:latin typeface="Noto Sans CJK SC"/>
              </a:rPr>
              <a:t>｜比赛评分与现场证据</a:t>
            </a:r>
            <a:endParaRPr b="0" lang="en-US" sz="3100" spc="-1" strike="noStrike">
              <a:latin typeface="Arial"/>
            </a:endParaRPr>
          </a:p>
        </p:txBody>
      </p:sp>
      <p:sp>
        <p:nvSpPr>
          <p:cNvPr id="231" name="TextBox 2"/>
          <p:cNvSpPr/>
          <p:nvPr/>
        </p:nvSpPr>
        <p:spPr>
          <a:xfrm>
            <a:off x="320040" y="786240"/>
            <a:ext cx="11521080" cy="29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0" lang="zh-CN" sz="1800" spc="-1" strike="noStrike">
                <a:solidFill>
                  <a:srgbClr val="b8c7dc"/>
                </a:solidFill>
                <a:latin typeface="Noto Sans CJK SC"/>
              </a:rPr>
              <a:t>国赛 </a:t>
            </a:r>
            <a:r>
              <a:rPr b="0" lang="en-US" sz="1800" spc="-1" strike="noStrike">
                <a:solidFill>
                  <a:srgbClr val="b8c7dc"/>
                </a:solidFill>
                <a:latin typeface="Noto Sans CJK SC"/>
              </a:rPr>
              <a:t>8 </a:t>
            </a:r>
            <a:r>
              <a:rPr b="0" lang="zh-CN" sz="1800" spc="-1" strike="noStrike">
                <a:solidFill>
                  <a:srgbClr val="b8c7dc"/>
                </a:solidFill>
                <a:latin typeface="Noto Sans CJK SC"/>
              </a:rPr>
              <a:t>分钟包含视频；展示结束后按需回答提问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32" name="Rectangle 3"/>
          <p:cNvSpPr/>
          <p:nvPr/>
        </p:nvSpPr>
        <p:spPr>
          <a:xfrm>
            <a:off x="320040" y="6492240"/>
            <a:ext cx="11548440" cy="12600"/>
          </a:xfrm>
          <a:prstGeom prst="rect">
            <a:avLst/>
          </a:prstGeom>
          <a:solidFill>
            <a:srgbClr val="3b4c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33" name="TextBox 4"/>
          <p:cNvSpPr/>
          <p:nvPr/>
        </p:nvSpPr>
        <p:spPr>
          <a:xfrm>
            <a:off x="320040" y="6565320"/>
            <a:ext cx="10972440" cy="16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0" lang="zh-CN" sz="1020" spc="-1" strike="noStrike">
                <a:solidFill>
                  <a:srgbClr val="b8c7dc"/>
                </a:solidFill>
                <a:latin typeface="Noto Sans CJK SC"/>
              </a:rPr>
              <a:t>依据：本地 </a:t>
            </a:r>
            <a:r>
              <a:rPr b="0" lang="en-US" sz="1020" spc="-1" strike="noStrike">
                <a:solidFill>
                  <a:srgbClr val="b8c7dc"/>
                </a:solidFill>
                <a:latin typeface="Noto Sans CJK SC"/>
              </a:rPr>
              <a:t>B09 </a:t>
            </a:r>
            <a:r>
              <a:rPr b="0" lang="zh-CN" sz="1020" spc="-1" strike="noStrike">
                <a:solidFill>
                  <a:srgbClr val="b8c7dc"/>
                </a:solidFill>
                <a:latin typeface="Noto Sans CJK SC"/>
              </a:rPr>
              <a:t>比赛规则（</a:t>
            </a:r>
            <a:r>
              <a:rPr b="0" lang="en-US" sz="1020" spc="-1" strike="noStrike">
                <a:solidFill>
                  <a:srgbClr val="b8c7dc"/>
                </a:solidFill>
                <a:latin typeface="Noto Sans CJK SC"/>
              </a:rPr>
              <a:t>2026 </a:t>
            </a:r>
            <a:r>
              <a:rPr b="0" lang="zh-CN" sz="1020" spc="-1" strike="noStrike">
                <a:solidFill>
                  <a:srgbClr val="b8c7dc"/>
                </a:solidFill>
                <a:latin typeface="Noto Sans CJK SC"/>
              </a:rPr>
              <a:t>年 </a:t>
            </a:r>
            <a:r>
              <a:rPr b="0" lang="en-US" sz="1020" spc="-1" strike="noStrike">
                <a:solidFill>
                  <a:srgbClr val="b8c7dc"/>
                </a:solidFill>
                <a:latin typeface="Noto Sans CJK SC"/>
              </a:rPr>
              <a:t>7 </a:t>
            </a:r>
            <a:r>
              <a:rPr b="0" lang="zh-CN" sz="1020" spc="-1" strike="noStrike">
                <a:solidFill>
                  <a:srgbClr val="b8c7dc"/>
                </a:solidFill>
                <a:latin typeface="Noto Sans CJK SC"/>
              </a:rPr>
              <a:t>月）；项目验收门限不等同官方评分阈值。</a:t>
            </a:r>
            <a:endParaRPr b="0" lang="en-US" sz="1020" spc="-1" strike="noStrike">
              <a:latin typeface="Arial"/>
            </a:endParaRPr>
          </a:p>
        </p:txBody>
      </p:sp>
      <p:sp>
        <p:nvSpPr>
          <p:cNvPr id="234" name="TextBox 5"/>
          <p:cNvSpPr/>
          <p:nvPr/>
        </p:nvSpPr>
        <p:spPr>
          <a:xfrm>
            <a:off x="11421000" y="6537960"/>
            <a:ext cx="411120" cy="1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7000"/>
              </a:lnSpc>
              <a:spcAft>
                <a:spcPts val="400"/>
              </a:spcAft>
              <a:buNone/>
            </a:pPr>
            <a:r>
              <a:rPr b="1" lang="en-US" sz="1200" spc="-1" strike="noStrike">
                <a:solidFill>
                  <a:srgbClr val="42d5bb"/>
                </a:solidFill>
                <a:latin typeface="Noto Sans CJK SC"/>
              </a:rPr>
              <a:t>18</a:t>
            </a:r>
            <a:endParaRPr b="0" lang="en-US" sz="1200" spc="-1" strike="noStrike">
              <a:latin typeface="Arial"/>
            </a:endParaRPr>
          </a:p>
        </p:txBody>
      </p:sp>
      <p:graphicFrame>
        <p:nvGraphicFramePr>
          <p:cNvPr id="235" name="Table 6"/>
          <p:cNvGraphicFramePr/>
          <p:nvPr/>
        </p:nvGraphicFramePr>
        <p:xfrm>
          <a:off x="365760" y="1325880"/>
          <a:ext cx="11429640" cy="4672080"/>
        </p:xfrm>
        <a:graphic>
          <a:graphicData uri="http://schemas.openxmlformats.org/drawingml/2006/table">
            <a:tbl>
              <a:tblPr/>
              <a:tblGrid>
                <a:gridCol w="3200400"/>
                <a:gridCol w="1005840"/>
                <a:gridCol w="7223760"/>
              </a:tblGrid>
              <a:tr h="667440">
                <a:tc>
                  <a:txBody>
                    <a:bodyPr lIns="118800" rIns="118800" tIns="7308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2200" spc="-1" strike="noStrike">
                          <a:solidFill>
                            <a:srgbClr val="42d5bb"/>
                          </a:solidFill>
                          <a:latin typeface="Noto Sans CJK SC"/>
                        </a:rPr>
                        <a:t>评分项</a:t>
                      </a:r>
                      <a:endParaRPr b="0" lang="en-US" sz="22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263d58"/>
                    </a:solidFill>
                  </a:tcPr>
                </a:tc>
                <a:tc>
                  <a:txBody>
                    <a:bodyPr lIns="118800" rIns="118800" tIns="7308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2200" spc="-1" strike="noStrike">
                          <a:solidFill>
                            <a:srgbClr val="42d5bb"/>
                          </a:solidFill>
                          <a:latin typeface="Noto Sans CJK SC"/>
                        </a:rPr>
                        <a:t>分值</a:t>
                      </a:r>
                      <a:endParaRPr b="0" lang="en-US" sz="22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263d58"/>
                    </a:solidFill>
                  </a:tcPr>
                </a:tc>
                <a:tc>
                  <a:txBody>
                    <a:bodyPr lIns="118800" rIns="118800" tIns="7308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2200" spc="-1" strike="noStrike">
                          <a:solidFill>
                            <a:srgbClr val="42d5bb"/>
                          </a:solidFill>
                          <a:latin typeface="Noto Sans CJK SC"/>
                        </a:rPr>
                        <a:t>现场证据</a:t>
                      </a:r>
                      <a:endParaRPr b="0" lang="en-US" sz="22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263d58"/>
                    </a:solidFill>
                  </a:tcPr>
                </a:tc>
              </a:tr>
              <a:tr h="667440">
                <a:tc>
                  <a:txBody>
                    <a:bodyPr lIns="118800" rIns="118800" tIns="7308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22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自建环境与单车建图</a:t>
                      </a:r>
                      <a:endParaRPr b="0" lang="en-US" sz="22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d2c42"/>
                    </a:solidFill>
                  </a:tcPr>
                </a:tc>
                <a:tc>
                  <a:txBody>
                    <a:bodyPr lIns="118800" rIns="118800" tIns="7308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22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15</a:t>
                      </a:r>
                      <a:endParaRPr b="0" lang="en-US" sz="22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d2c42"/>
                    </a:solidFill>
                  </a:tcPr>
                </a:tc>
                <a:tc>
                  <a:txBody>
                    <a:bodyPr lIns="118800" rIns="118800" tIns="7308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22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Gazebo </a:t>
                      </a:r>
                      <a:r>
                        <a:rPr b="0" lang="zh-CN" sz="22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场景与清晰占据栅格地图</a:t>
                      </a:r>
                      <a:endParaRPr b="0" lang="en-US" sz="22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d2c42"/>
                    </a:solidFill>
                  </a:tcPr>
                </a:tc>
              </a:tr>
              <a:tr h="667440">
                <a:tc>
                  <a:txBody>
                    <a:bodyPr lIns="118800" rIns="118800" tIns="7308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22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五类走廊识别</a:t>
                      </a:r>
                      <a:endParaRPr b="0" lang="en-US" sz="22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7253a"/>
                    </a:solidFill>
                  </a:tcPr>
                </a:tc>
                <a:tc>
                  <a:txBody>
                    <a:bodyPr lIns="118800" rIns="118800" tIns="7308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22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20</a:t>
                      </a:r>
                      <a:endParaRPr b="0" lang="en-US" sz="22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7253a"/>
                    </a:solidFill>
                  </a:tcPr>
                </a:tc>
                <a:tc>
                  <a:txBody>
                    <a:bodyPr lIns="118800" rIns="118800" tIns="7308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22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入室前 </a:t>
                      </a:r>
                      <a:r>
                        <a:rPr b="0" lang="en-US" sz="22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5 </a:t>
                      </a:r>
                      <a:r>
                        <a:rPr b="0" lang="zh-CN" sz="22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类分类 </a:t>
                      </a:r>
                      <a:r>
                        <a:rPr b="0" lang="en-US" sz="22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+ </a:t>
                      </a:r>
                      <a:r>
                        <a:rPr b="0" lang="zh-CN" sz="22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终端打印</a:t>
                      </a:r>
                      <a:endParaRPr b="0" lang="en-US" sz="22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7253a"/>
                    </a:solidFill>
                  </a:tcPr>
                </a:tc>
              </a:tr>
              <a:tr h="667440">
                <a:tc>
                  <a:txBody>
                    <a:bodyPr lIns="118800" rIns="118800" tIns="7308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22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入口清障交互</a:t>
                      </a:r>
                      <a:endParaRPr b="0" lang="en-US" sz="22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d2c42"/>
                    </a:solidFill>
                  </a:tcPr>
                </a:tc>
                <a:tc>
                  <a:txBody>
                    <a:bodyPr lIns="118800" rIns="118800" tIns="7308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22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20</a:t>
                      </a:r>
                      <a:endParaRPr b="0" lang="en-US" sz="22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d2c42"/>
                    </a:solidFill>
                  </a:tcPr>
                </a:tc>
                <a:tc>
                  <a:txBody>
                    <a:bodyPr lIns="118800" rIns="118800" tIns="7308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22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真实推箱 </a:t>
                      </a:r>
                      <a:r>
                        <a:rPr b="0" lang="en-US" sz="22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+ </a:t>
                      </a:r>
                      <a:r>
                        <a:rPr b="0" lang="zh-CN" sz="22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平稳驶入核心区</a:t>
                      </a:r>
                      <a:endParaRPr b="0" lang="en-US" sz="22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d2c42"/>
                    </a:solidFill>
                  </a:tcPr>
                </a:tc>
              </a:tr>
              <a:tr h="667440">
                <a:tc>
                  <a:txBody>
                    <a:bodyPr lIns="118800" rIns="118800" tIns="7308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22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核心识别与标定</a:t>
                      </a:r>
                      <a:endParaRPr b="0" lang="en-US" sz="22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7253a"/>
                    </a:solidFill>
                  </a:tcPr>
                </a:tc>
                <a:tc>
                  <a:txBody>
                    <a:bodyPr lIns="118800" rIns="118800" tIns="7308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22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20</a:t>
                      </a:r>
                      <a:endParaRPr b="0" lang="en-US" sz="22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7253a"/>
                    </a:solidFill>
                  </a:tcPr>
                </a:tc>
                <a:tc>
                  <a:txBody>
                    <a:bodyPr lIns="118800" rIns="118800" tIns="7308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22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四 </a:t>
                      </a:r>
                      <a:r>
                        <a:rPr b="0" lang="en-US" sz="22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AprilTag + RViz Marker </a:t>
                      </a:r>
                      <a:r>
                        <a:rPr b="0" lang="zh-CN" sz="22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与布局吻合</a:t>
                      </a:r>
                      <a:endParaRPr b="0" lang="en-US" sz="22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7253a"/>
                    </a:solidFill>
                  </a:tcPr>
                </a:tc>
              </a:tr>
              <a:tr h="667440">
                <a:tc>
                  <a:txBody>
                    <a:bodyPr lIns="118800" rIns="118800" tIns="7308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22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返回起点</a:t>
                      </a:r>
                      <a:endParaRPr b="0" lang="en-US" sz="22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d2c42"/>
                    </a:solidFill>
                  </a:tcPr>
                </a:tc>
                <a:tc>
                  <a:txBody>
                    <a:bodyPr lIns="118800" rIns="118800" tIns="7308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22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5</a:t>
                      </a:r>
                      <a:endParaRPr b="0" lang="en-US" sz="22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d2c42"/>
                    </a:solidFill>
                  </a:tcPr>
                </a:tc>
                <a:tc>
                  <a:txBody>
                    <a:bodyPr lIns="118800" rIns="118800" tIns="7308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22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完整返航画面与 </a:t>
                      </a:r>
                      <a:r>
                        <a:rPr b="0" lang="en-US" sz="22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complete </a:t>
                      </a:r>
                      <a:r>
                        <a:rPr b="0" lang="zh-CN" sz="22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事件</a:t>
                      </a:r>
                      <a:endParaRPr b="0" lang="en-US" sz="22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d2c42"/>
                    </a:solidFill>
                  </a:tcPr>
                </a:tc>
              </a:tr>
              <a:tr h="667440">
                <a:tc>
                  <a:txBody>
                    <a:bodyPr lIns="118800" rIns="118800" tIns="7308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22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方案创新性答辩</a:t>
                      </a:r>
                      <a:endParaRPr b="0" lang="en-US" sz="22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7253a"/>
                    </a:solidFill>
                  </a:tcPr>
                </a:tc>
                <a:tc>
                  <a:txBody>
                    <a:bodyPr lIns="118800" rIns="118800" tIns="7308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22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20</a:t>
                      </a:r>
                      <a:endParaRPr b="0" lang="en-US" sz="22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7253a"/>
                    </a:solidFill>
                  </a:tcPr>
                </a:tc>
                <a:tc>
                  <a:txBody>
                    <a:bodyPr lIns="118800" rIns="118800" tIns="7308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22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场景、机构、视觉与导航的团队改进</a:t>
                      </a:r>
                      <a:endParaRPr b="0" lang="en-US" sz="22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7253a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bg>
      <p:bgPr>
        <a:solidFill>
          <a:srgbClr val="10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TextBox 1"/>
          <p:cNvSpPr/>
          <p:nvPr/>
        </p:nvSpPr>
        <p:spPr>
          <a:xfrm>
            <a:off x="311040" y="164520"/>
            <a:ext cx="11566800" cy="50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1" lang="zh-CN" sz="3100" spc="-1" strike="noStrike">
                <a:solidFill>
                  <a:srgbClr val="f4f7fc"/>
                </a:solidFill>
                <a:latin typeface="Noto Sans CJK SC"/>
              </a:rPr>
              <a:t>备份 </a:t>
            </a:r>
            <a:r>
              <a:rPr b="1" lang="en-US" sz="3100" spc="-1" strike="noStrike">
                <a:solidFill>
                  <a:srgbClr val="f4f7fc"/>
                </a:solidFill>
                <a:latin typeface="Noto Sans CJK SC"/>
              </a:rPr>
              <a:t>B</a:t>
            </a:r>
            <a:r>
              <a:rPr b="1" lang="zh-CN" sz="3100" spc="-1" strike="noStrike">
                <a:solidFill>
                  <a:srgbClr val="f4f7fc"/>
                </a:solidFill>
                <a:latin typeface="Noto Sans CJK SC"/>
              </a:rPr>
              <a:t>｜传感器、任务与执行闭环</a:t>
            </a:r>
            <a:endParaRPr b="0" lang="en-US" sz="3100" spc="-1" strike="noStrike">
              <a:latin typeface="Arial"/>
            </a:endParaRPr>
          </a:p>
        </p:txBody>
      </p:sp>
      <p:sp>
        <p:nvSpPr>
          <p:cNvPr id="237" name="TextBox 2"/>
          <p:cNvSpPr/>
          <p:nvPr/>
        </p:nvSpPr>
        <p:spPr>
          <a:xfrm>
            <a:off x="320040" y="786240"/>
            <a:ext cx="11521080" cy="29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0" lang="en-US" sz="1800" spc="-1" strike="noStrike">
                <a:solidFill>
                  <a:srgbClr val="b8c7dc"/>
                </a:solidFill>
                <a:latin typeface="Noto Sans CJK SC"/>
              </a:rPr>
              <a:t>YAML </a:t>
            </a:r>
            <a:r>
              <a:rPr b="0" lang="zh-CN" sz="1800" spc="-1" strike="noStrike">
                <a:solidFill>
                  <a:srgbClr val="b8c7dc"/>
                </a:solidFill>
                <a:latin typeface="Noto Sans CJK SC"/>
              </a:rPr>
              <a:t>给任务目标，</a:t>
            </a:r>
            <a:r>
              <a:rPr b="0" lang="en-US" sz="1800" spc="-1" strike="noStrike">
                <a:solidFill>
                  <a:srgbClr val="b8c7dc"/>
                </a:solidFill>
                <a:latin typeface="Noto Sans CJK SC"/>
              </a:rPr>
              <a:t>Nav2 </a:t>
            </a:r>
            <a:r>
              <a:rPr b="0" lang="zh-CN" sz="1800" spc="-1" strike="noStrike">
                <a:solidFill>
                  <a:srgbClr val="b8c7dc"/>
                </a:solidFill>
                <a:latin typeface="Noto Sans CJK SC"/>
              </a:rPr>
              <a:t>根据地图规划路径；</a:t>
            </a:r>
            <a:r>
              <a:rPr b="0" lang="en-US" sz="1800" spc="-1" strike="noStrike">
                <a:solidFill>
                  <a:srgbClr val="b8c7dc"/>
                </a:solidFill>
                <a:latin typeface="Noto Sans CJK SC"/>
              </a:rPr>
              <a:t>23 </a:t>
            </a:r>
            <a:r>
              <a:rPr b="0" lang="zh-CN" sz="1800" spc="-1" strike="noStrike">
                <a:solidFill>
                  <a:srgbClr val="b8c7dc"/>
                </a:solidFill>
                <a:latin typeface="Noto Sans CJK SC"/>
              </a:rPr>
              <a:t>步任务由事件推进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38" name="Rectangle 3"/>
          <p:cNvSpPr/>
          <p:nvPr/>
        </p:nvSpPr>
        <p:spPr>
          <a:xfrm>
            <a:off x="320040" y="6492240"/>
            <a:ext cx="11548440" cy="12600"/>
          </a:xfrm>
          <a:prstGeom prst="rect">
            <a:avLst/>
          </a:prstGeom>
          <a:solidFill>
            <a:srgbClr val="3b4c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39" name="TextBox 4"/>
          <p:cNvSpPr/>
          <p:nvPr/>
        </p:nvSpPr>
        <p:spPr>
          <a:xfrm>
            <a:off x="320040" y="6565320"/>
            <a:ext cx="10972440" cy="16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0" lang="zh-CN" sz="1020" spc="-1" strike="noStrike">
                <a:solidFill>
                  <a:srgbClr val="b8c7dc"/>
                </a:solidFill>
                <a:latin typeface="Noto Sans CJK SC"/>
              </a:rPr>
              <a:t>来源：</a:t>
            </a:r>
            <a:r>
              <a:rPr b="0" lang="en-US" sz="1020" spc="-1" strike="noStrike">
                <a:solidFill>
                  <a:srgbClr val="b8c7dc"/>
                </a:solidFill>
                <a:latin typeface="Noto Sans CJK SC"/>
              </a:rPr>
              <a:t>launch/sim_launch.py</a:t>
            </a:r>
            <a:r>
              <a:rPr b="0" lang="zh-CN" sz="1020" spc="-1" strike="noStrike">
                <a:solidFill>
                  <a:srgbClr val="b8c7dc"/>
                </a:solidFill>
                <a:latin typeface="Noto Sans CJK SC"/>
              </a:rPr>
              <a:t>、</a:t>
            </a:r>
            <a:r>
              <a:rPr b="0" lang="en-US" sz="1020" spc="-1" strike="noStrike">
                <a:solidFill>
                  <a:srgbClr val="b8c7dc"/>
                </a:solidFill>
                <a:latin typeface="Noto Sans CJK SC"/>
              </a:rPr>
              <a:t>mission_node.py</a:t>
            </a:r>
            <a:r>
              <a:rPr b="0" lang="zh-CN" sz="1020" spc="-1" strike="noStrike">
                <a:solidFill>
                  <a:srgbClr val="b8c7dc"/>
                </a:solidFill>
                <a:latin typeface="Noto Sans CJK SC"/>
              </a:rPr>
              <a:t>、</a:t>
            </a:r>
            <a:r>
              <a:rPr b="0" lang="en-US" sz="1020" spc="-1" strike="noStrike">
                <a:solidFill>
                  <a:srgbClr val="b8c7dc"/>
                </a:solidFill>
                <a:latin typeface="Noto Sans CJK SC"/>
              </a:rPr>
              <a:t>vision_node.py </a:t>
            </a:r>
            <a:r>
              <a:rPr b="0" lang="zh-CN" sz="1020" spc="-1" strike="noStrike">
                <a:solidFill>
                  <a:srgbClr val="b8c7dc"/>
                </a:solidFill>
                <a:latin typeface="Noto Sans CJK SC"/>
              </a:rPr>
              <a:t>与 </a:t>
            </a:r>
            <a:r>
              <a:rPr b="0" lang="en-US" sz="1020" spc="-1" strike="noStrike">
                <a:solidFill>
                  <a:srgbClr val="b8c7dc"/>
                </a:solidFill>
                <a:latin typeface="Noto Sans CJK SC"/>
              </a:rPr>
              <a:t>safety_node.py</a:t>
            </a:r>
            <a:r>
              <a:rPr b="0" lang="zh-CN" sz="1020" spc="-1" strike="noStrike">
                <a:solidFill>
                  <a:srgbClr val="b8c7dc"/>
                </a:solidFill>
                <a:latin typeface="Noto Sans CJK SC"/>
              </a:rPr>
              <a:t>。</a:t>
            </a:r>
            <a:endParaRPr b="0" lang="en-US" sz="1020" spc="-1" strike="noStrike">
              <a:latin typeface="Arial"/>
            </a:endParaRPr>
          </a:p>
        </p:txBody>
      </p:sp>
      <p:sp>
        <p:nvSpPr>
          <p:cNvPr id="240" name="TextBox 5"/>
          <p:cNvSpPr/>
          <p:nvPr/>
        </p:nvSpPr>
        <p:spPr>
          <a:xfrm>
            <a:off x="11421000" y="6537960"/>
            <a:ext cx="411120" cy="1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7000"/>
              </a:lnSpc>
              <a:spcAft>
                <a:spcPts val="400"/>
              </a:spcAft>
              <a:buNone/>
            </a:pPr>
            <a:r>
              <a:rPr b="1" lang="en-US" sz="1200" spc="-1" strike="noStrike">
                <a:solidFill>
                  <a:srgbClr val="42d5bb"/>
                </a:solidFill>
                <a:latin typeface="Noto Sans CJK SC"/>
              </a:rPr>
              <a:t>19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41" name="Rectangle 6"/>
          <p:cNvSpPr/>
          <p:nvPr/>
        </p:nvSpPr>
        <p:spPr>
          <a:xfrm>
            <a:off x="502920" y="1920240"/>
            <a:ext cx="3200040" cy="2788560"/>
          </a:xfrm>
          <a:prstGeom prst="rect">
            <a:avLst/>
          </a:prstGeom>
          <a:solidFill>
            <a:srgbClr val="1d2c4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42" name="TextBox 7"/>
          <p:cNvSpPr/>
          <p:nvPr/>
        </p:nvSpPr>
        <p:spPr>
          <a:xfrm>
            <a:off x="667440" y="2121480"/>
            <a:ext cx="2880000" cy="44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1" lang="zh-CN" sz="2700" spc="-1" strike="noStrike">
                <a:solidFill>
                  <a:srgbClr val="42d5bb"/>
                </a:solidFill>
                <a:latin typeface="Noto Sans CJK SC"/>
              </a:rPr>
              <a:t>感知与定位</a:t>
            </a:r>
            <a:endParaRPr b="0" lang="en-US" sz="2700" spc="-1" strike="noStrike">
              <a:latin typeface="Arial"/>
            </a:endParaRPr>
          </a:p>
        </p:txBody>
      </p:sp>
      <p:sp>
        <p:nvSpPr>
          <p:cNvPr id="243" name="TextBox 8"/>
          <p:cNvSpPr/>
          <p:nvPr/>
        </p:nvSpPr>
        <p:spPr>
          <a:xfrm>
            <a:off x="667440" y="2871360"/>
            <a:ext cx="2880000" cy="148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0" lang="zh-CN" sz="2200" spc="-1" strike="noStrike">
                <a:solidFill>
                  <a:srgbClr val="f4f7fc"/>
                </a:solidFill>
                <a:latin typeface="Noto Sans CJK SC"/>
              </a:rPr>
              <a:t>激光 </a:t>
            </a:r>
            <a:r>
              <a:rPr b="0" lang="en-US" sz="2200" spc="-1" strike="noStrike">
                <a:solidFill>
                  <a:srgbClr val="f4f7fc"/>
                </a:solidFill>
                <a:latin typeface="Noto Sans CJK SC"/>
              </a:rPr>
              <a:t>+ </a:t>
            </a:r>
            <a:r>
              <a:rPr b="0" lang="zh-CN" sz="2200" spc="-1" strike="noStrike">
                <a:solidFill>
                  <a:srgbClr val="f4f7fc"/>
                </a:solidFill>
                <a:latin typeface="Noto Sans CJK SC"/>
              </a:rPr>
              <a:t>里程计 → </a:t>
            </a:r>
            <a:r>
              <a:rPr b="0" lang="en-US" sz="2200" spc="-1" strike="noStrike">
                <a:solidFill>
                  <a:srgbClr val="f4f7fc"/>
                </a:solidFill>
                <a:latin typeface="Noto Sans CJK SC"/>
              </a:rPr>
              <a:t>AMCL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0" lang="zh-CN" sz="2200" spc="-1" strike="noStrike">
                <a:solidFill>
                  <a:srgbClr val="f4f7fc"/>
                </a:solidFill>
                <a:latin typeface="Noto Sans CJK SC"/>
              </a:rPr>
              <a:t>图像 </a:t>
            </a:r>
            <a:r>
              <a:rPr b="0" lang="en-US" sz="2200" spc="-1" strike="noStrike">
                <a:solidFill>
                  <a:srgbClr val="f4f7fc"/>
                </a:solidFill>
                <a:latin typeface="Noto Sans CJK SC"/>
              </a:rPr>
              <a:t>+ </a:t>
            </a:r>
            <a:r>
              <a:rPr b="0" lang="zh-CN" sz="2200" spc="-1" strike="noStrike">
                <a:solidFill>
                  <a:srgbClr val="f4f7fc"/>
                </a:solidFill>
                <a:latin typeface="Noto Sans CJK SC"/>
              </a:rPr>
              <a:t>云台关节角 → 识别 </a:t>
            </a:r>
            <a:r>
              <a:rPr b="0" lang="en-US" sz="2200" spc="-1" strike="noStrike">
                <a:solidFill>
                  <a:srgbClr val="f4f7fc"/>
                </a:solidFill>
                <a:latin typeface="Noto Sans CJK SC"/>
              </a:rPr>
              <a:t>/ TF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244" name="Rectangle 9"/>
          <p:cNvSpPr/>
          <p:nvPr/>
        </p:nvSpPr>
        <p:spPr>
          <a:xfrm>
            <a:off x="4507920" y="1920240"/>
            <a:ext cx="3200040" cy="2788560"/>
          </a:xfrm>
          <a:prstGeom prst="rect">
            <a:avLst/>
          </a:prstGeom>
          <a:solidFill>
            <a:srgbClr val="1d2c4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45" name="TextBox 10"/>
          <p:cNvSpPr/>
          <p:nvPr/>
        </p:nvSpPr>
        <p:spPr>
          <a:xfrm>
            <a:off x="4672440" y="2121480"/>
            <a:ext cx="2880000" cy="44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1" lang="zh-CN" sz="2700" spc="-1" strike="noStrike">
                <a:solidFill>
                  <a:srgbClr val="42d5bb"/>
                </a:solidFill>
                <a:latin typeface="Noto Sans CJK SC"/>
              </a:rPr>
              <a:t>任务与导航</a:t>
            </a:r>
            <a:endParaRPr b="0" lang="en-US" sz="2700" spc="-1" strike="noStrike">
              <a:latin typeface="Arial"/>
            </a:endParaRPr>
          </a:p>
        </p:txBody>
      </p:sp>
      <p:sp>
        <p:nvSpPr>
          <p:cNvPr id="246" name="TextBox 11"/>
          <p:cNvSpPr/>
          <p:nvPr/>
        </p:nvSpPr>
        <p:spPr>
          <a:xfrm>
            <a:off x="4672440" y="2871360"/>
            <a:ext cx="2880000" cy="148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0" lang="zh-CN" sz="2200" spc="-1" strike="noStrike">
                <a:solidFill>
                  <a:srgbClr val="f4f7fc"/>
                </a:solidFill>
                <a:latin typeface="Noto Sans CJK SC"/>
              </a:rPr>
              <a:t>确认事件 → 任务状态机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0" lang="en-US" sz="2200" spc="-1" strike="noStrike">
                <a:solidFill>
                  <a:srgbClr val="f4f7fc"/>
                </a:solidFill>
                <a:latin typeface="Noto Sans CJK SC"/>
              </a:rPr>
              <a:t>Smac2D </a:t>
            </a:r>
            <a:r>
              <a:rPr b="0" lang="zh-CN" sz="2200" spc="-1" strike="noStrike">
                <a:solidFill>
                  <a:srgbClr val="f4f7fc"/>
                </a:solidFill>
                <a:latin typeface="Noto Sans CJK SC"/>
              </a:rPr>
              <a:t>栅格 </a:t>
            </a:r>
            <a:r>
              <a:rPr b="0" lang="en-US" sz="2200" spc="-1" strike="noStrike">
                <a:solidFill>
                  <a:srgbClr val="f4f7fc"/>
                </a:solidFill>
                <a:latin typeface="Noto Sans CJK SC"/>
              </a:rPr>
              <a:t>A* → RPP </a:t>
            </a:r>
            <a:r>
              <a:rPr b="0" lang="zh-CN" sz="2200" spc="-1" strike="noStrike">
                <a:solidFill>
                  <a:srgbClr val="f4f7fc"/>
                </a:solidFill>
                <a:latin typeface="Noto Sans CJK SC"/>
              </a:rPr>
              <a:t>跟踪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247" name="Rectangle 12"/>
          <p:cNvSpPr/>
          <p:nvPr/>
        </p:nvSpPr>
        <p:spPr>
          <a:xfrm>
            <a:off x="8503920" y="1920240"/>
            <a:ext cx="3200040" cy="2788560"/>
          </a:xfrm>
          <a:prstGeom prst="rect">
            <a:avLst/>
          </a:prstGeom>
          <a:solidFill>
            <a:srgbClr val="1d2c4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48" name="TextBox 13"/>
          <p:cNvSpPr/>
          <p:nvPr/>
        </p:nvSpPr>
        <p:spPr>
          <a:xfrm>
            <a:off x="8668440" y="2121480"/>
            <a:ext cx="2880000" cy="44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1" lang="zh-CN" sz="2700" spc="-1" strike="noStrike">
                <a:solidFill>
                  <a:srgbClr val="42d5bb"/>
                </a:solidFill>
                <a:latin typeface="Noto Sans CJK SC"/>
              </a:rPr>
              <a:t>安全与执行</a:t>
            </a:r>
            <a:endParaRPr b="0" lang="en-US" sz="2700" spc="-1" strike="noStrike">
              <a:latin typeface="Arial"/>
            </a:endParaRPr>
          </a:p>
        </p:txBody>
      </p:sp>
      <p:sp>
        <p:nvSpPr>
          <p:cNvPr id="249" name="TextBox 14"/>
          <p:cNvSpPr/>
          <p:nvPr/>
        </p:nvSpPr>
        <p:spPr>
          <a:xfrm>
            <a:off x="8668440" y="2871360"/>
            <a:ext cx="2880000" cy="11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0" lang="zh-CN" sz="2200" spc="-1" strike="noStrike">
                <a:solidFill>
                  <a:srgbClr val="f4f7fc"/>
                </a:solidFill>
                <a:latin typeface="Noto Sans CJK SC"/>
              </a:rPr>
              <a:t>速度平滑 → 安全检查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0" lang="zh-CN" sz="2200" spc="-1" strike="noStrike">
                <a:solidFill>
                  <a:srgbClr val="f4f7fc"/>
                </a:solidFill>
                <a:latin typeface="Noto Sans CJK SC"/>
              </a:rPr>
              <a:t>完整车体停车扫掠 → 车轮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250" name="Connector 15"/>
          <p:cNvSpPr/>
          <p:nvPr/>
        </p:nvSpPr>
        <p:spPr>
          <a:xfrm>
            <a:off x="3748680" y="3383280"/>
            <a:ext cx="622080" cy="360"/>
          </a:xfrm>
          <a:prstGeom prst="line">
            <a:avLst/>
          </a:prstGeom>
          <a:ln>
            <a:solidFill>
              <a:srgbClr val="42d5bb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251" name="Connector 16"/>
          <p:cNvSpPr/>
          <p:nvPr/>
        </p:nvSpPr>
        <p:spPr>
          <a:xfrm>
            <a:off x="7772400" y="3383280"/>
            <a:ext cx="585000" cy="360"/>
          </a:xfrm>
          <a:prstGeom prst="line">
            <a:avLst/>
          </a:prstGeom>
          <a:ln>
            <a:solidFill>
              <a:srgbClr val="42d5bb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252" name="Rectangle 17"/>
          <p:cNvSpPr/>
          <p:nvPr/>
        </p:nvSpPr>
        <p:spPr>
          <a:xfrm>
            <a:off x="320040" y="5596200"/>
            <a:ext cx="11548440" cy="438480"/>
          </a:xfrm>
          <a:prstGeom prst="rect">
            <a:avLst/>
          </a:prstGeom>
          <a:solidFill>
            <a:srgbClr val="1d2c4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53" name="TextBox 18"/>
          <p:cNvSpPr/>
          <p:nvPr/>
        </p:nvSpPr>
        <p:spPr>
          <a:xfrm>
            <a:off x="466200" y="5646600"/>
            <a:ext cx="11246760" cy="39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7000"/>
              </a:lnSpc>
              <a:spcAft>
                <a:spcPts val="400"/>
              </a:spcAft>
              <a:buNone/>
            </a:pPr>
            <a:r>
              <a:rPr b="1" lang="zh-CN" sz="2400" spc="-1" strike="noStrike">
                <a:solidFill>
                  <a:srgbClr val="42d5bb"/>
                </a:solidFill>
                <a:latin typeface="Noto Sans CJK SC"/>
              </a:rPr>
              <a:t>任务与视觉不读世界真值；独立验收工具旁路记录</a:t>
            </a: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bg>
      <p:bgPr>
        <a:solidFill>
          <a:srgbClr val="10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TextBox 1"/>
          <p:cNvSpPr/>
          <p:nvPr/>
        </p:nvSpPr>
        <p:spPr>
          <a:xfrm>
            <a:off x="311040" y="164520"/>
            <a:ext cx="11566800" cy="50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1" lang="zh-CN" sz="3100" spc="-1" strike="noStrike">
                <a:solidFill>
                  <a:srgbClr val="f4f7fc"/>
                </a:solidFill>
                <a:latin typeface="Noto Sans CJK SC"/>
              </a:rPr>
              <a:t>备份 </a:t>
            </a:r>
            <a:r>
              <a:rPr b="1" lang="en-US" sz="3100" spc="-1" strike="noStrike">
                <a:solidFill>
                  <a:srgbClr val="f4f7fc"/>
                </a:solidFill>
                <a:latin typeface="Noto Sans CJK SC"/>
              </a:rPr>
              <a:t>C</a:t>
            </a:r>
            <a:r>
              <a:rPr b="1" lang="zh-CN" sz="3100" spc="-1" strike="noStrike">
                <a:solidFill>
                  <a:srgbClr val="f4f7fc"/>
                </a:solidFill>
                <a:latin typeface="Noto Sans CJK SC"/>
              </a:rPr>
              <a:t>｜定位误差先统一坐标系</a:t>
            </a:r>
            <a:endParaRPr b="0" lang="en-US" sz="3100" spc="-1" strike="noStrike">
              <a:latin typeface="Arial"/>
            </a:endParaRPr>
          </a:p>
        </p:txBody>
      </p:sp>
      <p:sp>
        <p:nvSpPr>
          <p:cNvPr id="255" name="TextBox 2"/>
          <p:cNvSpPr/>
          <p:nvPr/>
        </p:nvSpPr>
        <p:spPr>
          <a:xfrm>
            <a:off x="320040" y="786240"/>
            <a:ext cx="11521080" cy="29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0" lang="en-US" sz="1800" spc="-1" strike="noStrike">
                <a:solidFill>
                  <a:srgbClr val="b8c7dc"/>
                </a:solidFill>
                <a:latin typeface="Noto Sans CJK SC"/>
              </a:rPr>
              <a:t>map←odom </a:t>
            </a:r>
            <a:r>
              <a:rPr b="0" lang="zh-CN" sz="1800" spc="-1" strike="noStrike">
                <a:solidFill>
                  <a:srgbClr val="b8c7dc"/>
                </a:solidFill>
                <a:latin typeface="Noto Sans CJK SC"/>
              </a:rPr>
              <a:t>变换统一真实位置与估计位置；误差含测距与定位漂移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56" name="Rectangle 3"/>
          <p:cNvSpPr/>
          <p:nvPr/>
        </p:nvSpPr>
        <p:spPr>
          <a:xfrm>
            <a:off x="320040" y="6492240"/>
            <a:ext cx="11548440" cy="12600"/>
          </a:xfrm>
          <a:prstGeom prst="rect">
            <a:avLst/>
          </a:prstGeom>
          <a:solidFill>
            <a:srgbClr val="3b4c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57" name="TextBox 4"/>
          <p:cNvSpPr/>
          <p:nvPr/>
        </p:nvSpPr>
        <p:spPr>
          <a:xfrm>
            <a:off x="320040" y="6565320"/>
            <a:ext cx="10972440" cy="16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0" lang="zh-CN" sz="1020" spc="-1" strike="noStrike">
                <a:solidFill>
                  <a:srgbClr val="b8c7dc"/>
                </a:solidFill>
                <a:latin typeface="Noto Sans CJK SC"/>
              </a:rPr>
              <a:t>本次录屏同次 </a:t>
            </a:r>
            <a:r>
              <a:rPr b="0" lang="en-US" sz="1020" spc="-1" strike="noStrike">
                <a:solidFill>
                  <a:srgbClr val="b8c7dc"/>
                </a:solidFill>
                <a:latin typeface="Noto Sans CJK SC"/>
              </a:rPr>
              <a:t>evaluation.json</a:t>
            </a:r>
            <a:r>
              <a:rPr b="0" lang="zh-CN" sz="1020" spc="-1" strike="noStrike">
                <a:solidFill>
                  <a:srgbClr val="b8c7dc"/>
                </a:solidFill>
                <a:latin typeface="Noto Sans CJK SC"/>
              </a:rPr>
              <a:t>；</a:t>
            </a:r>
            <a:r>
              <a:rPr b="0" lang="en-US" sz="1020" spc="-1" strike="noStrike">
                <a:solidFill>
                  <a:srgbClr val="b8c7dc"/>
                </a:solidFill>
                <a:latin typeface="Noto Sans CJK SC"/>
              </a:rPr>
              <a:t>raw world/map </a:t>
            </a:r>
            <a:r>
              <a:rPr b="0" lang="zh-CN" sz="1020" spc="-1" strike="noStrike">
                <a:solidFill>
                  <a:srgbClr val="b8c7dc"/>
                </a:solidFill>
                <a:latin typeface="Noto Sans CJK SC"/>
              </a:rPr>
              <a:t>差不可直接作为定位误差。</a:t>
            </a:r>
            <a:endParaRPr b="0" lang="en-US" sz="1020" spc="-1" strike="noStrike">
              <a:latin typeface="Arial"/>
            </a:endParaRPr>
          </a:p>
        </p:txBody>
      </p:sp>
      <p:sp>
        <p:nvSpPr>
          <p:cNvPr id="258" name="TextBox 5"/>
          <p:cNvSpPr/>
          <p:nvPr/>
        </p:nvSpPr>
        <p:spPr>
          <a:xfrm>
            <a:off x="11421000" y="6537960"/>
            <a:ext cx="411120" cy="1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7000"/>
              </a:lnSpc>
              <a:spcAft>
                <a:spcPts val="400"/>
              </a:spcAft>
              <a:buNone/>
            </a:pPr>
            <a:r>
              <a:rPr b="1" lang="en-US" sz="1200" spc="-1" strike="noStrike">
                <a:solidFill>
                  <a:srgbClr val="42d5bb"/>
                </a:solidFill>
                <a:latin typeface="Noto Sans CJK SC"/>
              </a:rPr>
              <a:t>20</a:t>
            </a:r>
            <a:endParaRPr b="0" lang="en-US" sz="1200" spc="-1" strike="noStrike">
              <a:latin typeface="Arial"/>
            </a:endParaRPr>
          </a:p>
        </p:txBody>
      </p:sp>
      <p:graphicFrame>
        <p:nvGraphicFramePr>
          <p:cNvPr id="259" name="Table 6"/>
          <p:cNvGraphicFramePr/>
          <p:nvPr/>
        </p:nvGraphicFramePr>
        <p:xfrm>
          <a:off x="365760" y="1554480"/>
          <a:ext cx="11429640" cy="3931560"/>
        </p:xfrm>
        <a:graphic>
          <a:graphicData uri="http://schemas.openxmlformats.org/drawingml/2006/table">
            <a:tbl>
              <a:tblPr/>
              <a:tblGrid>
                <a:gridCol w="914400"/>
                <a:gridCol w="4343400"/>
                <a:gridCol w="2880360"/>
                <a:gridCol w="3291840"/>
              </a:tblGrid>
              <a:tr h="786240">
                <a:tc>
                  <a:txBody>
                    <a:bodyPr lIns="118800" rIns="118800" tIns="7308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2300" spc="-1" strike="noStrike">
                          <a:solidFill>
                            <a:srgbClr val="42d5bb"/>
                          </a:solidFill>
                          <a:latin typeface="Noto Sans CJK SC"/>
                        </a:rPr>
                        <a:t>ID</a:t>
                      </a:r>
                      <a:endParaRPr b="0" lang="en-US" sz="23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263d58"/>
                    </a:solidFill>
                  </a:tcPr>
                </a:tc>
                <a:tc>
                  <a:txBody>
                    <a:bodyPr lIns="118800" rIns="118800" tIns="7308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2300" spc="-1" strike="noStrike">
                          <a:solidFill>
                            <a:srgbClr val="42d5bb"/>
                          </a:solidFill>
                          <a:latin typeface="Noto Sans CJK SC"/>
                        </a:rPr>
                        <a:t>类别</a:t>
                      </a:r>
                      <a:endParaRPr b="0" lang="en-US" sz="23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263d58"/>
                    </a:solidFill>
                  </a:tcPr>
                </a:tc>
                <a:tc>
                  <a:txBody>
                    <a:bodyPr lIns="118800" rIns="118800" tIns="7308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2300" spc="-1" strike="noStrike">
                          <a:solidFill>
                            <a:srgbClr val="42d5bb"/>
                          </a:solidFill>
                          <a:latin typeface="Noto Sans CJK SC"/>
                        </a:rPr>
                        <a:t>统一 </a:t>
                      </a:r>
                      <a:r>
                        <a:rPr b="1" lang="en-US" sz="2300" spc="-1" strike="noStrike">
                          <a:solidFill>
                            <a:srgbClr val="42d5bb"/>
                          </a:solidFill>
                          <a:latin typeface="Noto Sans CJK SC"/>
                        </a:rPr>
                        <a:t>map / cm</a:t>
                      </a:r>
                      <a:endParaRPr b="0" lang="en-US" sz="23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263d58"/>
                    </a:solidFill>
                  </a:tcPr>
                </a:tc>
                <a:tc>
                  <a:txBody>
                    <a:bodyPr lIns="118800" rIns="118800" tIns="7308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2300" spc="-1" strike="noStrike">
                          <a:solidFill>
                            <a:srgbClr val="42d5bb"/>
                          </a:solidFill>
                          <a:latin typeface="Noto Sans CJK SC"/>
                        </a:rPr>
                        <a:t>原始坐标差 </a:t>
                      </a:r>
                      <a:r>
                        <a:rPr b="1" lang="en-US" sz="2300" spc="-1" strike="noStrike">
                          <a:solidFill>
                            <a:srgbClr val="42d5bb"/>
                          </a:solidFill>
                          <a:latin typeface="Noto Sans CJK SC"/>
                        </a:rPr>
                        <a:t>/ cm</a:t>
                      </a:r>
                      <a:endParaRPr b="0" lang="en-US" sz="23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263d58"/>
                    </a:solidFill>
                  </a:tcPr>
                </a:tc>
              </a:tr>
              <a:tr h="786240">
                <a:tc>
                  <a:txBody>
                    <a:bodyPr lIns="118800" rIns="118800" tIns="7308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23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T0</a:t>
                      </a:r>
                      <a:endParaRPr b="0" lang="en-US" sz="23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d2c42"/>
                    </a:solidFill>
                  </a:tcPr>
                </a:tc>
                <a:tc>
                  <a:txBody>
                    <a:bodyPr lIns="118800" rIns="118800" tIns="7308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23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COLLAPSE</a:t>
                      </a:r>
                      <a:endParaRPr b="0" lang="en-US" sz="23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d2c42"/>
                    </a:solidFill>
                  </a:tcPr>
                </a:tc>
                <a:tc>
                  <a:txBody>
                    <a:bodyPr lIns="118800" rIns="118800" tIns="7308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23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13.94</a:t>
                      </a:r>
                      <a:endParaRPr b="0" lang="en-US" sz="23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d2c42"/>
                    </a:solidFill>
                  </a:tcPr>
                </a:tc>
                <a:tc>
                  <a:txBody>
                    <a:bodyPr lIns="118800" rIns="118800" tIns="7308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23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15.76</a:t>
                      </a:r>
                      <a:endParaRPr b="0" lang="en-US" sz="23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d2c42"/>
                    </a:solidFill>
                  </a:tcPr>
                </a:tc>
              </a:tr>
              <a:tr h="786240">
                <a:tc>
                  <a:txBody>
                    <a:bodyPr lIns="118800" rIns="118800" tIns="7308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23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T1</a:t>
                      </a:r>
                      <a:endParaRPr b="0" lang="en-US" sz="23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7253a"/>
                    </a:solidFill>
                  </a:tcPr>
                </a:tc>
                <a:tc>
                  <a:txBody>
                    <a:bodyPr lIns="118800" rIns="118800" tIns="7308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23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TOXIC_LEAK</a:t>
                      </a:r>
                      <a:endParaRPr b="0" lang="en-US" sz="23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7253a"/>
                    </a:solidFill>
                  </a:tcPr>
                </a:tc>
                <a:tc>
                  <a:txBody>
                    <a:bodyPr lIns="118800" rIns="118800" tIns="7308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23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11.88</a:t>
                      </a:r>
                      <a:endParaRPr b="0" lang="en-US" sz="23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7253a"/>
                    </a:solidFill>
                  </a:tcPr>
                </a:tc>
                <a:tc>
                  <a:txBody>
                    <a:bodyPr lIns="118800" rIns="118800" tIns="7308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23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14.57</a:t>
                      </a:r>
                      <a:endParaRPr b="0" lang="en-US" sz="23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7253a"/>
                    </a:solidFill>
                  </a:tcPr>
                </a:tc>
              </a:tr>
              <a:tr h="786240">
                <a:tc>
                  <a:txBody>
                    <a:bodyPr lIns="118800" rIns="118800" tIns="7308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23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T2</a:t>
                      </a:r>
                      <a:endParaRPr b="0" lang="en-US" sz="23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d2c42"/>
                    </a:solidFill>
                  </a:tcPr>
                </a:tc>
                <a:tc>
                  <a:txBody>
                    <a:bodyPr lIns="118800" rIns="118800" tIns="7308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23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TRAPPED_PERSON</a:t>
                      </a:r>
                      <a:endParaRPr b="0" lang="en-US" sz="23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d2c42"/>
                    </a:solidFill>
                  </a:tcPr>
                </a:tc>
                <a:tc>
                  <a:txBody>
                    <a:bodyPr lIns="118800" rIns="118800" tIns="7308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23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10.20</a:t>
                      </a:r>
                      <a:endParaRPr b="0" lang="en-US" sz="23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d2c42"/>
                    </a:solidFill>
                  </a:tcPr>
                </a:tc>
                <a:tc>
                  <a:txBody>
                    <a:bodyPr lIns="118800" rIns="118800" tIns="7308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23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13.88</a:t>
                      </a:r>
                      <a:endParaRPr b="0" lang="en-US" sz="23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d2c42"/>
                    </a:solidFill>
                  </a:tcPr>
                </a:tc>
              </a:tr>
              <a:tr h="786600">
                <a:tc>
                  <a:txBody>
                    <a:bodyPr lIns="118800" rIns="118800" tIns="7308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23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T3</a:t>
                      </a:r>
                      <a:endParaRPr b="0" lang="en-US" sz="23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7253a"/>
                    </a:solidFill>
                  </a:tcPr>
                </a:tc>
                <a:tc>
                  <a:txBody>
                    <a:bodyPr lIns="118800" rIns="118800" tIns="7308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23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HIGH_TEMPERATURE</a:t>
                      </a:r>
                      <a:endParaRPr b="0" lang="en-US" sz="23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7253a"/>
                    </a:solidFill>
                  </a:tcPr>
                </a:tc>
                <a:tc>
                  <a:txBody>
                    <a:bodyPr lIns="118800" rIns="118800" tIns="7308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23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7.52</a:t>
                      </a:r>
                      <a:endParaRPr b="0" lang="en-US" sz="23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7253a"/>
                    </a:solidFill>
                  </a:tcPr>
                </a:tc>
                <a:tc>
                  <a:txBody>
                    <a:bodyPr lIns="118800" rIns="118800" tIns="7308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23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12.26</a:t>
                      </a:r>
                      <a:endParaRPr b="0" lang="en-US" sz="23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7253a"/>
                    </a:solidFill>
                  </a:tcPr>
                </a:tc>
              </a:tr>
            </a:tbl>
          </a:graphicData>
        </a:graphic>
      </p:graphicFrame>
      <p:sp>
        <p:nvSpPr>
          <p:cNvPr id="260" name="TextBox 7"/>
          <p:cNvSpPr/>
          <p:nvPr/>
        </p:nvSpPr>
        <p:spPr>
          <a:xfrm>
            <a:off x="548640" y="5824800"/>
            <a:ext cx="11063880" cy="37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1" lang="zh-CN" sz="2300" spc="-1" strike="noStrike">
                <a:solidFill>
                  <a:srgbClr val="42d5bb"/>
                </a:solidFill>
                <a:latin typeface="Noto Sans CJK SC"/>
              </a:rPr>
              <a:t>上述数值全部属于新版录屏；</a:t>
            </a:r>
            <a:r>
              <a:rPr b="1" lang="en-US" sz="2300" spc="-1" strike="noStrike">
                <a:solidFill>
                  <a:srgbClr val="42d5bb"/>
                </a:solidFill>
                <a:latin typeface="Noto Sans CJK SC"/>
              </a:rPr>
              <a:t>15 cm </a:t>
            </a:r>
            <a:r>
              <a:rPr b="1" lang="zh-CN" sz="2300" spc="-1" strike="noStrike">
                <a:solidFill>
                  <a:srgbClr val="42d5bb"/>
                </a:solidFill>
                <a:latin typeface="Noto Sans CJK SC"/>
              </a:rPr>
              <a:t>是项目自定验收门限。</a:t>
            </a:r>
            <a:endParaRPr b="0" lang="en-US" sz="2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bg>
      <p:bgPr>
        <a:solidFill>
          <a:srgbClr val="10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TextBox 1"/>
          <p:cNvSpPr/>
          <p:nvPr/>
        </p:nvSpPr>
        <p:spPr>
          <a:xfrm>
            <a:off x="311040" y="164520"/>
            <a:ext cx="11566800" cy="50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1" lang="zh-CN" sz="3100" spc="-1" strike="noStrike">
                <a:solidFill>
                  <a:srgbClr val="f4f7fc"/>
                </a:solidFill>
                <a:latin typeface="Noto Sans CJK SC"/>
              </a:rPr>
              <a:t>备份 </a:t>
            </a:r>
            <a:r>
              <a:rPr b="1" lang="en-US" sz="3100" spc="-1" strike="noStrike">
                <a:solidFill>
                  <a:srgbClr val="f4f7fc"/>
                </a:solidFill>
                <a:latin typeface="Noto Sans CJK SC"/>
              </a:rPr>
              <a:t>D</a:t>
            </a:r>
            <a:r>
              <a:rPr b="1" lang="zh-CN" sz="3100" spc="-1" strike="noStrike">
                <a:solidFill>
                  <a:srgbClr val="f4f7fc"/>
                </a:solidFill>
                <a:latin typeface="Noto Sans CJK SC"/>
              </a:rPr>
              <a:t>｜更快的候选不一定更快完成任务</a:t>
            </a:r>
            <a:endParaRPr b="0" lang="en-US" sz="3100" spc="-1" strike="noStrike">
              <a:latin typeface="Arial"/>
            </a:endParaRPr>
          </a:p>
        </p:txBody>
      </p:sp>
      <p:sp>
        <p:nvSpPr>
          <p:cNvPr id="262" name="TextBox 2"/>
          <p:cNvSpPr/>
          <p:nvPr/>
        </p:nvSpPr>
        <p:spPr>
          <a:xfrm>
            <a:off x="320040" y="786240"/>
            <a:ext cx="11521080" cy="29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0" lang="zh-CN" sz="1800" spc="-1" strike="noStrike">
                <a:solidFill>
                  <a:srgbClr val="b8c7dc"/>
                </a:solidFill>
                <a:latin typeface="Noto Sans CJK SC"/>
              </a:rPr>
              <a:t>评价从首次导航到完整任务完成；保留失败候选与完整日志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63" name="Rectangle 3"/>
          <p:cNvSpPr/>
          <p:nvPr/>
        </p:nvSpPr>
        <p:spPr>
          <a:xfrm>
            <a:off x="320040" y="6492240"/>
            <a:ext cx="11548440" cy="12600"/>
          </a:xfrm>
          <a:prstGeom prst="rect">
            <a:avLst/>
          </a:prstGeom>
          <a:solidFill>
            <a:srgbClr val="3b4c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64" name="TextBox 4"/>
          <p:cNvSpPr/>
          <p:nvPr/>
        </p:nvSpPr>
        <p:spPr>
          <a:xfrm>
            <a:off x="320040" y="6565320"/>
            <a:ext cx="10972440" cy="16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0" lang="zh-CN" sz="1020" spc="-1" strike="noStrike">
                <a:solidFill>
                  <a:srgbClr val="b8c7dc"/>
                </a:solidFill>
                <a:latin typeface="Noto Sans CJK SC"/>
              </a:rPr>
              <a:t>历史速度实验：</a:t>
            </a:r>
            <a:r>
              <a:rPr b="0" lang="en-US" sz="1020" spc="-1" strike="noStrike">
                <a:solidFill>
                  <a:srgbClr val="b8c7dc"/>
                </a:solidFill>
                <a:latin typeface="Noto Sans CJK SC"/>
              </a:rPr>
              <a:t>speed_tuning_validation.json</a:t>
            </a:r>
            <a:r>
              <a:rPr b="0" lang="zh-CN" sz="1020" spc="-1" strike="noStrike">
                <a:solidFill>
                  <a:srgbClr val="b8c7dc"/>
                </a:solidFill>
                <a:latin typeface="Noto Sans CJK SC"/>
              </a:rPr>
              <a:t>，</a:t>
            </a:r>
            <a:r>
              <a:rPr b="0" lang="en-US" sz="1020" spc="-1" strike="noStrike">
                <a:solidFill>
                  <a:srgbClr val="b8c7dc"/>
                </a:solidFill>
                <a:latin typeface="Noto Sans CJK SC"/>
              </a:rPr>
              <a:t>1 </a:t>
            </a:r>
            <a:r>
              <a:rPr b="0" lang="zh-CN" sz="1020" spc="-1" strike="noStrike">
                <a:solidFill>
                  <a:srgbClr val="b8c7dc"/>
                </a:solidFill>
                <a:latin typeface="Noto Sans CJK SC"/>
              </a:rPr>
              <a:t>次基准、</a:t>
            </a:r>
            <a:r>
              <a:rPr b="0" lang="en-US" sz="1020" spc="-1" strike="noStrike">
                <a:solidFill>
                  <a:srgbClr val="b8c7dc"/>
                </a:solidFill>
                <a:latin typeface="Noto Sans CJK SC"/>
              </a:rPr>
              <a:t>2 </a:t>
            </a:r>
            <a:r>
              <a:rPr b="0" lang="zh-CN" sz="1020" spc="-1" strike="noStrike">
                <a:solidFill>
                  <a:srgbClr val="b8c7dc"/>
                </a:solidFill>
                <a:latin typeface="Noto Sans CJK SC"/>
              </a:rPr>
              <a:t>次最终配置。</a:t>
            </a:r>
            <a:endParaRPr b="0" lang="en-US" sz="1020" spc="-1" strike="noStrike">
              <a:latin typeface="Arial"/>
            </a:endParaRPr>
          </a:p>
        </p:txBody>
      </p:sp>
      <p:sp>
        <p:nvSpPr>
          <p:cNvPr id="265" name="TextBox 5"/>
          <p:cNvSpPr/>
          <p:nvPr/>
        </p:nvSpPr>
        <p:spPr>
          <a:xfrm>
            <a:off x="11421000" y="6537960"/>
            <a:ext cx="411120" cy="1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7000"/>
              </a:lnSpc>
              <a:spcAft>
                <a:spcPts val="400"/>
              </a:spcAft>
              <a:buNone/>
            </a:pPr>
            <a:r>
              <a:rPr b="1" lang="en-US" sz="1200" spc="-1" strike="noStrike">
                <a:solidFill>
                  <a:srgbClr val="42d5bb"/>
                </a:solidFill>
                <a:latin typeface="Noto Sans CJK SC"/>
              </a:rPr>
              <a:t>21</a:t>
            </a:r>
            <a:endParaRPr b="0" lang="en-US" sz="1200" spc="-1" strike="noStrike">
              <a:latin typeface="Arial"/>
            </a:endParaRPr>
          </a:p>
        </p:txBody>
      </p:sp>
      <p:graphicFrame>
        <p:nvGraphicFramePr>
          <p:cNvPr id="266" name="Table 6"/>
          <p:cNvGraphicFramePr/>
          <p:nvPr/>
        </p:nvGraphicFramePr>
        <p:xfrm>
          <a:off x="365760" y="1325880"/>
          <a:ext cx="11429640" cy="4800240"/>
        </p:xfrm>
        <a:graphic>
          <a:graphicData uri="http://schemas.openxmlformats.org/drawingml/2006/table">
            <a:tbl>
              <a:tblPr/>
              <a:tblGrid>
                <a:gridCol w="3337560"/>
                <a:gridCol w="2240280"/>
                <a:gridCol w="1188720"/>
                <a:gridCol w="4663440"/>
              </a:tblGrid>
              <a:tr h="685800">
                <a:tc>
                  <a:txBody>
                    <a:bodyPr lIns="118800" rIns="118800" tIns="7308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2100" spc="-1" strike="noStrike">
                          <a:solidFill>
                            <a:srgbClr val="42d5bb"/>
                          </a:solidFill>
                          <a:latin typeface="Noto Sans CJK SC"/>
                        </a:rPr>
                        <a:t>配置</a:t>
                      </a:r>
                      <a:endParaRPr b="0" lang="en-US" sz="21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263d58"/>
                    </a:solidFill>
                  </a:tcPr>
                </a:tc>
                <a:tc>
                  <a:txBody>
                    <a:bodyPr lIns="118800" rIns="118800" tIns="7308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2100" spc="-1" strike="noStrike">
                          <a:solidFill>
                            <a:srgbClr val="42d5bb"/>
                          </a:solidFill>
                          <a:latin typeface="Noto Sans CJK SC"/>
                        </a:rPr>
                        <a:t>任务耗时 </a:t>
                      </a:r>
                      <a:r>
                        <a:rPr b="1" lang="en-US" sz="2100" spc="-1" strike="noStrike">
                          <a:solidFill>
                            <a:srgbClr val="42d5bb"/>
                          </a:solidFill>
                          <a:latin typeface="Noto Sans CJK SC"/>
                        </a:rPr>
                        <a:t>/ s</a:t>
                      </a:r>
                      <a:endParaRPr b="0" lang="en-US" sz="21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263d58"/>
                    </a:solidFill>
                  </a:tcPr>
                </a:tc>
                <a:tc>
                  <a:txBody>
                    <a:bodyPr lIns="118800" rIns="118800" tIns="7308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2100" spc="-1" strike="noStrike">
                          <a:solidFill>
                            <a:srgbClr val="42d5bb"/>
                          </a:solidFill>
                          <a:latin typeface="Noto Sans CJK SC"/>
                        </a:rPr>
                        <a:t>结果</a:t>
                      </a:r>
                      <a:endParaRPr b="0" lang="en-US" sz="21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263d58"/>
                    </a:solidFill>
                  </a:tcPr>
                </a:tc>
                <a:tc>
                  <a:txBody>
                    <a:bodyPr lIns="118800" rIns="118800" tIns="7308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2100" spc="-1" strike="noStrike">
                          <a:solidFill>
                            <a:srgbClr val="42d5bb"/>
                          </a:solidFill>
                          <a:latin typeface="Noto Sans CJK SC"/>
                        </a:rPr>
                        <a:t>说明</a:t>
                      </a:r>
                      <a:endParaRPr b="0" lang="en-US" sz="21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263d58"/>
                    </a:solidFill>
                  </a:tcPr>
                </a:tc>
              </a:tr>
              <a:tr h="685800">
                <a:tc>
                  <a:txBody>
                    <a:bodyPr lIns="118800" rIns="118800" tIns="7308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21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原速基准</a:t>
                      </a:r>
                      <a:endParaRPr b="0" lang="en-US" sz="21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d2c42"/>
                    </a:solidFill>
                  </a:tcPr>
                </a:tc>
                <a:tc>
                  <a:txBody>
                    <a:bodyPr lIns="118800" rIns="118800" tIns="7308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21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310.82</a:t>
                      </a:r>
                      <a:endParaRPr b="0" lang="en-US" sz="21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d2c42"/>
                    </a:solidFill>
                  </a:tcPr>
                </a:tc>
                <a:tc>
                  <a:txBody>
                    <a:bodyPr lIns="118800" rIns="118800" tIns="7308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21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通过</a:t>
                      </a:r>
                      <a:endParaRPr b="0" lang="en-US" sz="21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d2c42"/>
                    </a:solidFill>
                  </a:tcPr>
                </a:tc>
                <a:tc>
                  <a:txBody>
                    <a:bodyPr lIns="118800" rIns="118800" tIns="7308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21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1 </a:t>
                      </a:r>
                      <a:r>
                        <a:rPr b="0" lang="zh-CN" sz="21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次基准</a:t>
                      </a:r>
                      <a:endParaRPr b="0" lang="en-US" sz="21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d2c42"/>
                    </a:solidFill>
                  </a:tcPr>
                </a:tc>
              </a:tr>
              <a:tr h="685800">
                <a:tc>
                  <a:txBody>
                    <a:bodyPr lIns="118800" rIns="118800" tIns="7308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21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最终 </a:t>
                      </a:r>
                      <a:r>
                        <a:rPr b="0" lang="en-US" sz="21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0.20 / </a:t>
                      </a:r>
                      <a:r>
                        <a:rPr b="0" lang="zh-CN" sz="21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第 </a:t>
                      </a:r>
                      <a:r>
                        <a:rPr b="0" lang="en-US" sz="21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1 </a:t>
                      </a:r>
                      <a:r>
                        <a:rPr b="0" lang="zh-CN" sz="21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次</a:t>
                      </a:r>
                      <a:endParaRPr b="0" lang="en-US" sz="21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7253a"/>
                    </a:solidFill>
                  </a:tcPr>
                </a:tc>
                <a:tc>
                  <a:txBody>
                    <a:bodyPr lIns="118800" rIns="118800" tIns="7308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21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286.07</a:t>
                      </a:r>
                      <a:endParaRPr b="0" lang="en-US" sz="21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7253a"/>
                    </a:solidFill>
                  </a:tcPr>
                </a:tc>
                <a:tc>
                  <a:txBody>
                    <a:bodyPr lIns="118800" rIns="118800" tIns="7308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21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通过</a:t>
                      </a:r>
                      <a:endParaRPr b="0" lang="en-US" sz="21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7253a"/>
                    </a:solidFill>
                  </a:tcPr>
                </a:tc>
                <a:tc>
                  <a:txBody>
                    <a:bodyPr lIns="118800" rIns="118800" tIns="7308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21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Marker 7.67–12.83 cm</a:t>
                      </a:r>
                      <a:endParaRPr b="0" lang="en-US" sz="21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7253a"/>
                    </a:solidFill>
                  </a:tcPr>
                </a:tc>
              </a:tr>
              <a:tr h="685800">
                <a:tc>
                  <a:txBody>
                    <a:bodyPr lIns="118800" rIns="118800" tIns="7308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21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最终 </a:t>
                      </a:r>
                      <a:r>
                        <a:rPr b="0" lang="en-US" sz="21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0.20 / </a:t>
                      </a:r>
                      <a:r>
                        <a:rPr b="0" lang="zh-CN" sz="21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第 </a:t>
                      </a:r>
                      <a:r>
                        <a:rPr b="0" lang="en-US" sz="21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2 </a:t>
                      </a:r>
                      <a:r>
                        <a:rPr b="0" lang="zh-CN" sz="21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次</a:t>
                      </a:r>
                      <a:endParaRPr b="0" lang="en-US" sz="21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d2c42"/>
                    </a:solidFill>
                  </a:tcPr>
                </a:tc>
                <a:tc>
                  <a:txBody>
                    <a:bodyPr lIns="118800" rIns="118800" tIns="7308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21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288.32</a:t>
                      </a:r>
                      <a:endParaRPr b="0" lang="en-US" sz="21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d2c42"/>
                    </a:solidFill>
                  </a:tcPr>
                </a:tc>
                <a:tc>
                  <a:txBody>
                    <a:bodyPr lIns="118800" rIns="118800" tIns="7308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21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通过</a:t>
                      </a:r>
                      <a:endParaRPr b="0" lang="en-US" sz="21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d2c42"/>
                    </a:solidFill>
                  </a:tcPr>
                </a:tc>
                <a:tc>
                  <a:txBody>
                    <a:bodyPr lIns="118800" rIns="118800" tIns="7308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21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Marker 4.41–6.83 cm</a:t>
                      </a:r>
                      <a:endParaRPr b="0" lang="en-US" sz="21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d2c42"/>
                    </a:solidFill>
                  </a:tcPr>
                </a:tc>
              </a:tr>
              <a:tr h="685800">
                <a:tc>
                  <a:txBody>
                    <a:bodyPr lIns="118800" rIns="118800" tIns="7308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21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分档 </a:t>
                      </a:r>
                      <a:r>
                        <a:rPr b="0" lang="en-US" sz="21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0.24</a:t>
                      </a:r>
                      <a:endParaRPr b="0" lang="en-US" sz="21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7253a"/>
                    </a:solidFill>
                  </a:tcPr>
                </a:tc>
                <a:tc>
                  <a:txBody>
                    <a:bodyPr lIns="118800" rIns="118800" tIns="7308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21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296.84</a:t>
                      </a:r>
                      <a:endParaRPr b="0" lang="en-US" sz="21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7253a"/>
                    </a:solidFill>
                  </a:tcPr>
                </a:tc>
                <a:tc>
                  <a:txBody>
                    <a:bodyPr lIns="118800" rIns="118800" tIns="7308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21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通过</a:t>
                      </a:r>
                      <a:endParaRPr b="0" lang="en-US" sz="21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7253a"/>
                    </a:solidFill>
                  </a:tcPr>
                </a:tc>
                <a:tc>
                  <a:txBody>
                    <a:bodyPr lIns="118800" rIns="118800" tIns="7308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21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末端对正耗时更长</a:t>
                      </a:r>
                      <a:endParaRPr b="0" lang="en-US" sz="21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7253a"/>
                    </a:solidFill>
                  </a:tcPr>
                </a:tc>
              </a:tr>
              <a:tr h="685800">
                <a:tc>
                  <a:txBody>
                    <a:bodyPr lIns="118800" rIns="118800" tIns="7308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21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全程 </a:t>
                      </a:r>
                      <a:r>
                        <a:rPr b="0" lang="en-US" sz="21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0.24</a:t>
                      </a:r>
                      <a:endParaRPr b="0" lang="en-US" sz="21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d2c42"/>
                    </a:solidFill>
                  </a:tcPr>
                </a:tc>
                <a:tc>
                  <a:txBody>
                    <a:bodyPr lIns="118800" rIns="118800" tIns="7308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21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不计成绩</a:t>
                      </a:r>
                      <a:endParaRPr b="0" lang="en-US" sz="21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d2c42"/>
                    </a:solidFill>
                  </a:tcPr>
                </a:tc>
                <a:tc>
                  <a:txBody>
                    <a:bodyPr lIns="118800" rIns="118800" tIns="7308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21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失败</a:t>
                      </a:r>
                      <a:endParaRPr b="0" lang="en-US" sz="21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d2c42"/>
                    </a:solidFill>
                  </a:tcPr>
                </a:tc>
                <a:tc>
                  <a:txBody>
                    <a:bodyPr lIns="118800" rIns="118800" tIns="7308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21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门洞触发激光保护</a:t>
                      </a:r>
                      <a:endParaRPr b="0" lang="en-US" sz="21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d2c42"/>
                    </a:solidFill>
                  </a:tcPr>
                </a:tc>
              </a:tr>
              <a:tr h="685800">
                <a:tc>
                  <a:txBody>
                    <a:bodyPr lIns="118800" rIns="118800" tIns="7308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21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分档 </a:t>
                      </a:r>
                      <a:r>
                        <a:rPr b="0" lang="en-US" sz="21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0.30</a:t>
                      </a:r>
                      <a:endParaRPr b="0" lang="en-US" sz="21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7253a"/>
                    </a:solidFill>
                  </a:tcPr>
                </a:tc>
                <a:tc>
                  <a:txBody>
                    <a:bodyPr lIns="118800" rIns="118800" tIns="7308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21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不计成绩</a:t>
                      </a:r>
                      <a:endParaRPr b="0" lang="en-US" sz="21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7253a"/>
                    </a:solidFill>
                  </a:tcPr>
                </a:tc>
                <a:tc>
                  <a:txBody>
                    <a:bodyPr lIns="118800" rIns="118800" tIns="7308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21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失败</a:t>
                      </a:r>
                      <a:endParaRPr b="0" lang="en-US" sz="21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7253a"/>
                    </a:solidFill>
                  </a:tcPr>
                </a:tc>
                <a:tc>
                  <a:txBody>
                    <a:bodyPr lIns="118800" rIns="118800" tIns="7308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21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横偏与异常转向停车</a:t>
                      </a:r>
                      <a:endParaRPr b="0" lang="en-US" sz="21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7253a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bg>
      <p:bgPr>
        <a:solidFill>
          <a:srgbClr val="10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TextBox 1"/>
          <p:cNvSpPr/>
          <p:nvPr/>
        </p:nvSpPr>
        <p:spPr>
          <a:xfrm>
            <a:off x="311040" y="164520"/>
            <a:ext cx="11566800" cy="50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1" lang="zh-CN" sz="3100" spc="-1" strike="noStrike">
                <a:solidFill>
                  <a:srgbClr val="f4f7fc"/>
                </a:solidFill>
                <a:latin typeface="Noto Sans CJK SC"/>
              </a:rPr>
              <a:t>备份 </a:t>
            </a:r>
            <a:r>
              <a:rPr b="1" lang="en-US" sz="3100" spc="-1" strike="noStrike">
                <a:solidFill>
                  <a:srgbClr val="f4f7fc"/>
                </a:solidFill>
                <a:latin typeface="Noto Sans CJK SC"/>
              </a:rPr>
              <a:t>E</a:t>
            </a:r>
            <a:r>
              <a:rPr b="1" lang="zh-CN" sz="3100" spc="-1" strike="noStrike">
                <a:solidFill>
                  <a:srgbClr val="f4f7fc"/>
                </a:solidFill>
                <a:latin typeface="Noto Sans CJK SC"/>
              </a:rPr>
              <a:t>｜视觉指标与工程确认条件</a:t>
            </a:r>
            <a:endParaRPr b="0" lang="en-US" sz="3100" spc="-1" strike="noStrike">
              <a:latin typeface="Arial"/>
            </a:endParaRPr>
          </a:p>
        </p:txBody>
      </p:sp>
      <p:sp>
        <p:nvSpPr>
          <p:cNvPr id="268" name="TextBox 2"/>
          <p:cNvSpPr/>
          <p:nvPr/>
        </p:nvSpPr>
        <p:spPr>
          <a:xfrm>
            <a:off x="320040" y="786240"/>
            <a:ext cx="11521080" cy="29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0" lang="zh-CN" sz="1800" spc="-1" strike="noStrike">
                <a:solidFill>
                  <a:srgbClr val="b8c7dc"/>
                </a:solidFill>
                <a:latin typeface="Noto Sans CJK SC"/>
              </a:rPr>
              <a:t>单帧显示框、历史确认列表、任务确认事件是不同信息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69" name="Rectangle 3"/>
          <p:cNvSpPr/>
          <p:nvPr/>
        </p:nvSpPr>
        <p:spPr>
          <a:xfrm>
            <a:off x="320040" y="6492240"/>
            <a:ext cx="11548440" cy="12600"/>
          </a:xfrm>
          <a:prstGeom prst="rect">
            <a:avLst/>
          </a:prstGeom>
          <a:solidFill>
            <a:srgbClr val="3b4c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70" name="TextBox 4"/>
          <p:cNvSpPr/>
          <p:nvPr/>
        </p:nvSpPr>
        <p:spPr>
          <a:xfrm>
            <a:off x="320040" y="6565320"/>
            <a:ext cx="10972440" cy="16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0" lang="zh-CN" sz="1020" spc="-1" strike="noStrike">
                <a:solidFill>
                  <a:srgbClr val="b8c7dc"/>
                </a:solidFill>
                <a:latin typeface="Noto Sans CJK SC"/>
              </a:rPr>
              <a:t>模型合成集指标：</a:t>
            </a:r>
            <a:r>
              <a:rPr b="0" lang="en-US" sz="1020" spc="-1" strike="noStrike">
                <a:solidFill>
                  <a:srgbClr val="b8c7dc"/>
                </a:solidFill>
                <a:latin typeface="Noto Sans CJK SC"/>
              </a:rPr>
              <a:t>yolov5/hazard_yolov5.json</a:t>
            </a:r>
            <a:r>
              <a:rPr b="0" lang="zh-CN" sz="1020" spc="-1" strike="noStrike">
                <a:solidFill>
                  <a:srgbClr val="b8c7dc"/>
                </a:solidFill>
                <a:latin typeface="Noto Sans CJK SC"/>
              </a:rPr>
              <a:t>；时序规则见 </a:t>
            </a:r>
            <a:r>
              <a:rPr b="0" lang="en-US" sz="1020" spc="-1" strike="noStrike">
                <a:solidFill>
                  <a:srgbClr val="b8c7dc"/>
                </a:solidFill>
                <a:latin typeface="Noto Sans CJK SC"/>
              </a:rPr>
              <a:t>tracker </a:t>
            </a:r>
            <a:r>
              <a:rPr b="0" lang="zh-CN" sz="1020" spc="-1" strike="noStrike">
                <a:solidFill>
                  <a:srgbClr val="b8c7dc"/>
                </a:solidFill>
                <a:latin typeface="Noto Sans CJK SC"/>
              </a:rPr>
              <a:t>与 </a:t>
            </a:r>
            <a:r>
              <a:rPr b="0" lang="en-US" sz="1020" spc="-1" strike="noStrike">
                <a:solidFill>
                  <a:srgbClr val="b8c7dc"/>
                </a:solidFill>
                <a:latin typeface="Noto Sans CJK SC"/>
              </a:rPr>
              <a:t>vision_node</a:t>
            </a:r>
            <a:r>
              <a:rPr b="0" lang="zh-CN" sz="1020" spc="-1" strike="noStrike">
                <a:solidFill>
                  <a:srgbClr val="b8c7dc"/>
                </a:solidFill>
                <a:latin typeface="Noto Sans CJK SC"/>
              </a:rPr>
              <a:t>。</a:t>
            </a:r>
            <a:endParaRPr b="0" lang="en-US" sz="1020" spc="-1" strike="noStrike">
              <a:latin typeface="Arial"/>
            </a:endParaRPr>
          </a:p>
        </p:txBody>
      </p:sp>
      <p:sp>
        <p:nvSpPr>
          <p:cNvPr id="271" name="TextBox 5"/>
          <p:cNvSpPr/>
          <p:nvPr/>
        </p:nvSpPr>
        <p:spPr>
          <a:xfrm>
            <a:off x="11421000" y="6537960"/>
            <a:ext cx="411120" cy="1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7000"/>
              </a:lnSpc>
              <a:spcAft>
                <a:spcPts val="400"/>
              </a:spcAft>
              <a:buNone/>
            </a:pPr>
            <a:r>
              <a:rPr b="1" lang="en-US" sz="1200" spc="-1" strike="noStrike">
                <a:solidFill>
                  <a:srgbClr val="42d5bb"/>
                </a:solidFill>
                <a:latin typeface="Noto Sans CJK SC"/>
              </a:rPr>
              <a:t>22</a:t>
            </a:r>
            <a:endParaRPr b="0" lang="en-US" sz="1200" spc="-1" strike="noStrike">
              <a:latin typeface="Arial"/>
            </a:endParaRPr>
          </a:p>
        </p:txBody>
      </p:sp>
      <p:graphicFrame>
        <p:nvGraphicFramePr>
          <p:cNvPr id="272" name="Table 6"/>
          <p:cNvGraphicFramePr/>
          <p:nvPr/>
        </p:nvGraphicFramePr>
        <p:xfrm>
          <a:off x="365760" y="1325880"/>
          <a:ext cx="11429640" cy="4800240"/>
        </p:xfrm>
        <a:graphic>
          <a:graphicData uri="http://schemas.openxmlformats.org/drawingml/2006/table">
            <a:tbl>
              <a:tblPr/>
              <a:tblGrid>
                <a:gridCol w="2834640"/>
                <a:gridCol w="3977280"/>
                <a:gridCol w="4617720"/>
              </a:tblGrid>
              <a:tr h="685800">
                <a:tc>
                  <a:txBody>
                    <a:bodyPr lIns="118800" rIns="118800" tIns="7308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2100" spc="-1" strike="noStrike">
                          <a:solidFill>
                            <a:srgbClr val="42d5bb"/>
                          </a:solidFill>
                          <a:latin typeface="Noto Sans CJK SC"/>
                        </a:rPr>
                        <a:t>项目</a:t>
                      </a:r>
                      <a:endParaRPr b="0" lang="en-US" sz="21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263d58"/>
                    </a:solidFill>
                  </a:tcPr>
                </a:tc>
                <a:tc>
                  <a:txBody>
                    <a:bodyPr lIns="118800" rIns="118800" tIns="7308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2100" spc="-1" strike="noStrike">
                          <a:solidFill>
                            <a:srgbClr val="42d5bb"/>
                          </a:solidFill>
                          <a:latin typeface="Noto Sans CJK SC"/>
                        </a:rPr>
                        <a:t>指标 </a:t>
                      </a:r>
                      <a:r>
                        <a:rPr b="1" lang="en-US" sz="2100" spc="-1" strike="noStrike">
                          <a:solidFill>
                            <a:srgbClr val="42d5bb"/>
                          </a:solidFill>
                          <a:latin typeface="Noto Sans CJK SC"/>
                        </a:rPr>
                        <a:t>/ </a:t>
                      </a:r>
                      <a:r>
                        <a:rPr b="1" lang="zh-CN" sz="2100" spc="-1" strike="noStrike">
                          <a:solidFill>
                            <a:srgbClr val="42d5bb"/>
                          </a:solidFill>
                          <a:latin typeface="Noto Sans CJK SC"/>
                        </a:rPr>
                        <a:t>条件</a:t>
                      </a:r>
                      <a:endParaRPr b="0" lang="en-US" sz="21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263d58"/>
                    </a:solidFill>
                  </a:tcPr>
                </a:tc>
                <a:tc>
                  <a:txBody>
                    <a:bodyPr lIns="118800" rIns="118800" tIns="7308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2100" spc="-1" strike="noStrike">
                          <a:solidFill>
                            <a:srgbClr val="42d5bb"/>
                          </a:solidFill>
                          <a:latin typeface="Noto Sans CJK SC"/>
                        </a:rPr>
                        <a:t>解释范围</a:t>
                      </a:r>
                      <a:endParaRPr b="0" lang="en-US" sz="21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263d58"/>
                    </a:solidFill>
                  </a:tcPr>
                </a:tc>
              </a:tr>
              <a:tr h="685800">
                <a:tc>
                  <a:txBody>
                    <a:bodyPr lIns="118800" rIns="118800" tIns="7308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21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合成模型验证</a:t>
                      </a:r>
                      <a:endParaRPr b="0" lang="en-US" sz="21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d2c42"/>
                    </a:solidFill>
                  </a:tcPr>
                </a:tc>
                <a:tc>
                  <a:txBody>
                    <a:bodyPr lIns="118800" rIns="118800" tIns="7308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21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P 85.62% / R 70.81%</a:t>
                      </a:r>
                      <a:endParaRPr b="0" lang="en-US" sz="21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d2c42"/>
                    </a:solidFill>
                  </a:tcPr>
                </a:tc>
                <a:tc>
                  <a:txBody>
                    <a:bodyPr lIns="118800" rIns="118800" tIns="7308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21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160 </a:t>
                      </a:r>
                      <a:r>
                        <a:rPr b="0" lang="zh-CN" sz="21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张、</a:t>
                      </a:r>
                      <a:r>
                        <a:rPr b="0" lang="en-US" sz="21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IoU≥0.50</a:t>
                      </a:r>
                      <a:r>
                        <a:rPr b="0" lang="zh-CN" sz="21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、</a:t>
                      </a:r>
                      <a:r>
                        <a:rPr b="0" lang="en-US" sz="21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conf 0.45</a:t>
                      </a:r>
                      <a:endParaRPr b="0" lang="en-US" sz="21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d2c42"/>
                    </a:solidFill>
                  </a:tcPr>
                </a:tc>
              </a:tr>
              <a:tr h="685800">
                <a:tc>
                  <a:txBody>
                    <a:bodyPr lIns="118800" rIns="118800" tIns="7308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21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无目标合成图</a:t>
                      </a:r>
                      <a:endParaRPr b="0" lang="en-US" sz="21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7253a"/>
                    </a:solidFill>
                  </a:tcPr>
                </a:tc>
                <a:tc>
                  <a:txBody>
                    <a:bodyPr lIns="118800" rIns="118800" tIns="7308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21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2 / 59 </a:t>
                      </a:r>
                      <a:r>
                        <a:rPr b="0" lang="zh-CN" sz="21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有误报</a:t>
                      </a:r>
                      <a:endParaRPr b="0" lang="en-US" sz="21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7253a"/>
                    </a:solidFill>
                  </a:tcPr>
                </a:tc>
                <a:tc>
                  <a:txBody>
                    <a:bodyPr lIns="118800" rIns="118800" tIns="7308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21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图像级误报率 </a:t>
                      </a:r>
                      <a:r>
                        <a:rPr b="0" lang="en-US" sz="21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3.39%</a:t>
                      </a:r>
                      <a:endParaRPr b="0" lang="en-US" sz="21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7253a"/>
                    </a:solidFill>
                  </a:tcPr>
                </a:tc>
              </a:tr>
              <a:tr h="685800">
                <a:tc>
                  <a:txBody>
                    <a:bodyPr lIns="118800" rIns="118800" tIns="7308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21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走廊事件</a:t>
                      </a:r>
                      <a:endParaRPr b="0" lang="en-US" sz="21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d2c42"/>
                    </a:solidFill>
                  </a:tcPr>
                </a:tc>
                <a:tc>
                  <a:txBody>
                    <a:bodyPr lIns="118800" rIns="118800" tIns="7308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21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连续 </a:t>
                      </a:r>
                      <a:r>
                        <a:rPr b="0" lang="en-US" sz="21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3 </a:t>
                      </a:r>
                      <a:r>
                        <a:rPr b="0" lang="zh-CN" sz="21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个关联处理帧</a:t>
                      </a:r>
                      <a:endParaRPr b="0" lang="en-US" sz="21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d2c42"/>
                    </a:solidFill>
                  </a:tcPr>
                </a:tc>
                <a:tc>
                  <a:txBody>
                    <a:bodyPr lIns="118800" rIns="118800" tIns="7308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21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不等于一帧看到框就确认</a:t>
                      </a:r>
                      <a:endParaRPr b="0" lang="en-US" sz="21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d2c42"/>
                    </a:solidFill>
                  </a:tcPr>
                </a:tc>
              </a:tr>
              <a:tr h="685800">
                <a:tc>
                  <a:txBody>
                    <a:bodyPr lIns="118800" rIns="118800" tIns="7308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21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核心定位</a:t>
                      </a:r>
                      <a:endParaRPr b="0" lang="en-US" sz="21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7253a"/>
                    </a:solidFill>
                  </a:tcPr>
                </a:tc>
                <a:tc>
                  <a:txBody>
                    <a:bodyPr lIns="118800" rIns="118800" tIns="7308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21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至少 </a:t>
                      </a:r>
                      <a:r>
                        <a:rPr b="0" lang="en-US" sz="21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4 </a:t>
                      </a:r>
                      <a:r>
                        <a:rPr b="0" lang="zh-CN" sz="21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次有效观测</a:t>
                      </a:r>
                      <a:endParaRPr b="0" lang="en-US" sz="21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7253a"/>
                    </a:solidFill>
                  </a:tcPr>
                </a:tc>
                <a:tc>
                  <a:txBody>
                    <a:bodyPr lIns="118800" rIns="118800" tIns="7308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21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不要求连续 </a:t>
                      </a:r>
                      <a:r>
                        <a:rPr b="0" lang="en-US" sz="21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4 </a:t>
                      </a:r>
                      <a:r>
                        <a:rPr b="0" lang="zh-CN" sz="21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帧</a:t>
                      </a:r>
                      <a:endParaRPr b="0" lang="en-US" sz="21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7253a"/>
                    </a:solidFill>
                  </a:tcPr>
                </a:tc>
              </a:tr>
              <a:tr h="685800">
                <a:tc>
                  <a:txBody>
                    <a:bodyPr lIns="118800" rIns="118800" tIns="7308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21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完整任务</a:t>
                      </a:r>
                      <a:endParaRPr b="0" lang="en-US" sz="21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d2c42"/>
                    </a:solidFill>
                  </a:tcPr>
                </a:tc>
                <a:tc>
                  <a:txBody>
                    <a:bodyPr lIns="118800" rIns="118800" tIns="7308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21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5 </a:t>
                      </a:r>
                      <a:r>
                        <a:rPr b="0" lang="zh-CN" sz="21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类 </a:t>
                      </a:r>
                      <a:r>
                        <a:rPr b="0" lang="en-US" sz="21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+ 4 </a:t>
                      </a:r>
                      <a:r>
                        <a:rPr b="0" lang="zh-CN" sz="21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标签全部确认</a:t>
                      </a:r>
                      <a:endParaRPr b="0" lang="en-US" sz="21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d2c42"/>
                    </a:solidFill>
                  </a:tcPr>
                </a:tc>
                <a:tc>
                  <a:txBody>
                    <a:bodyPr lIns="118800" rIns="118800" tIns="7308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21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不等于逐帧零误报或零漏报</a:t>
                      </a:r>
                      <a:endParaRPr b="0" lang="en-US" sz="21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d2c42"/>
                    </a:solidFill>
                  </a:tcPr>
                </a:tc>
              </a:tr>
              <a:tr h="685800">
                <a:tc>
                  <a:txBody>
                    <a:bodyPr lIns="118800" rIns="118800" tIns="7308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21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红箱像素框</a:t>
                      </a:r>
                      <a:endParaRPr b="0" lang="en-US" sz="21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7253a"/>
                    </a:solidFill>
                  </a:tcPr>
                </a:tc>
                <a:tc>
                  <a:txBody>
                    <a:bodyPr lIns="118800" rIns="118800" tIns="7308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21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仅作显示</a:t>
                      </a:r>
                      <a:endParaRPr b="0" lang="en-US" sz="21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7253a"/>
                    </a:solidFill>
                  </a:tcPr>
                </a:tc>
                <a:tc>
                  <a:txBody>
                    <a:bodyPr lIns="118800" rIns="118800" tIns="7308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21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不参与导航与推障授权</a:t>
                      </a:r>
                      <a:endParaRPr b="0" lang="en-US" sz="21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7253a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bg>
      <p:bgPr>
        <a:solidFill>
          <a:srgbClr val="10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TextBox 1"/>
          <p:cNvSpPr/>
          <p:nvPr/>
        </p:nvSpPr>
        <p:spPr>
          <a:xfrm>
            <a:off x="311040" y="164520"/>
            <a:ext cx="11566800" cy="50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1" lang="zh-CN" sz="3100" spc="-1" strike="noStrike">
                <a:solidFill>
                  <a:srgbClr val="f4f7fc"/>
                </a:solidFill>
                <a:latin typeface="Noto Sans CJK SC"/>
              </a:rPr>
              <a:t>备份 </a:t>
            </a:r>
            <a:r>
              <a:rPr b="1" lang="en-US" sz="3100" spc="-1" strike="noStrike">
                <a:solidFill>
                  <a:srgbClr val="f4f7fc"/>
                </a:solidFill>
                <a:latin typeface="Noto Sans CJK SC"/>
              </a:rPr>
              <a:t>F</a:t>
            </a:r>
            <a:r>
              <a:rPr b="1" lang="zh-CN" sz="3100" spc="-1" strike="noStrike">
                <a:solidFill>
                  <a:srgbClr val="f4f7fc"/>
                </a:solidFill>
                <a:latin typeface="Noto Sans CJK SC"/>
              </a:rPr>
              <a:t>｜评委常见追问</a:t>
            </a:r>
            <a:endParaRPr b="0" lang="en-US" sz="3100" spc="-1" strike="noStrike">
              <a:latin typeface="Arial"/>
            </a:endParaRPr>
          </a:p>
        </p:txBody>
      </p:sp>
      <p:sp>
        <p:nvSpPr>
          <p:cNvPr id="274" name="TextBox 2"/>
          <p:cNvSpPr/>
          <p:nvPr/>
        </p:nvSpPr>
        <p:spPr>
          <a:xfrm>
            <a:off x="320040" y="786240"/>
            <a:ext cx="11521080" cy="29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0" lang="zh-CN" sz="1800" spc="-1" strike="noStrike">
                <a:solidFill>
                  <a:srgbClr val="b8c7dc"/>
                </a:solidFill>
                <a:latin typeface="Noto Sans CJK SC"/>
              </a:rPr>
              <a:t>用源码、原始日志和同次录屏说明机制与验证范围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75" name="Rectangle 3"/>
          <p:cNvSpPr/>
          <p:nvPr/>
        </p:nvSpPr>
        <p:spPr>
          <a:xfrm>
            <a:off x="320040" y="6492240"/>
            <a:ext cx="11548440" cy="12600"/>
          </a:xfrm>
          <a:prstGeom prst="rect">
            <a:avLst/>
          </a:prstGeom>
          <a:solidFill>
            <a:srgbClr val="3b4c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76" name="TextBox 4"/>
          <p:cNvSpPr/>
          <p:nvPr/>
        </p:nvSpPr>
        <p:spPr>
          <a:xfrm>
            <a:off x="320040" y="6565320"/>
            <a:ext cx="10972440" cy="16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0" lang="zh-CN" sz="1020" spc="-1" strike="noStrike">
                <a:solidFill>
                  <a:srgbClr val="b8c7dc"/>
                </a:solidFill>
                <a:latin typeface="Noto Sans CJK SC"/>
              </a:rPr>
              <a:t>复现环境：</a:t>
            </a:r>
            <a:r>
              <a:rPr b="0" lang="en-US" sz="1020" spc="-1" strike="noStrike">
                <a:solidFill>
                  <a:srgbClr val="b8c7dc"/>
                </a:solidFill>
                <a:latin typeface="Noto Sans CJK SC"/>
              </a:rPr>
              <a:t>Ubuntu 22.04</a:t>
            </a:r>
            <a:r>
              <a:rPr b="0" lang="zh-CN" sz="1020" spc="-1" strike="noStrike">
                <a:solidFill>
                  <a:srgbClr val="b8c7dc"/>
                </a:solidFill>
                <a:latin typeface="Noto Sans CJK SC"/>
              </a:rPr>
              <a:t>、</a:t>
            </a:r>
            <a:r>
              <a:rPr b="0" lang="en-US" sz="1020" spc="-1" strike="noStrike">
                <a:solidFill>
                  <a:srgbClr val="b8c7dc"/>
                </a:solidFill>
                <a:latin typeface="Noto Sans CJK SC"/>
              </a:rPr>
              <a:t>ROS 2 Humble</a:t>
            </a:r>
            <a:r>
              <a:rPr b="0" lang="zh-CN" sz="1020" spc="-1" strike="noStrike">
                <a:solidFill>
                  <a:srgbClr val="b8c7dc"/>
                </a:solidFill>
                <a:latin typeface="Noto Sans CJK SC"/>
              </a:rPr>
              <a:t>、</a:t>
            </a:r>
            <a:r>
              <a:rPr b="0" lang="en-US" sz="1020" spc="-1" strike="noStrike">
                <a:solidFill>
                  <a:srgbClr val="b8c7dc"/>
                </a:solidFill>
                <a:latin typeface="Noto Sans CJK SC"/>
              </a:rPr>
              <a:t>Gazebo Classic 11</a:t>
            </a:r>
            <a:r>
              <a:rPr b="0" lang="zh-CN" sz="1020" spc="-1" strike="noStrike">
                <a:solidFill>
                  <a:srgbClr val="b8c7dc"/>
                </a:solidFill>
                <a:latin typeface="Noto Sans CJK SC"/>
              </a:rPr>
              <a:t>；一键 </a:t>
            </a:r>
            <a:r>
              <a:rPr b="0" lang="en-US" sz="1020" spc="-1" strike="noStrike">
                <a:solidFill>
                  <a:srgbClr val="b8c7dc"/>
                </a:solidFill>
                <a:latin typeface="Noto Sans CJK SC"/>
              </a:rPr>
              <a:t>start.sh</a:t>
            </a:r>
            <a:r>
              <a:rPr b="0" lang="zh-CN" sz="1020" spc="-1" strike="noStrike">
                <a:solidFill>
                  <a:srgbClr val="b8c7dc"/>
                </a:solidFill>
                <a:latin typeface="Noto Sans CJK SC"/>
              </a:rPr>
              <a:t>。</a:t>
            </a:r>
            <a:endParaRPr b="0" lang="en-US" sz="1020" spc="-1" strike="noStrike">
              <a:latin typeface="Arial"/>
            </a:endParaRPr>
          </a:p>
        </p:txBody>
      </p:sp>
      <p:sp>
        <p:nvSpPr>
          <p:cNvPr id="277" name="TextBox 5"/>
          <p:cNvSpPr/>
          <p:nvPr/>
        </p:nvSpPr>
        <p:spPr>
          <a:xfrm>
            <a:off x="11421000" y="6537960"/>
            <a:ext cx="411120" cy="1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7000"/>
              </a:lnSpc>
              <a:spcAft>
                <a:spcPts val="400"/>
              </a:spcAft>
              <a:buNone/>
            </a:pPr>
            <a:r>
              <a:rPr b="1" lang="en-US" sz="1200" spc="-1" strike="noStrike">
                <a:solidFill>
                  <a:srgbClr val="42d5bb"/>
                </a:solidFill>
                <a:latin typeface="Noto Sans CJK SC"/>
              </a:rPr>
              <a:t>23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78" name="TextBox 6"/>
          <p:cNvSpPr/>
          <p:nvPr/>
        </p:nvSpPr>
        <p:spPr>
          <a:xfrm>
            <a:off x="484560" y="1353240"/>
            <a:ext cx="4708800" cy="37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1" lang="zh-CN" sz="2300" spc="-1" strike="noStrike">
                <a:solidFill>
                  <a:srgbClr val="42d5bb"/>
                </a:solidFill>
                <a:latin typeface="Noto Sans CJK SC"/>
              </a:rPr>
              <a:t>如何证明真实推障？</a:t>
            </a:r>
            <a:endParaRPr b="0" lang="en-US" sz="2300" spc="-1" strike="noStrike">
              <a:latin typeface="Arial"/>
            </a:endParaRPr>
          </a:p>
        </p:txBody>
      </p:sp>
      <p:sp>
        <p:nvSpPr>
          <p:cNvPr id="279" name="TextBox 7"/>
          <p:cNvSpPr/>
          <p:nvPr/>
        </p:nvSpPr>
        <p:spPr>
          <a:xfrm>
            <a:off x="5422320" y="1353240"/>
            <a:ext cx="6290640" cy="35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0" lang="en-US" sz="2200" spc="-1" strike="noStrike">
                <a:solidFill>
                  <a:srgbClr val="f4f7fc"/>
                </a:solidFill>
                <a:latin typeface="Noto Sans CJK SC"/>
              </a:rPr>
              <a:t>2 kg </a:t>
            </a:r>
            <a:r>
              <a:rPr b="0" lang="zh-CN" sz="2200" spc="-1" strike="noStrike">
                <a:solidFill>
                  <a:srgbClr val="f4f7fc"/>
                </a:solidFill>
                <a:latin typeface="Noto Sans CJK SC"/>
              </a:rPr>
              <a:t>动态箱体、物理碰撞与摩擦、独立位移记录。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280" name="TextBox 8"/>
          <p:cNvSpPr/>
          <p:nvPr/>
        </p:nvSpPr>
        <p:spPr>
          <a:xfrm>
            <a:off x="484560" y="2304360"/>
            <a:ext cx="4708800" cy="37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1" lang="zh-CN" sz="2300" spc="-1" strike="noStrike">
                <a:solidFill>
                  <a:srgbClr val="42d5bb"/>
                </a:solidFill>
                <a:latin typeface="Noto Sans CJK SC"/>
              </a:rPr>
              <a:t>是否按固定速度硬走路线？</a:t>
            </a:r>
            <a:endParaRPr b="0" lang="en-US" sz="2300" spc="-1" strike="noStrike">
              <a:latin typeface="Arial"/>
            </a:endParaRPr>
          </a:p>
        </p:txBody>
      </p:sp>
      <p:sp>
        <p:nvSpPr>
          <p:cNvPr id="281" name="TextBox 9"/>
          <p:cNvSpPr/>
          <p:nvPr/>
        </p:nvSpPr>
        <p:spPr>
          <a:xfrm>
            <a:off x="5422320" y="2304360"/>
            <a:ext cx="6290640" cy="35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0" lang="en-US" sz="2200" spc="-1" strike="noStrike">
                <a:solidFill>
                  <a:srgbClr val="f4f7fc"/>
                </a:solidFill>
                <a:latin typeface="Noto Sans CJK SC"/>
              </a:rPr>
              <a:t>YAML </a:t>
            </a:r>
            <a:r>
              <a:rPr b="0" lang="zh-CN" sz="2200" spc="-1" strike="noStrike">
                <a:solidFill>
                  <a:srgbClr val="f4f7fc"/>
                </a:solidFill>
                <a:latin typeface="Noto Sans CJK SC"/>
              </a:rPr>
              <a:t>只给任务目标，路径与跟踪由 </a:t>
            </a:r>
            <a:r>
              <a:rPr b="0" lang="en-US" sz="2200" spc="-1" strike="noStrike">
                <a:solidFill>
                  <a:srgbClr val="f4f7fc"/>
                </a:solidFill>
                <a:latin typeface="Noto Sans CJK SC"/>
              </a:rPr>
              <a:t>Nav2 </a:t>
            </a:r>
            <a:r>
              <a:rPr b="0" lang="zh-CN" sz="2200" spc="-1" strike="noStrike">
                <a:solidFill>
                  <a:srgbClr val="f4f7fc"/>
                </a:solidFill>
                <a:latin typeface="Noto Sans CJK SC"/>
              </a:rPr>
              <a:t>完成。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282" name="TextBox 10"/>
          <p:cNvSpPr/>
          <p:nvPr/>
        </p:nvSpPr>
        <p:spPr>
          <a:xfrm>
            <a:off x="484560" y="3255120"/>
            <a:ext cx="4708800" cy="37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1" lang="zh-CN" sz="2300" spc="-1" strike="noStrike">
                <a:solidFill>
                  <a:srgbClr val="42d5bb"/>
                </a:solidFill>
                <a:latin typeface="Noto Sans CJK SC"/>
              </a:rPr>
              <a:t>地图清理会忽略真实障碍吗？</a:t>
            </a:r>
            <a:endParaRPr b="0" lang="en-US" sz="2300" spc="-1" strike="noStrike">
              <a:latin typeface="Arial"/>
            </a:endParaRPr>
          </a:p>
        </p:txBody>
      </p:sp>
      <p:sp>
        <p:nvSpPr>
          <p:cNvPr id="283" name="TextBox 11"/>
          <p:cNvSpPr/>
          <p:nvPr/>
        </p:nvSpPr>
        <p:spPr>
          <a:xfrm>
            <a:off x="5422320" y="3255120"/>
            <a:ext cx="6290640" cy="35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0" lang="zh-CN" sz="2200" spc="-1" strike="noStrike">
                <a:solidFill>
                  <a:srgbClr val="f4f7fc"/>
                </a:solidFill>
                <a:latin typeface="Noto Sans CJK SC"/>
              </a:rPr>
              <a:t>限定区域、三次自由证据，实时激光层继续标记。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284" name="TextBox 12"/>
          <p:cNvSpPr/>
          <p:nvPr/>
        </p:nvSpPr>
        <p:spPr>
          <a:xfrm>
            <a:off x="484560" y="4206240"/>
            <a:ext cx="4708800" cy="37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1" lang="zh-CN" sz="2300" spc="-1" strike="noStrike">
                <a:solidFill>
                  <a:srgbClr val="42d5bb"/>
                </a:solidFill>
                <a:latin typeface="Noto Sans CJK SC"/>
              </a:rPr>
              <a:t>团队创新体现在哪里？</a:t>
            </a:r>
            <a:endParaRPr b="0" lang="en-US" sz="2300" spc="-1" strike="noStrike">
              <a:latin typeface="Arial"/>
            </a:endParaRPr>
          </a:p>
        </p:txBody>
      </p:sp>
      <p:sp>
        <p:nvSpPr>
          <p:cNvPr id="285" name="TextBox 13"/>
          <p:cNvSpPr/>
          <p:nvPr/>
        </p:nvSpPr>
        <p:spPr>
          <a:xfrm>
            <a:off x="5422320" y="4206240"/>
            <a:ext cx="6290640" cy="71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0" lang="zh-CN" sz="2200" spc="-1" strike="noStrike">
                <a:solidFill>
                  <a:srgbClr val="f4f7fc"/>
                </a:solidFill>
                <a:latin typeface="Noto Sans CJK SC"/>
              </a:rPr>
              <a:t>基础算法明确归属，团队实现结构、核验、控制与集成。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286" name="TextBox 14"/>
          <p:cNvSpPr/>
          <p:nvPr/>
        </p:nvSpPr>
        <p:spPr>
          <a:xfrm>
            <a:off x="484560" y="5157360"/>
            <a:ext cx="4708800" cy="37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1" lang="zh-CN" sz="2300" spc="-1" strike="noStrike">
                <a:solidFill>
                  <a:srgbClr val="42d5bb"/>
                </a:solidFill>
                <a:latin typeface="Noto Sans CJK SC"/>
              </a:rPr>
              <a:t>已经证明全程绝对无碰撞吗？</a:t>
            </a:r>
            <a:endParaRPr b="0" lang="en-US" sz="2300" spc="-1" strike="noStrike">
              <a:latin typeface="Arial"/>
            </a:endParaRPr>
          </a:p>
        </p:txBody>
      </p:sp>
      <p:sp>
        <p:nvSpPr>
          <p:cNvPr id="287" name="TextBox 15"/>
          <p:cNvSpPr/>
          <p:nvPr/>
        </p:nvSpPr>
        <p:spPr>
          <a:xfrm>
            <a:off x="5422320" y="5157360"/>
            <a:ext cx="6290640" cy="35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0" lang="zh-CN" sz="2200" spc="-1" strike="noStrike">
                <a:solidFill>
                  <a:srgbClr val="f4f7fc"/>
                </a:solidFill>
                <a:latin typeface="Noto Sans CJK SC"/>
              </a:rPr>
              <a:t>墙体检查是离散采样；尚无连续接触传感器证明。</a:t>
            </a:r>
            <a:endParaRPr b="0" lang="en-US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</TotalTime>
  <Application>LibreOffice/7.3.7.2$Linux_X86_64 LibreOffice_project/30$Build-2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>Simulator · B09018834</dc:creator>
  <dc:description>generated using python-pptx</dc:description>
  <dc:language>en-US</dc:language>
  <cp:lastModifiedBy/>
  <dcterms:modified xsi:type="dcterms:W3CDTF">2026-10-13T20:34:46Z</dcterms:modified>
  <cp:revision>2</cp:revision>
  <dc:subject/>
  <dc:title>救援无人车仿真系统｜国赛答辩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