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move the slide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2000" spc="-1" strike="noStrike">
                <a:latin typeface="Arial"/>
              </a:rPr>
              <a:t>Click to edit the notes format</a:t>
            </a:r>
            <a:endParaRPr b="0" lang="en-US" sz="2000" spc="-1" strike="noStrike"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400" spc="-1" strike="noStrike">
                <a:latin typeface="Times New Roman"/>
              </a:rPr>
              <a:t>&lt;header&gt;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E470D639-43CE-46F3-ADF0-F2787CA8B519}" type="slidenum">
              <a:rPr b="0" lang="en-US" sz="1400" spc="-1" strike="noStrike">
                <a:latin typeface="Times New Roman"/>
              </a:rPr>
              <a:t>&lt;number&gt;</a:t>
            </a:fld>
            <a:endParaRPr b="0" lang="en-US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8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r>
              <a:t>第1页 救援无人车仿真系统</a:t>
            </a:r>
          </a:p>
          <a:p/>
          <a:p>
            <a:r>
              <a:t>累计时间：00:00–00:10｜本页10秒</a:t>
            </a:r>
          </a:p>
          <a:p/>
          <a:p>
            <a:r>
              <a:t>现场讲述：</a:t>
            </a:r>
          </a:p>
          <a:p/>
          <a:p>
            <a:r>
              <a:t>各位评委老师好，我是 Simulator 队的参赛者。下面由我汇报我们设计的救援无人车仿真系统。</a:t>
            </a:r>
          </a:p>
          <a:p/>
          <a:p>
            <a:r>
              <a:t>备注（备讲与问答，不逐字朗读）：</a:t>
            </a:r>
          </a:p>
          <a:p/>
          <a:p>
            <a:r>
              <a:t>对应PPT的详细说明</a:t>
            </a:r>
          </a:p>
          <a:p/>
          <a:p>
            <a:r>
              <a:t>我会围绕走廊巡检、实体清障、核心标定和自主返航四个环节介绍作品。我们队伍编号是B09018834，队长陈莎莎，队员梁辰瑜、赖丽燕、初冉，指导教师邓彦松。封面车辆图依据当前SDF模型等比例渲染，与URDF可视结构对应。我介绍的是仿真作品，图中结构不是实车制造照片。</a:t>
            </a:r>
          </a:p>
          <a:p/>
          <a:p>
            <a:r>
              <a:t>本页创新点与设计理由</a:t>
            </a:r>
          </a:p>
          <a:p/>
          <a:p>
            <a:r>
              <a:t>我们把机构、感知、导航和验收组合成一个能完整运行的救援流程，具体改进由后面的结构、识别、定位和控制页面展开。封面主要说明作品定位，我不会仅凭外观宣称创新已经得到验证。</a:t>
            </a:r>
          </a:p>
          <a:p/>
          <a:p>
            <a:r>
              <a:t>老师可能提问与我的回答</a:t>
            </a:r>
          </a:p>
          <a:p/>
          <a:p>
            <a:r>
              <a:t>问：这个项目主要解决什么问题？</a:t>
            </a:r>
          </a:p>
          <a:p/>
          <a:p>
            <a:r>
              <a:t>我的回答：我们希望让无人车在模拟厂区中完成危险标识巡检，推开堵住入口的箱体，进入核心区标注四类灾情，再返回起点。我重点展示这些环节如何衔接，以及我们如何用同一次运行的画面和记录验证结果。</a:t>
            </a:r>
          </a:p>
          <a:p/>
          <a:p>
            <a:r>
              <a:t>问：这是实车还是仿真？</a:t>
            </a:r>
          </a:p>
          <a:p/>
          <a:p>
            <a:r>
              <a:t>我的回答：目前是基于ROS 2和Gazebo的仿真系统。我们建立了车辆碰撞体、质量、摩擦和动态箱体，验证结果对应仿真条件，实车落地还需要重新做结构和传感器验证。</a:t>
            </a:r>
          </a:p>
          <a:p/>
        </p:txBody>
      </p:sp>
      <p:sp>
        <p:nvSpPr>
          <p:cNvPr id="290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4B94696-F770-4C21-B30A-CB9B4E73DD0C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9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r>
              <a:t>第2页 自建场地与规则任务</a:t>
            </a:r>
          </a:p>
          <a:p/>
          <a:p>
            <a:r>
              <a:t>累计时间：00:10–00:28｜本页18秒</a:t>
            </a:r>
          </a:p>
          <a:p/>
          <a:p>
            <a:r>
              <a:t>现场讲述：</a:t>
            </a:r>
          </a:p>
          <a:p/>
          <a:p>
            <a:r>
              <a:t>我们搭建了三米见方的模拟厂区，并完成激光建图。车辆依次识别五类走廊标识、推障入室、标定四个核心目标，再返回起点。九块图案各不相同，核心标识嵌入了 AprilTag。</a:t>
            </a:r>
          </a:p>
          <a:p/>
          <a:p>
            <a:r>
              <a:t>备注（备讲与问答，不逐字朗读）：</a:t>
            </a:r>
          </a:p>
          <a:p/>
          <a:p>
            <a:r>
              <a:t>对应PPT的详细说明</a:t>
            </a:r>
          </a:p>
          <a:p/>
          <a:p>
            <a:r>
              <a:t>我在这页左侧展示我们自建的Gazebo场景，右侧展示在线SLAM地图留档。场地为3 m × 3 m，核心入口宽0.50 m，这些是我们自己的场地设计参数。比赛评分包括环境建图15分、走廊识别20分、清障20分、核心识别标定20分、返航5分和创新答辩20分。五类走廊标识和四类核心标识的图案都不同。</a:t>
            </a:r>
          </a:p>
          <a:p/>
          <a:p>
            <a:r>
              <a:t>本页创新点与设计理由</a:t>
            </a:r>
          </a:p>
          <a:p/>
          <a:p>
            <a:r>
              <a:t>我们自主设计了场地和九种图案，并把窄门、动态箱体、侧墙观察与返航组合到同一任务中。我的设计重点是让场景同时检验感知、机构和导航的协同能力；3米场地和0.50米门宽本身只是设计参数。</a:t>
            </a:r>
          </a:p>
          <a:p/>
          <a:p>
            <a:r>
              <a:t>老师可能提问与我的回答</a:t>
            </a:r>
          </a:p>
          <a:p/>
          <a:p>
            <a:r>
              <a:t>问：地图是手工画的还是车辆建出来的？</a:t>
            </a:r>
          </a:p>
          <a:p/>
          <a:p>
            <a:r>
              <a:t>我的回答：三维场地由我们搭建，二维占据栅格地图由激光数据通过slam_toolbox生成。运行导航时，我们使用保存地图和AMCL定位；在线建图留档与正式导航模式分别记录。</a:t>
            </a:r>
          </a:p>
          <a:p/>
          <a:p>
            <a:r>
              <a:t>问：为什么核心图案上还有AprilTag？</a:t>
            </a:r>
          </a:p>
          <a:p/>
          <a:p>
            <a:r>
              <a:t>我的回答：规则要求核心标识嵌入AprilTag。我们用不同图案表达灾情语义，用标签ID建立类别对应，再用四角和尺寸估计位置。走廊五类则走图案分类流程。</a:t>
            </a:r>
          </a:p>
          <a:p/>
        </p:txBody>
      </p:sp>
      <p:sp>
        <p:nvSpPr>
          <p:cNvPr id="293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C6F9BA2-A260-418E-8DB7-90AD02BEAFCF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t>第3页 完整任务演示</a:t>
            </a:r>
          </a:p>
          <a:p/>
          <a:p>
            <a:r>
              <a:t>累计时间：00:28–03:28｜本页180秒</a:t>
            </a:r>
          </a:p>
          <a:p/>
          <a:p>
            <a:r>
              <a:t>现场讲述：</a:t>
            </a:r>
          </a:p>
          <a:p/>
          <a:p>
            <a:r>
              <a:t>请看我们的完整任务录屏。左侧是仿真和相机，右侧是地图和终端。视频全程两倍速，保留了运行中的等待过程。</a:t>
            </a:r>
          </a:p>
          <a:p/>
          <a:p>
            <a:r>
              <a:t>播放时，我只在对应画面出现时补充以下解说，其余时间留给老师观察：</a:t>
            </a:r>
          </a:p>
          <a:p/>
          <a:p>
            <a:r>
              <a:t>- 视频前半段：我们先完成五类走廊识别，终端同步记录确认结果。</a:t>
            </a:r>
          </a:p>
          <a:p>
            <a:r>
              <a:t>- 视频00:48–00:57：这里先对正入口，再通过推板真实接触并推开箱体。</a:t>
            </a:r>
          </a:p>
          <a:p>
            <a:r>
              <a:t>- 视频01:16–01:25：进入核心区后，我们确认四个标签，并在地图上发布对应标记。</a:t>
            </a:r>
          </a:p>
          <a:p>
            <a:r>
              <a:t>- 视频01:54–02:08：车辆离开核心区，沿导航路径返回起点。</a:t>
            </a:r>
          </a:p>
          <a:p>
            <a:r>
              <a:t>- 视频02:41.03之后：终端报告任务完成，这些结果来自同一次运行。</a:t>
            </a:r>
          </a:p>
          <a:p/>
          <a:p>
            <a:r>
              <a:t>备注（备讲与问答，不逐字朗读）：</a:t>
            </a:r>
          </a:p>
          <a:p/>
          <a:p>
            <a:r>
              <a:t>对应PPT的详细说明</a:t>
            </a:r>
          </a:p>
          <a:p/>
          <a:p>
            <a:r>
              <a:t>我展示的运行是recording_submission_20261013_gimbal_run2，视频长170.934秒，无音轨、统一2倍速、没有删段。本页180秒包含视频和约9秒的介绍、播放与切页，开场可与视频起始画面重叠。相机框、RViz标记和终端事件展示的是不同层次的证据，我会按画面出现的顺序讲解，不暂停逐帧解释。现场嵌入视频无法播放时，我会使用同目录B09018834.mp4，并提前核实它与嵌入影片一致。</a:t>
            </a:r>
          </a:p>
          <a:p/>
          <a:p>
            <a:r>
              <a:t>本页创新点与设计理由</a:t>
            </a:r>
          </a:p>
          <a:p/>
          <a:p>
            <a:r>
              <a:t>我们把相机、地图、任务事件和独立验收绑定到同一次运行，方便追溯。这里体现的是全流程证据组织和复现能力，视频播放本身不是算法创新。</a:t>
            </a:r>
          </a:p>
          <a:p/>
          <a:p>
            <a:r>
              <a:t>老师可能提问与我的回答</a:t>
            </a:r>
          </a:p>
          <a:p/>
          <a:p>
            <a:r>
              <a:t>问：视频有没有把失败或等待片段剪掉？</a:t>
            </a:r>
          </a:p>
          <a:p/>
          <a:p>
            <a:r>
              <a:t>我的回答：这段完整演示采用统一2倍速，没有删段，等待过程也保留。它展示的是当前配置的一次完整运行；速度调参中的失败候选另外保留在历史试验记录中。</a:t>
            </a:r>
          </a:p>
          <a:p/>
          <a:p>
            <a:r>
              <a:t>问：是不是事先写好路线，按时间直接走？</a:t>
            </a:r>
          </a:p>
          <a:p/>
          <a:p>
            <a:r>
              <a:t>我的回答：我们预先配置任务目标点和阶段要求，由Nav2根据地图规划路径和跟踪。状态机等待到点、停稳和视觉确认后才继续，推障使用里程计反馈。当前任务有已知场地和目标先验，我不会把它说成未知环境自主探索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6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9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r>
              <a:t>第4页 新版云台与被动V形推板</a:t>
            </a:r>
          </a:p>
          <a:p/>
          <a:p>
            <a:r>
              <a:t>累计时间：03:28–03:50｜本页22秒</a:t>
            </a:r>
          </a:p>
          <a:p/>
          <a:p>
            <a:r>
              <a:t>现场讲述：</a:t>
            </a:r>
          </a:p>
          <a:p/>
          <a:p>
            <a:r>
              <a:t>我们在车头设计了被动V形推板，上方用安装板、支柱和旋转底座支撑相机。底盘负责移动，云台负责侧墙观察；推板通过横梁和斜翼引导接触，并纳入导航轮廓，为窄门推障服务。</a:t>
            </a:r>
          </a:p>
          <a:p/>
          <a:p>
            <a:r>
              <a:t>备注（备讲与问答，不逐字朗读）：</a:t>
            </a:r>
          </a:p>
          <a:p/>
          <a:p>
            <a:r>
              <a:t>对应PPT的详细说明</a:t>
            </a:r>
          </a:p>
          <a:p/>
          <a:p>
            <a:r>
              <a:t>我在这页展示的是当前模型的结构渲染。云台由安装底板、支撑柱、旋转底座和相机构成，只有绕竖直轴旋转这一自由度。Gazebo插件驱动实际关节，关节角更新到关节状态和TF。左右两个驱动轮负责差速运动，后部支撑球辅助承载。推板宽0.28 m，车轮外缘决定的整车最大宽约0.285 m，入口宽0.50 m。我们让实体模型、TF和导航轮廓包含同一套前伸结构。</a:t>
            </a:r>
          </a:p>
          <a:p/>
          <a:p>
            <a:r>
              <a:t>本页创新点与设计理由</a:t>
            </a:r>
          </a:p>
          <a:p/>
          <a:p>
            <a:r>
              <a:t>我们采用被动推板，减少主动夹爪等执行机构的复杂度。横梁建立接触，斜翼对小偏差提供几何引导，软件再通过里程计修正横偏和航向。云台让底盘停稳后仍能观察侧墙；我们的改进在机构与控制协同，以及实际云台角参与视觉坐标变换，不是发明差速底盘或基础云台原理。</a:t>
            </a:r>
          </a:p>
          <a:p/>
          <a:p>
            <a:r>
              <a:t>老师可能提问与我的回答</a:t>
            </a:r>
          </a:p>
          <a:p/>
          <a:p>
            <a:r>
              <a:t>问：车尾下面那块黑色的是什么？</a:t>
            </a:r>
          </a:p>
          <a:p/>
          <a:p>
            <a:r>
              <a:t>我的回答：那是我们模型中的后部支撑球，我们用球体近似万向支撑轮。它与左右两个驱动轮共同支撑底盘，帮助车身保持平衡。球体半径4.7厘米、直径9.4厘米，大部分被车身挡住，所以看起来像露出的一块黑色凸起。我们当前采用固定球体、低摩擦接触的简化仿真结构，接触摩擦系数为0.02，外观没有画出真实万向轮的支架，也没有模拟真实万向轮的转向机构。</a:t>
            </a:r>
          </a:p>
          <a:p/>
          <a:p>
            <a:r>
              <a:t>问：为什么使用V形推板？它能自动把任意偏移的箱体摆正吗？</a:t>
            </a:r>
          </a:p>
          <a:p/>
          <a:p>
            <a:r>
              <a:t>我的回答：我们希望用简单被动结构稳定接触，斜翼对较小偏差有引导作用。但它不能保证任意偏移都自动居中，所以我们先对正入口，再用横偏和航向限制推进。</a:t>
            </a:r>
          </a:p>
          <a:p/>
          <a:p>
            <a:r>
              <a:t>问：这个云台能上下转动吗？</a:t>
            </a:r>
          </a:p>
          <a:p/>
          <a:p>
            <a:r>
              <a:t>我的回答：当前只有绕竖直轴的旋转关节，能左右扫描，没有实现俯仰轴。我把它称为单轴旋转云台。</a:t>
            </a:r>
          </a:p>
          <a:p/>
        </p:txBody>
      </p:sp>
      <p:sp>
        <p:nvSpPr>
          <p:cNvPr id="296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03D3D03-8313-434A-B06D-B5C7B3289488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29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r>
              <a:t>第5页 真实接触推障：对准、推进、脱离</a:t>
            </a:r>
          </a:p>
          <a:p/>
          <a:p>
            <a:r>
              <a:t>累计时间：03:50–04:05｜本页15秒</a:t>
            </a:r>
          </a:p>
          <a:p/>
          <a:p>
            <a:r>
              <a:t>现场讲述：</a:t>
            </a:r>
          </a:p>
          <a:p/>
          <a:p>
            <a:r>
              <a:t>这三张图对应对准、推进和脱离。我们推动的是两公斤动态箱体，位移由接触和摩擦产生。车辆用里程计闭环控制推进，完成后转向脱离，再进入核心区。</a:t>
            </a:r>
          </a:p>
          <a:p/>
          <a:p>
            <a:r>
              <a:t>备注（备讲与问答，不逐字朗读）：</a:t>
            </a:r>
          </a:p>
          <a:p/>
          <a:p>
            <a:r>
              <a:t>对应PPT的详细说明</a:t>
            </a:r>
          </a:p>
          <a:p/>
          <a:p>
            <a:r>
              <a:t>三张图取自当前同次录屏00:47、00:53、00:59。箱体边长0.30 m、质量2 kg，是参与碰撞求解的动态刚体。我们把推障限速设为0.10 m/s，车体沿初始航向的里程计推进目标为1.08 m，超时24秒停车。控制中分别计算前进量、横向偏差和航向误差。本次箱体独立测得位移0.9960 m，不能把1.08 m车体目标写成箱体实际位移。</a:t>
            </a:r>
          </a:p>
          <a:p/>
          <a:p>
            <a:r>
              <a:t>本页创新点与设计理由</a:t>
            </a:r>
          </a:p>
          <a:p/>
          <a:p>
            <a:r>
              <a:t>我们把推障拆成对准、受约束推进、有限脱离三个环节，并通过里程计反馈控制运动，避免只按固定时长盲推。被动结构和软件约束共同完成任务，这是我们针对清障场景的控制实现。</a:t>
            </a:r>
          </a:p>
          <a:p/>
          <a:p>
            <a:r>
              <a:t>老师可能提问与我的回答</a:t>
            </a:r>
          </a:p>
          <a:p/>
          <a:p>
            <a:r>
              <a:t>问：怎么证明箱体是被推走的，不是程序直接移动的？</a:t>
            </a:r>
          </a:p>
          <a:p/>
          <a:p>
            <a:r>
              <a:t>我的回答：我们把箱体配置为2公斤动态刚体，录像可以看到推板接触后箱体移动。任务控制发送车辆运动指令，不通过改箱体位姿或删除箱体完成清障。独立验收旁路读取箱体起止位置，本次位移约0.996米。</a:t>
            </a:r>
          </a:p>
          <a:p/>
          <a:p>
            <a:r>
              <a:t>问：为什么车辆推进1.08米，箱体只移动约0.996米？</a:t>
            </a:r>
          </a:p>
          <a:p/>
          <a:p>
            <a:r>
              <a:t>我的回答：这是两个测量对象。1.08米是车体里程计沿初始方向的推进目标，0.996米是箱体起止位置的真实位移；接触前间隙、接触过程和里程计误差都可能使二者不同。</a:t>
            </a:r>
          </a:p>
          <a:p/>
          <a:p>
            <a:r>
              <a:t>问：有没有测推力？</a:t>
            </a:r>
          </a:p>
          <a:p/>
          <a:p>
            <a:r>
              <a:t>我的回答：目前没有接触力传感器，闭环反馈来自里程计，所以我不把它称为力控制。下一步我们计划加入接触力检测。</a:t>
            </a:r>
          </a:p>
          <a:p/>
        </p:txBody>
      </p:sp>
      <p:sp>
        <p:nvSpPr>
          <p:cNvPr id="299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36622D9-EA57-4846-84DE-DD10AD525607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0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r>
              <a:t>第6页 主动接触的安全边界：保护完整车体</a:t>
            </a:r>
          </a:p>
          <a:p/>
          <a:p>
            <a:r>
              <a:t>累计时间：04:05–04:27｜本页22秒</a:t>
            </a:r>
          </a:p>
          <a:p/>
          <a:p>
            <a:r>
              <a:t>现场讲述：</a:t>
            </a:r>
          </a:p>
          <a:p/>
          <a:p>
            <a:r>
              <a:t>清障需要主动接触，但车辆其他部位仍要受到保护。我们把推板和车轮一起纳入停车扫掠范围，同时检查指令速度和实际速度。推障只允许低速前方接触，侧后继续保护，脱离也限制时间和距离。</a:t>
            </a:r>
          </a:p>
          <a:p/>
          <a:p>
            <a:r>
              <a:t>备注（备讲与问答，不逐字朗读）：</a:t>
            </a:r>
          </a:p>
          <a:p/>
          <a:p>
            <a:r>
              <a:t>对应PPT的详细说明</a:t>
            </a:r>
          </a:p>
          <a:p/>
          <a:p>
            <a:r>
              <a:t>我用这张原理图解释安全层：速度经过平滑后，执行前还要接受完整轮廓检查。我们根据指令速度和实际里程计速度分别检查停车扫掠区，实际惯性速度较大时也保留保护范围。推障横偏超过0.04 m或航向偏差超过0.12 rad会中止。脱离例外固定在原箱体区域，最多12秒、总平移不超过0.06 m。传感器、指令、里程计或必要TF失效时，我们停车。</a:t>
            </a:r>
          </a:p>
          <a:p/>
          <a:p>
            <a:r>
              <a:t>本页创新点与设计理由</a:t>
            </a:r>
          </a:p>
          <a:p/>
          <a:p>
            <a:r>
              <a:t>我们的改进是区分任务必需的接触与其他碰撞风险，并把前伸推板包含在保护轮廓中。授权仅在限定阶段、低速和有限区域生效；同时考虑实际速度，减少仅检查指令速度时低估惯性运动范围的问题。</a:t>
            </a:r>
          </a:p>
          <a:p/>
          <a:p>
            <a:r>
              <a:t>老师可能提问与我的回答</a:t>
            </a:r>
          </a:p>
          <a:p/>
          <a:p>
            <a:r>
              <a:t>问：为了推箱子，你们是不是把避障关掉了？</a:t>
            </a:r>
          </a:p>
          <a:p/>
          <a:p>
            <a:r>
              <a:t>我的回答：我们只在推障授权下允许前方窄窗口接触，侧面和后方保护仍在。脱离阶段也有固定区域、时间和距离限制，不是关闭整车避障。</a:t>
            </a:r>
          </a:p>
          <a:p/>
          <a:p>
            <a:r>
              <a:t>问：为什么同时检查指令速度和实际速度？</a:t>
            </a:r>
          </a:p>
          <a:p/>
          <a:p>
            <a:r>
              <a:t>我的回答：减速指令发出后，车体可能仍有惯性速度。我们用实际里程计速度补充检查，让保护范围反映当前运动状态。</a:t>
            </a:r>
          </a:p>
          <a:p/>
          <a:p>
            <a:r>
              <a:t>问：这样能保证绝对不碰撞吗？</a:t>
            </a:r>
          </a:p>
          <a:p/>
          <a:p>
            <a:r>
              <a:t>我的回答：我们实现了完整轮廓和停车范围检查，但扫描、TF和离散采样都有误差。本次墙体重叠采样为空，只能说明采样时刻没有检测到重叠，不能证明连续过程绝对无接触。</a:t>
            </a:r>
          </a:p>
          <a:p/>
        </p:txBody>
      </p:sp>
      <p:sp>
        <p:nvSpPr>
          <p:cNvPr id="302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8E654C8-6E8C-4376-A4BD-511AB4102D87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0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r>
              <a:t>第7页 云台左右观察，任务等待多帧确认</a:t>
            </a:r>
          </a:p>
          <a:p/>
          <a:p>
            <a:r>
              <a:t>累计时间：04:27–04:49｜本页22秒</a:t>
            </a:r>
          </a:p>
          <a:p/>
          <a:p>
            <a:r>
              <a:t>现场讲述：</a:t>
            </a:r>
          </a:p>
          <a:p/>
          <a:p>
            <a:r>
              <a:t>这两张图来自同一停车点的不同扫描时刻。我们先让底盘停稳，再用云台观察侧墙。同一目标连续三个关联处理帧通过后才发布确认事件，状态机收到确认后继续，减少单帧误报影响。</a:t>
            </a:r>
          </a:p>
          <a:p/>
          <a:p>
            <a:r>
              <a:t>备注（备讲与问答，不逐字朗读）：</a:t>
            </a:r>
          </a:p>
          <a:p/>
          <a:p>
            <a:r>
              <a:t>对应PPT的详细说明</a:t>
            </a:r>
          </a:p>
          <a:p/>
          <a:p>
            <a:r>
              <a:t>我们把观察过程分为到点、停稳、扫描和等待确认。云台扫描范围为±1.90 rad，周期12秒。图中A、B来自历史运行speed_mixed_020_20261012_run2的image_0380和image_0395，只用于解释同点扫描机制，不作为本次录屏量化证据。我们要求连续三个空间关联处理帧通过，关联时检查中心跳变、面积变化和重叠，避免把不同目标的结果简单相加。</a:t>
            </a:r>
          </a:p>
          <a:p/>
          <a:p>
            <a:r>
              <a:t>本页创新点与设计理由</a:t>
            </a:r>
          </a:p>
          <a:p/>
          <a:p>
            <a:r>
              <a:t>我们让观察动作与任务推进互相配合：底盘停稳降低运动干扰，云台扩展观察方向，多帧关联把瞬时检测转为任务事件。创新落在扫描、时序核验和状态机等待的协同实现。</a:t>
            </a:r>
          </a:p>
          <a:p/>
          <a:p>
            <a:r>
              <a:t>老师可能提问与我的回答</a:t>
            </a:r>
          </a:p>
          <a:p/>
          <a:p>
            <a:r>
              <a:t>问：为什么不转动整辆车来观察？</a:t>
            </a:r>
          </a:p>
          <a:p/>
          <a:p>
            <a:r>
              <a:t>我的回答：在窄走廊里，转动车体会改变位置和车体扫掠范围。我们用云台在底盘停稳时左右看，减少为观察而调整整个底盘的需要。</a:t>
            </a:r>
          </a:p>
          <a:p/>
          <a:p>
            <a:r>
              <a:t>问：连续三帧是相机拍到的三张图片吗？</a:t>
            </a:r>
          </a:p>
          <a:p/>
          <a:p>
            <a:r>
              <a:t>我的回答：我们指的是连续三个经过算法处理、且空间关联成功的处理帧，不等于相机连续采集的三张原始图片。中间还要满足目标关联和核验条件。</a:t>
            </a:r>
          </a:p>
          <a:p/>
          <a:p>
            <a:r>
              <a:t>问：画面已经有框，为什么车还在等？</a:t>
            </a:r>
          </a:p>
          <a:p/>
          <a:p>
            <a:r>
              <a:t>我的回答：框表示当前帧的判断，任务需要时序确认事件。单帧看到目标还不足以推进状态机，等待是我们设计的确认过程。</a:t>
            </a:r>
          </a:p>
          <a:p/>
        </p:txBody>
      </p:sp>
      <p:sp>
        <p:nvSpPr>
          <p:cNvPr id="305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D3284C8-7E80-42DE-B905-4CE04CE952FC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0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r>
              <a:t>第8页 走廊识别：火灾、化学、辐射</a:t>
            </a:r>
          </a:p>
          <a:p/>
          <a:p>
            <a:r>
              <a:t>累计时间：04:49–05:04｜本页15秒</a:t>
            </a:r>
          </a:p>
          <a:p/>
          <a:p>
            <a:r>
              <a:t>现场讲述：</a:t>
            </a:r>
          </a:p>
          <a:p/>
          <a:p>
            <a:r>
              <a:t>这里是我们实际识别的火灾、化学和辐射三类图案。图案由我们设计，绿色框表示当前分类；是否完成该类任务，还要看多帧确认和终端事件。</a:t>
            </a:r>
          </a:p>
          <a:p/>
          <a:p>
            <a:r>
              <a:t>备注（备讲与问答，不逐字朗读）：</a:t>
            </a:r>
          </a:p>
          <a:p/>
          <a:p>
            <a:r>
              <a:t>对应PPT的详细说明</a:t>
            </a:r>
          </a:p>
          <a:p/>
          <a:p>
            <a:r>
              <a:t>这三幅相机图来自当前同次运行，保留原始检测框与类别文字。对应类别为FIRE、CHEMICAL、RADIATION，另外两类在下一页展示。我们训练比赛五类图案的轻量YOLOv5模型，并在候选检测后加入图案和牌面几何核验。这里展示的是有效识别样例，不能用三张成功截图代表整个视频的逐帧准确率。</a:t>
            </a:r>
          </a:p>
          <a:p/>
          <a:p>
            <a:r>
              <a:t>本页创新点与设计理由</a:t>
            </a:r>
          </a:p>
          <a:p/>
          <a:p>
            <a:r>
              <a:t>我们围绕自设计图案准备训练数据，加入小目标、透视、模糊增强和同色背景负例，再把模型输出接入核验与任务确认链。YOLOv5基础架构属于第三方，我们的贡献是场景化数据、训练和后续工程核验。</a:t>
            </a:r>
          </a:p>
          <a:p/>
          <a:p>
            <a:r>
              <a:t>老师可能提问与我的回答</a:t>
            </a:r>
          </a:p>
          <a:p/>
          <a:p>
            <a:r>
              <a:t>问：模型是只看颜色来分类吗？</a:t>
            </a:r>
          </a:p>
          <a:p/>
          <a:p>
            <a:r>
              <a:t>我的回答：我们训练的是五类图案检测模型，并结合图案核验和牌面几何条件。颜色可以提供辅助信息，但同色物体不能直接当成危险标识，所以训练中加入了红箱、蓝起点和黄色车身等负例。</a:t>
            </a:r>
          </a:p>
          <a:p/>
          <a:p>
            <a:r>
              <a:t>问：图片都识别出来了，准确率是不是100%？</a:t>
            </a:r>
          </a:p>
          <a:p/>
          <a:p>
            <a:r>
              <a:t>我的回答：这些图片只能证明展示帧识别有效。本次五类任务全部确认，也不等于每一帧都没有误报或漏检。我们目前的模型指标来自独立合成验证集，后面会说明它的统计范围。</a:t>
            </a:r>
          </a:p>
          <a:p/>
        </p:txBody>
      </p:sp>
      <p:sp>
        <p:nvSpPr>
          <p:cNvPr id="308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31EB467-3A26-4009-96D2-AF79F374FF3D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1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r>
              <a:t>第9页 走廊识别：电气、生物危害与终端打印</a:t>
            </a:r>
          </a:p>
          <a:p/>
          <a:p>
            <a:r>
              <a:t>累计时间：05:04–05:19｜本页15秒</a:t>
            </a:r>
          </a:p>
          <a:p/>
          <a:p>
            <a:r>
              <a:t>现场讲述：</a:t>
            </a:r>
          </a:p>
          <a:p/>
          <a:p>
            <a:r>
              <a:t>另外两类是电气和生物危害。我们把确认类别同步打印到终端，方便老师核对。五类都在进入核心区之前确认，画面和终端共同说明走廊识别任务已完成。</a:t>
            </a:r>
          </a:p>
          <a:p/>
          <a:p>
            <a:r>
              <a:t>备注（备讲与问答，不逐字朗读）：</a:t>
            </a:r>
          </a:p>
          <a:p/>
          <a:p>
            <a:r>
              <a:t>对应PPT的详细说明</a:t>
            </a:r>
          </a:p>
          <a:p/>
          <a:p>
            <a:r>
              <a:t>电气对应ELECTRICAL，生物危害对应BIOHAZARD。终端配图来自同次录屏，保留原始日志文字，按行裁剪排布，没有改写识别结果。规则中走廊分类每类3分、共15分，终端打印5分，并注明未展示终端打印结果不得分。因此我们同时展示分类图和可读日志。相机上的当前框、历史confirmed计数、终端新确认事件分别表示不同信息。</a:t>
            </a:r>
          </a:p>
          <a:p/>
          <a:p>
            <a:r>
              <a:t>本页创新点与设计理由</a:t>
            </a:r>
          </a:p>
          <a:p/>
          <a:p>
            <a:r>
              <a:t>我们把视觉确认转为可追溯任务事件，并在终端保留类别与确认记录，方便状态机消费和人工核对。这是事件接口与证据链设计，不是新增一种分类算法。</a:t>
            </a:r>
          </a:p>
          <a:p/>
          <a:p>
            <a:r>
              <a:t>老师可能提问与我的回答</a:t>
            </a:r>
          </a:p>
          <a:p/>
          <a:p>
            <a:r>
              <a:t>问：底部显示5/5，为什么有时可见图案没有框？</a:t>
            </a:r>
          </a:p>
          <a:p/>
          <a:p>
            <a:r>
              <a:t>我的回答：5/5表示历史上已经确认了五类，当前框只反映这一帧。斜视、遮挡或小目标仍可能瞬时漏检，所以历史计数不能证明当前所有目标都有框。</a:t>
            </a:r>
          </a:p>
          <a:p/>
          <a:p>
            <a:r>
              <a:t>问：生物危害是紫色，红箱框也可能是紫色，会不会混淆？</a:t>
            </a:r>
          </a:p>
          <a:p/>
          <a:p>
            <a:r>
              <a:t>我的回答：图案底色与检测框颜色是两个概念。危险标识用绿色框，推障箱使用独立检测器的紫色框。红箱框主要用于显示，不直接授予推障权限。</a:t>
            </a:r>
          </a:p>
          <a:p/>
        </p:txBody>
      </p:sp>
      <p:sp>
        <p:nvSpPr>
          <p:cNvPr id="311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4BBF3F3-B318-4770-ABE0-B83D48F6F4CB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1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r>
              <a:t>第10页 同帧局部放大重检，恢复部分小目标</a:t>
            </a:r>
          </a:p>
          <a:p/>
          <a:p>
            <a:r>
              <a:t>累计时间：05:19–05:41｜本页22秒</a:t>
            </a:r>
          </a:p>
          <a:p/>
          <a:p>
            <a:r>
              <a:t>现场讲述：</a:t>
            </a:r>
          </a:p>
          <a:p/>
          <a:p>
            <a:r>
              <a:t>远处或斜视的小图案容易漏检。我们先核验图案和牌边，必要时对通过核验的区域裁剪放大，再做分类。这是同一输入帧的回放对照，说明局部重检机制，结果仍要经过时序确认。</a:t>
            </a:r>
          </a:p>
          <a:p/>
          <a:p>
            <a:r>
              <a:t>备注（备讲与问答，不逐字朗读）：</a:t>
            </a:r>
          </a:p>
          <a:p/>
          <a:p>
            <a:r>
              <a:t>对应PPT的详细说明</a:t>
            </a:r>
          </a:p>
          <a:p/>
          <a:p>
            <a:r>
              <a:t>我在这页使用历史v19的image_0462同帧算法回放，记录见vision_recovery_replay.json，不把它说成当前录屏的实时左右对照。我们的流程是全图YOLO候选、图案核验与牌面拟合、必要时局部放大重检、空间关联、连续三帧确认。全图置信度阈值0.45，已通过注册图案核验的局部重检分类置信度下限0.25。训练还加入同色空白牌、AprilTag和背景负例。</a:t>
            </a:r>
          </a:p>
          <a:p/>
          <a:p>
            <a:r>
              <a:t>本页创新点与设计理由</a:t>
            </a:r>
          </a:p>
          <a:p/>
          <a:p>
            <a:r>
              <a:t>我们的改进是用已核验区域约束局部重检，让小目标获得更大的有效像素范围，同时保留图案、几何和时序条件。它针对部分远距或斜视漏检，不能保证恢复所有目标。我们不把简单放大图片本身当作完整创新。</a:t>
            </a:r>
          </a:p>
          <a:p/>
          <a:p>
            <a:r>
              <a:t>老师可能提问与我的回答</a:t>
            </a:r>
          </a:p>
          <a:p/>
          <a:p>
            <a:r>
              <a:t>问：为什么局部阈值可以降到0.25？误报不会增加吗？</a:t>
            </a:r>
          </a:p>
          <a:p/>
          <a:p>
            <a:r>
              <a:t>我的回答：我们只对已经通过注册图案核验的区域启动局部重检，局部结果仍要经过空间关联与时序确认。它是有前置条件的策略；我们尚没有同条件真实视频逐帧统计来证明误报完全不增加。</a:t>
            </a:r>
          </a:p>
          <a:p/>
          <a:p>
            <a:r>
              <a:t>问：这个模型效果到底是多少？</a:t>
            </a:r>
          </a:p>
          <a:p/>
          <a:p>
            <a:r>
              <a:t>我的回答：在160张独立合成验证图、IoU至少0.50、置信度0.45条件下，模型Precision为85.62%、Recall为70.81%；59张无目标图中2张误报。这是候选检测模型指标，不能直接当作完整核验链或真实视频逐帧指标。</a:t>
            </a:r>
          </a:p>
          <a:p/>
          <a:p>
            <a:r>
              <a:t>问：这两幅图是不是来自两次运行？</a:t>
            </a:r>
          </a:p>
          <a:p/>
          <a:p>
            <a:r>
              <a:t>我的回答：它们来自同一个历史输入帧的算法回放，我用它们解释重检机制。当前完整运行的结果单独在第16页展示。</a:t>
            </a:r>
          </a:p>
          <a:p/>
        </p:txBody>
      </p:sp>
      <p:sp>
        <p:nvSpPr>
          <p:cNvPr id="314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EB850E1-8C12-4E5F-A725-7A5C383C5445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1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r>
              <a:t>第11页 核心标识：坍塌与有毒泄漏</a:t>
            </a:r>
          </a:p>
          <a:p/>
          <a:p>
            <a:r>
              <a:t>累计时间：05:41–05:50｜本页9秒</a:t>
            </a:r>
          </a:p>
          <a:p/>
          <a:p>
            <a:r>
              <a:t>现场讲述：</a:t>
            </a:r>
          </a:p>
          <a:p/>
          <a:p>
            <a:r>
              <a:t>进入核心区后，我们先识别坍塌和有毒泄漏，两块图案不同，嵌入的标签分别对应零号和一号。</a:t>
            </a:r>
          </a:p>
          <a:p/>
          <a:p>
            <a:r>
              <a:t>备注（备讲与问答，不逐字朗读）：</a:t>
            </a:r>
          </a:p>
          <a:p/>
          <a:p>
            <a:r>
              <a:t>对应PPT的详细说明</a:t>
            </a:r>
          </a:p>
          <a:p/>
          <a:p>
            <a:r>
              <a:t>我们将ID 0关联到COLLAPSE，也就是坍塌；将ID 1关联到TOXIC_LEAK，也就是有毒泄漏。本页两幅图来自当前运行，保留ID、类别和估计map坐标，只裁去背景。核心类别通过AprilTag ID与语义配置表对应，不由走廊YOLO模型直接分类。标签采用36h11，边长0.1875 m，位置通过图像测量和TF计算。</a:t>
            </a:r>
          </a:p>
          <a:p/>
          <a:p>
            <a:r>
              <a:t>本页创新点与设计理由</a:t>
            </a:r>
          </a:p>
          <a:p/>
          <a:p>
            <a:r>
              <a:t>我们把可视灾情图案、可解码标签和语义表对应起来，再把测得位置发布到地图，建立从识别到标定的接口。AprilTag和PnP是已有技术，本页主要说明我们的场景配置和语义关联。</a:t>
            </a:r>
          </a:p>
          <a:p/>
          <a:p>
            <a:r>
              <a:t>老师可能提问与我的回答</a:t>
            </a:r>
          </a:p>
          <a:p/>
          <a:p>
            <a:r>
              <a:t>问：既然知道ID对应类别，是不是把答案提前写死了？</a:t>
            </a:r>
          </a:p>
          <a:p/>
          <a:p>
            <a:r>
              <a:t>我的回答：我们预先配置的是标签ID与灾情名称的对应关系，相当于字典。标签是否可见、四角在哪里、相对相机的位置以及地图坐标，都需要运行时从图像和TF求得，任务不会读取场地真值来填写位置。</a:t>
            </a:r>
          </a:p>
          <a:p/>
          <a:p>
            <a:r>
              <a:t>问：不看灾情图案，只读标签符合你们的方案吗？</a:t>
            </a:r>
          </a:p>
          <a:p/>
          <a:p>
            <a:r>
              <a:t>我的回答：我们按规则为四种不同灾情图案嵌入AprilTag，当前方案用ID关联类别。我会明确这条识别链，不把它说成YOLO直接识别核心灾情图案。</a:t>
            </a:r>
          </a:p>
          <a:p/>
        </p:txBody>
      </p:sp>
      <p:sp>
        <p:nvSpPr>
          <p:cNvPr id="317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11D54BD-E455-4F6C-BDB5-F995ED61D96C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1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r>
              <a:t>第12页 核心标识：被困人员与高温</a:t>
            </a:r>
          </a:p>
          <a:p/>
          <a:p>
            <a:r>
              <a:t>累计时间：05:50–05:59｜本页9秒</a:t>
            </a:r>
          </a:p>
          <a:p/>
          <a:p>
            <a:r>
              <a:t>现场讲述：</a:t>
            </a:r>
          </a:p>
          <a:p/>
          <a:p>
            <a:r>
              <a:t>另外两块是被困人员和高温，分别对应二号和三号。我们确认后，把四类核心目标的位置标到地图上。</a:t>
            </a:r>
          </a:p>
          <a:p/>
          <a:p>
            <a:r>
              <a:t>备注（备讲与问答，不逐字朗读）：</a:t>
            </a:r>
          </a:p>
          <a:p/>
          <a:p>
            <a:r>
              <a:t>对应PPT的详细说明</a:t>
            </a:r>
          </a:p>
          <a:p/>
          <a:p>
            <a:r>
              <a:t>我们将ID 2关联到TRAPPED_PERSON，即被困人员；ID 3关联到HIGH_TEMPERATURE，即高温。两幅当前运行截图与上一页采用同样排版，保留原始类别与坐标。四块图案互不相同，四个ID分别对应地图上的四个Marker。这里的被困人员和高温是模拟标识类别，系统没有实现人体生命体征检测或温度测量。</a:t>
            </a:r>
          </a:p>
          <a:p/>
          <a:p>
            <a:r>
              <a:t>本页创新点与设计理由</a:t>
            </a:r>
          </a:p>
          <a:p/>
          <a:p>
            <a:r>
              <a:t>我们统一了四类核心目标的识别、语义和地图标记格式，使任务能够判断是否完成全部标定。本页是同一标定链的另外两类实例，不额外包装成独立算法创新。</a:t>
            </a:r>
          </a:p>
          <a:p/>
          <a:p>
            <a:r>
              <a:t>老师可能提问与我的回答</a:t>
            </a:r>
          </a:p>
          <a:p/>
          <a:p>
            <a:r>
              <a:t>问：系统能真的检测到人或者测出温度吗？</a:t>
            </a:r>
          </a:p>
          <a:p/>
          <a:p>
            <a:r>
              <a:t>我的回答：当前任务识别的是代表被困人员和高温的模拟标识，类别由标签ID关联。我们没有使用热成像或生命探测传感器，因此不把这两类结果说成真实人员搜救或温度测量。</a:t>
            </a:r>
          </a:p>
          <a:p/>
          <a:p>
            <a:r>
              <a:t>问：看到四个标签，就算完成核心任务了吗？</a:t>
            </a:r>
          </a:p>
          <a:p/>
          <a:p>
            <a:r>
              <a:t>我的回答：还需要有效观测与位置融合，并在RViz地图上正确发布四个对应Marker。识别ID和完成地图标定是两个环节，下一页展示定位过程和地图结果。</a:t>
            </a:r>
          </a:p>
          <a:p/>
        </p:txBody>
      </p:sp>
      <p:sp>
        <p:nvSpPr>
          <p:cNvPr id="320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CDAD1EA-EB3F-4B5B-98A6-3ECFB34D5471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2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r>
              <a:t>第13页 拍摄时刻TF，让视觉结果对应RViz地图</a:t>
            </a:r>
          </a:p>
          <a:p/>
          <a:p>
            <a:r>
              <a:t>累计时间：05:59–06:21｜本页22秒</a:t>
            </a:r>
          </a:p>
          <a:p/>
          <a:p>
            <a:r>
              <a:t>现场讲述：</a:t>
            </a:r>
          </a:p>
          <a:p/>
          <a:p>
            <a:r>
              <a:t>云台转动时，我们让图像匹配拍摄时刻的实际关节角。先用标签尺寸和四角求相机坐标，再通过TF转到地图。至少四次有效观测经质量筛选和稳健融合后发布Marker，右侧是四个对应位置。</a:t>
            </a:r>
          </a:p>
          <a:p/>
          <a:p>
            <a:r>
              <a:t>备注（备讲与问答，不逐字朗读）：</a:t>
            </a:r>
          </a:p>
          <a:p/>
          <a:p>
            <a:r>
              <a:t>对应PPT的详细说明</a:t>
            </a:r>
          </a:p>
          <a:p/>
          <a:p>
            <a:r>
              <a:t>我们使用相机内参、0.1875 m标签边长和四角，通过IPPE_SQUARE求位姿。坐标链为camera_optical → camera_link → base_link → odom → map，查TF时使用图像header中的拍摄时间戳，云台姿态来自实际关节角。有效观测需满足正深度、有限数值和平均重投影误差不超过2.5 px，超过1秒的旧帧丢弃。至少四次有效观测后确认，不要求连续四帧；我们保留最近20个位置样本，用中值、离群拒绝和0.35权重平滑，已有标记附近超过20 cm的异常点拒收。右侧RViz来自当前录屏01:26。</a:t>
            </a:r>
          </a:p>
          <a:p/>
          <a:p>
            <a:r>
              <a:t>本页创新点与设计理由</a:t>
            </a:r>
          </a:p>
          <a:p/>
          <a:p>
            <a:r>
              <a:t>我们的改进针对运动云台的时间错配：图像中的目标方向必须与拍摄时刻的实际姿态匹配，再用多次观测降低偶发偏差。基础PnP和TF机制属于已有技术，我们实现了时间同步、质量筛选和任务标记链。</a:t>
            </a:r>
          </a:p>
          <a:p/>
          <a:p>
            <a:r>
              <a:t>老师可能提问与我的回答</a:t>
            </a:r>
          </a:p>
          <a:p/>
          <a:p>
            <a:r>
              <a:t>问：为什么不能用处理图片时的最新云台角？</a:t>
            </a:r>
          </a:p>
          <a:p/>
          <a:p>
            <a:r>
              <a:t>我的回答：图片到处理之间存在延迟，云台可能已经转动。使用最新角会把拍摄时的射线旋转到错误方向，所以我们按图像时间戳查实际关节TF。</a:t>
            </a:r>
          </a:p>
          <a:p/>
          <a:p>
            <a:r>
              <a:t>问：必须连续四帧吗？缺一帧是否重来？</a:t>
            </a:r>
          </a:p>
          <a:p/>
          <a:p>
            <a:r>
              <a:t>我的回答：我们要求至少四次有效观测，不要求连续，缺帧不会清空全部已有样本。走廊连续三帧确认与核心定位的四次有效观测是两套条件。</a:t>
            </a:r>
          </a:p>
          <a:p/>
          <a:p>
            <a:r>
              <a:t>问：标记误差是不是PnP误差？</a:t>
            </a:r>
          </a:p>
          <a:p/>
          <a:p>
            <a:r>
              <a:t>我的回答：最终map平面误差同时包含视觉测量、相机参数、AMCL定位和地图漂移等影响，不能归结为纯PnP误差。我们由独立验收统一坐标后计算结果。</a:t>
            </a:r>
          </a:p>
          <a:p/>
        </p:txBody>
      </p:sp>
      <p:sp>
        <p:nvSpPr>
          <p:cNvPr id="323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D54C4FE-C3F9-44E1-A6CD-E7587012F6B2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2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r>
              <a:t>第14页 门洞残留栅格清理区：让旧占用不再堵路</a:t>
            </a:r>
          </a:p>
          <a:p/>
          <a:p>
            <a:r>
              <a:t>累计时间：06:21–06:43｜本页22秒</a:t>
            </a:r>
          </a:p>
          <a:p/>
          <a:p>
            <a:r>
              <a:t>现场讲述：</a:t>
            </a:r>
          </a:p>
          <a:p/>
          <a:p>
            <a:r>
              <a:t>箱体推走后，保存地图中的旧占用仍可能挡住门洞。我们只在限定区域累积激光自由证据，同一栅格获得三次独立扫描支持后，才清理派生导航图。固定墙体和实时障碍保护继续保留。</a:t>
            </a:r>
          </a:p>
          <a:p/>
          <a:p>
            <a:r>
              <a:t>备注（备讲与问答，不逐字朗读）：</a:t>
            </a:r>
          </a:p>
          <a:p/>
          <a:p>
            <a:r>
              <a:t>对应PPT的详细说明</a:t>
            </a:r>
          </a:p>
          <a:p/>
          <a:p>
            <a:r>
              <a:t>这张图是实际rescue_map.pgm叠加navigation_map.yaml配置允许区，不是逐格清理前后的实测对照。我们保留原始PGM和原/map，在派生/navigation_map上修正旧占用。允许区排除固定墙体；同一栅格需累计三次不同扫描时间戳的自由证据，不要求连续。射线在测得障碍之前0.08 m截止，避免把障碍本体清空。箱体推到的新位置仍由实时激光障碍层标记。</a:t>
            </a:r>
          </a:p>
          <a:p/>
          <a:p>
            <a:r>
              <a:t>本页创新点与设计理由</a:t>
            </a:r>
          </a:p>
          <a:p/>
          <a:p>
            <a:r>
              <a:t>我们的改进针对保存地图中的可移动箱体残影：把区域先验与重复自由观测结合，避免旧占用一直堵住已经打开的入口。它是本场地约束下的局部导航图修正，不能称为通用动态SLAM或未知环境地图重建。</a:t>
            </a:r>
          </a:p>
          <a:p/>
          <a:p>
            <a:r>
              <a:t>老师可能提问与我的回答</a:t>
            </a:r>
          </a:p>
          <a:p/>
          <a:p>
            <a:r>
              <a:t>问：为什么激光已经看见门打开，导航还可能过不去？</a:t>
            </a:r>
          </a:p>
          <a:p/>
          <a:p>
            <a:r>
              <a:t>我的回答：实时障碍层更新并不一定清掉保存地图静态层中的旧箱体。规划器仍可能看到入口被占用，所以我们额外处理允许区内、已有重复自由证据支持的残留格。</a:t>
            </a:r>
          </a:p>
          <a:p/>
          <a:p>
            <a:r>
              <a:t>问：会不会把墙或者新障碍也删掉？</a:t>
            </a:r>
          </a:p>
          <a:p/>
          <a:p>
            <a:r>
              <a:t>我的回答：我们先用配置区域排除固定墙，再要求三次不同时间戳的自由证据，射线在障碍前停止。新障碍还由实时层保护。但当前方法依赖区域配置，换场地要重新核对边界。</a:t>
            </a:r>
          </a:p>
          <a:p/>
          <a:p>
            <a:r>
              <a:t>问：能展示清理前后的逐格变化吗？</a:t>
            </a:r>
          </a:p>
          <a:p/>
          <a:p>
            <a:r>
              <a:t>我的回答：目前这页展示原始地图和允许区域，逐格清理前后过程尚未留档。我可以解释源码条件，但不会把这张配置叠加图当成实测前后对照。</a:t>
            </a:r>
          </a:p>
          <a:p/>
        </p:txBody>
      </p:sp>
      <p:sp>
        <p:nvSpPr>
          <p:cNvPr id="326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34DBC4C-B303-4B7E-A151-1EB969259602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2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r>
              <a:t>第15页 按任务阶段选速度：完整任务平均缩短7.6%</a:t>
            </a:r>
          </a:p>
          <a:p/>
          <a:p>
            <a:r>
              <a:t>累计时间：06:43–07:03｜本页20秒</a:t>
            </a:r>
          </a:p>
          <a:p/>
          <a:p>
            <a:r>
              <a:t>现场讲述：</a:t>
            </a:r>
          </a:p>
          <a:p/>
          <a:p>
            <a:r>
              <a:t>我们按任务阶段选择速度：普通路段零点二米每秒，精细对正和推障保持低速。历史无界面试验中，一次基准与两次最终配置相比，完整任务平均缩短百分之七点六，失败候选也保留了记录。</a:t>
            </a:r>
          </a:p>
          <a:p/>
          <a:p>
            <a:r>
              <a:t>备注（备讲与问答，不逐字朗读）：</a:t>
            </a:r>
          </a:p>
          <a:p/>
          <a:p>
            <a:r>
              <a:t>对应PPT的详细说明</a:t>
            </a:r>
          </a:p>
          <a:p/>
          <a:p>
            <a:r>
              <a:t>我们的普通路段上限为0.20 m/s，精细阶段0.12 m/s，推障0.10 m/s，并把到位置和对正朝向分阶段处理。7.6%来自2026-10-12历史无界面试验：一次基准310.82秒，两次最终配置286.07和288.32秒，平均287.20秒，节省23.62秒。计时从首次导航到任务完成，包含行驶、停车观察、推障、对正和返航，排除构建与启动；它与当前GUI录屏耗时分开统计。</a:t>
            </a:r>
          </a:p>
          <a:p/>
          <a:p>
            <a:r>
              <a:t>本页创新点与设计理由</a:t>
            </a:r>
          </a:p>
          <a:p/>
          <a:p>
            <a:r>
              <a:t>我们的改进是根据任务需求分阶段设置速度，并调整位置到达与朝向对正流程，以完整任务耗时评价效果。提高普通段速度的同时，我们保留观察与确认条件。样本有限，这个结果不能证明全局最优速度或跨场地稳定收益。</a:t>
            </a:r>
          </a:p>
          <a:p/>
          <a:p>
            <a:r>
              <a:t>老师可能提问与我的回答</a:t>
            </a:r>
          </a:p>
          <a:p/>
          <a:p>
            <a:r>
              <a:t>问：为什么不全程用更高速度？</a:t>
            </a:r>
          </a:p>
          <a:p/>
          <a:p>
            <a:r>
              <a:t>我的回答：我们试过更高速度，全程0.24配置在返航门洞触发激光保护，分档0.30因异常转向停车；分档0.24虽完成，但对正耗时更多。对这个任务来说，快走后反复调整不一定更快。</a:t>
            </a:r>
          </a:p>
          <a:p/>
          <a:p>
            <a:r>
              <a:t>问：7.6%怎么算？是不是视频缩短了7.6%？</a:t>
            </a:r>
          </a:p>
          <a:p/>
          <a:p>
            <a:r>
              <a:t>我的回答：我们用(310.82−287.20)÷310.82计算，约7.6%。这是历史无界面完整任务对比，不是当前录屏的播放时长变化，也没有把两倍速播放计入性能提升。</a:t>
            </a:r>
          </a:p>
          <a:p/>
          <a:p>
            <a:r>
              <a:t>问：两次试验足够证明稳定吗？</a:t>
            </a:r>
          </a:p>
          <a:p/>
          <a:p>
            <a:r>
              <a:t>我的回答：不足以证明普遍成功率或统计显著性。目前只能报告这一次基准和两次最终配置的结果，下一步会增加随机初始条件和重复次数。</a:t>
            </a:r>
          </a:p>
          <a:p/>
        </p:txBody>
      </p:sp>
      <p:sp>
        <p:nvSpPr>
          <p:cNvPr id="329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3322345-3985-48BE-B7E9-D3624C9CE7B0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3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r>
              <a:t>第16页 当前视频的同次验收结果</a:t>
            </a:r>
          </a:p>
          <a:p/>
          <a:p>
            <a:r>
              <a:t>累计时间：07:03–07:23｜本页20秒</a:t>
            </a:r>
          </a:p>
          <a:p/>
          <a:p>
            <a:r>
              <a:t>现场讲述：</a:t>
            </a:r>
          </a:p>
          <a:p/>
          <a:p>
            <a:r>
              <a:t>本次录屏中，五类走廊和四个核心标记全部完成。箱体移动约零点九九六米，返航误差四点二六厘米，四个标记的地图平面误差为七点五二到十三点九四厘米，通过了我们的项目自动验收。</a:t>
            </a:r>
          </a:p>
          <a:p/>
          <a:p>
            <a:r>
              <a:t>备注（备讲与问答，不逐字朗读）：</a:t>
            </a:r>
          </a:p>
          <a:p/>
          <a:p>
            <a:r>
              <a:t>对应PPT的详细说明</a:t>
            </a:r>
          </a:p>
          <a:p/>
          <a:p>
            <a:r>
              <a:t>我在这页只引用recording_submission_20261013_gimbal_run2/evidence/evaluation.json。箱体位移0.9959845 m，显示0.9960 m；返航位置误差0.0425607 m，显示4.26 cm。统一map坐标后，ID 0误差13.94 cm、ID 1误差11.88 cm、ID 2误差10.20 cm、ID 3误差7.52 cm。同次记录还包括任务完成、在线SLAM留档、完整轮廓墙体重叠采样为空。我们自定门限为标签15 cm、返航10 cm、箱体位移0.50 m，这些不是官方合格线。</a:t>
            </a:r>
          </a:p>
          <a:p/>
          <a:p>
            <a:r>
              <a:t>本页创新点与设计理由</a:t>
            </a:r>
          </a:p>
          <a:p/>
          <a:p>
            <a:r>
              <a:t>我们用独立验收旁路记录箱体真值、轨迹和标记结果，再与相机、事件、源码哈希对应。控制和视觉不读取验收真值取得答案，避免自报完成代替独立测量。创新体现为可追溯验证流程，而不是某个单次数字本身。</a:t>
            </a:r>
          </a:p>
          <a:p/>
          <a:p>
            <a:r>
              <a:t>老师可能提问与我的回答</a:t>
            </a:r>
          </a:p>
          <a:p/>
          <a:p>
            <a:r>
              <a:t>问：真值会不会直接提供给导航或识别？</a:t>
            </a:r>
          </a:p>
          <a:p/>
          <a:p>
            <a:r>
              <a:t>我的回答：我们把验收放在独立旁路，读取仿真真值用于记录和评估，不把目标真值反馈给任务、视觉和控制。核心位置由图像和TF求得，导航使用地图、激光和里程计。</a:t>
            </a:r>
          </a:p>
          <a:p/>
          <a:p>
            <a:r>
              <a:t>问：world坐标和map坐标怎么比较？</a:t>
            </a:r>
          </a:p>
          <a:p/>
          <a:p>
            <a:r>
              <a:t>我的回答：Marker在map坐标系，真值最初在world/odom参考中。我们使用本次记录的map←odom变换统一坐标后计算平面误差，不把跨坐标的原始差值直接当定位误差，也不借用另一次运行的TF。</a:t>
            </a:r>
          </a:p>
          <a:p/>
          <a:p>
            <a:r>
              <a:t>问：自动验收通过是不是比赛满分？</a:t>
            </a:r>
          </a:p>
          <a:p/>
          <a:p>
            <a:r>
              <a:t>我的回答：不是。我们自定验收用于检查项目功能，官方评分由评委依据规则和现场证据判断。五类四标签完成也不代表逐帧100%准确，墙体采样为空不代表连续无碰撞证明。</a:t>
            </a:r>
          </a:p>
          <a:p/>
        </p:txBody>
      </p:sp>
      <p:sp>
        <p:nvSpPr>
          <p:cNvPr id="332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6B6E13C-A81E-4AA9-A21D-857F2995819D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3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r>
              <a:t>第17页 团队贡献：结构、感知与导航协同实现</a:t>
            </a:r>
          </a:p>
          <a:p/>
          <a:p>
            <a:r>
              <a:t>累计时间：07:23–07:35｜本页12秒</a:t>
            </a:r>
          </a:p>
          <a:p/>
          <a:p>
            <a:r>
              <a:t>现场讲述：</a:t>
            </a:r>
          </a:p>
          <a:p/>
          <a:p>
            <a:r>
              <a:t>我们的贡献是机构、感知、导航和验收的协同实现。基础框架和算法明确注明第三方归属，下一步增加随机条件验证与接触力检测。我的汇报结束，谢谢各位老师。</a:t>
            </a:r>
          </a:p>
          <a:p/>
          <a:p>
            <a:r>
              <a:t>备注（备讲与问答，不逐字朗读）：</a:t>
            </a:r>
          </a:p>
          <a:p/>
          <a:p>
            <a:r>
              <a:t>对应PPT的详细说明</a:t>
            </a:r>
          </a:p>
          <a:p/>
          <a:p>
            <a:r>
              <a:t>我把团队贡献归纳为三部分：结构与接触，包括新版云台、被动推板、完整轮廓和有界接触；感知与标定，包括图案、几何、时序核验以及拍摄时刻TF和位置融合；导航与复现，包括激光自由证据处理派生地图、阶段控制和独立验收。我们采用的第三方基础包括ROS 2、Gazebo、Nav2、slam_toolbox、YOLOv5、OpenCV和AprilTag。当前验证范围是已知仿真场地与自设计图案，后续计划增加随机初始条件重复运行、真实录屏逐帧视觉评估和接触力检测。材料没有确认个人分工，我不在讲稿中编造哪位成员独立完成哪个模块。</a:t>
            </a:r>
          </a:p>
          <a:p/>
          <a:p>
            <a:r>
              <a:t>本页创新点与设计理由</a:t>
            </a:r>
          </a:p>
          <a:p/>
          <a:p>
            <a:r>
              <a:t>我会把创新落到具体问题和实现：用结构与闭环解决推障，用完整轮廓与受限授权处理接触安全，用多级核验处理识别干扰，用拍摄时刻TF处理转动相机的坐标错配，用自由证据处理地图残影，用阶段控制减少完整任务耗时。我们承认基础技术的来源，并用源码与运行记录支撑团队贡献。</a:t>
            </a:r>
          </a:p>
          <a:p/>
          <a:p>
            <a:r>
              <a:t>老师可能提问与我的回答</a:t>
            </a:r>
          </a:p>
          <a:p/>
          <a:p>
            <a:r>
              <a:t>问：用了这么多开源组件，自己的创新在哪里？</a:t>
            </a:r>
          </a:p>
          <a:p/>
          <a:p>
            <a:r>
              <a:t>我的回答：我们没有把A*、AMCL、RPP、YOLOv5、AprilTag或PnP说成原创。我们围绕比赛中的具体失效问题，实现了机构、核验、接触约束、时间同步、派生地图、阶段任务控制和独立验收，使这些组件能够完成同一套任务。</a:t>
            </a:r>
          </a:p>
          <a:p/>
          <a:p>
            <a:r>
              <a:t>问：换场地或者换真实灾害图像还能用吗？</a:t>
            </a:r>
          </a:p>
          <a:p/>
          <a:p>
            <a:r>
              <a:t>我的回答：当前还没有完成跨场地和真实灾害泛化评估。换场地需要重新建图、审核任务点和地图允许区，换图案需要重新准备数据并验证模型；接入实车还要校准传感器和接触参数。</a:t>
            </a:r>
          </a:p>
          <a:p/>
          <a:p>
            <a:r>
              <a:t>问：你个人负责什么？</a:t>
            </a:r>
          </a:p>
          <a:p/>
          <a:p>
            <a:r>
              <a:t>我的回答：我会按实际参与的模块回答，并用对应源码、调试过程和记录说明。现有材料只确认团队贡献，没有确认个人分工，所以这份讲稿不替我虚构职责；现场我只讲自己真正做过、能够解释和复现的工作。</a:t>
            </a:r>
          </a:p>
          <a:p/>
        </p:txBody>
      </p:sp>
      <p:sp>
        <p:nvSpPr>
          <p:cNvPr id="335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76375A3-00B8-4EF5-B206-56A01C29C741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3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## </a:t>
            </a:r>
            <a:r>
              <a:rPr b="0" lang="zh-CN" sz="2000" spc="-1" strike="noStrike">
                <a:latin typeface="Arial"/>
              </a:rPr>
              <a:t>第</a:t>
            </a:r>
            <a:r>
              <a:rPr b="0" lang="en-US" sz="2000" spc="-1" strike="noStrike">
                <a:latin typeface="Arial"/>
              </a:rPr>
              <a:t>18</a:t>
            </a:r>
            <a:r>
              <a:rPr b="0" lang="zh-CN" sz="2000" spc="-1" strike="noStrike">
                <a:latin typeface="Arial"/>
              </a:rPr>
              <a:t>页 备份</a:t>
            </a:r>
            <a:r>
              <a:rPr b="0" lang="en-US" sz="2000" spc="-1" strike="noStrike">
                <a:latin typeface="Arial"/>
              </a:rPr>
              <a:t>A</a:t>
            </a:r>
            <a:r>
              <a:rPr b="0" lang="zh-CN" sz="2000" spc="-1" strike="noStrike">
                <a:latin typeface="Arial"/>
              </a:rPr>
              <a:t>：评分项与证据对应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**</a:t>
            </a:r>
            <a:r>
              <a:rPr b="0" lang="zh-CN" sz="2000" spc="-1" strike="noStrike">
                <a:latin typeface="Arial"/>
              </a:rPr>
              <a:t>累计时间：问答备用</a:t>
            </a:r>
            <a:r>
              <a:rPr b="0" lang="en-US" sz="2000" spc="-1" strike="noStrike">
                <a:latin typeface="Arial"/>
              </a:rPr>
              <a:t>**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环境与建图</a:t>
            </a:r>
            <a:r>
              <a:rPr b="0" lang="en-US" sz="2000" spc="-1" strike="noStrike">
                <a:latin typeface="Arial"/>
              </a:rPr>
              <a:t>15</a:t>
            </a:r>
            <a:r>
              <a:rPr b="0" lang="zh-CN" sz="2000" spc="-1" strike="noStrike">
                <a:latin typeface="Arial"/>
              </a:rPr>
              <a:t>分：自建场地、清晰地图、在线</a:t>
            </a:r>
            <a:r>
              <a:rPr b="0" lang="en-US" sz="2000" spc="-1" strike="noStrike">
                <a:latin typeface="Arial"/>
              </a:rPr>
              <a:t>SLAM</a:t>
            </a:r>
            <a:r>
              <a:rPr b="0" lang="zh-CN" sz="2000" spc="-1" strike="noStrike">
                <a:latin typeface="Arial"/>
              </a:rPr>
              <a:t>留档。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走廊识别</a:t>
            </a:r>
            <a:r>
              <a:rPr b="0" lang="en-US" sz="2000" spc="-1" strike="noStrike">
                <a:latin typeface="Arial"/>
              </a:rPr>
              <a:t>20</a:t>
            </a:r>
            <a:r>
              <a:rPr b="0" lang="zh-CN" sz="2000" spc="-1" strike="noStrike">
                <a:latin typeface="Arial"/>
              </a:rPr>
              <a:t>分：入室前五类正确分类与可读终端打印。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核心入口清障</a:t>
            </a:r>
            <a:r>
              <a:rPr b="0" lang="en-US" sz="2000" spc="-1" strike="noStrike">
                <a:latin typeface="Arial"/>
              </a:rPr>
              <a:t>20</a:t>
            </a:r>
            <a:r>
              <a:rPr b="0" lang="zh-CN" sz="2000" spc="-1" strike="noStrike">
                <a:latin typeface="Arial"/>
              </a:rPr>
              <a:t>分：真实动态箱体位移与平稳进入核心区。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核心识别标定</a:t>
            </a:r>
            <a:r>
              <a:rPr b="0" lang="en-US" sz="2000" spc="-1" strike="noStrike">
                <a:latin typeface="Arial"/>
              </a:rPr>
              <a:t>20</a:t>
            </a:r>
            <a:r>
              <a:rPr b="0" lang="zh-CN" sz="2000" spc="-1" strike="noStrike">
                <a:latin typeface="Arial"/>
              </a:rPr>
              <a:t>分：四类核心灾情、</a:t>
            </a:r>
            <a:r>
              <a:rPr b="0" lang="en-US" sz="2000" spc="-1" strike="noStrike">
                <a:latin typeface="Arial"/>
              </a:rPr>
              <a:t>AprilTag ID</a:t>
            </a:r>
            <a:r>
              <a:rPr b="0" lang="zh-CN" sz="2000" spc="-1" strike="noStrike">
                <a:latin typeface="Arial"/>
              </a:rPr>
              <a:t>和</a:t>
            </a:r>
            <a:r>
              <a:rPr b="0" lang="en-US" sz="2000" spc="-1" strike="noStrike">
                <a:latin typeface="Arial"/>
              </a:rPr>
              <a:t>RViz Marker</a:t>
            </a:r>
            <a:r>
              <a:rPr b="0" lang="zh-CN" sz="2000" spc="-1" strike="noStrike">
                <a:latin typeface="Arial"/>
              </a:rPr>
              <a:t>位置对应。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返回起点</a:t>
            </a:r>
            <a:r>
              <a:rPr b="0" lang="en-US" sz="2000" spc="-1" strike="noStrike">
                <a:latin typeface="Arial"/>
              </a:rPr>
              <a:t>5</a:t>
            </a:r>
            <a:r>
              <a:rPr b="0" lang="zh-CN" sz="2000" spc="-1" strike="noStrike">
                <a:latin typeface="Arial"/>
              </a:rPr>
              <a:t>分：全流程返航画面与完成事件，本次返航误差</a:t>
            </a:r>
            <a:r>
              <a:rPr b="0" lang="en-US" sz="2000" spc="-1" strike="noStrike">
                <a:latin typeface="Arial"/>
              </a:rPr>
              <a:t>4.26 cm</a:t>
            </a:r>
            <a:r>
              <a:rPr b="0" lang="zh-CN" sz="2000" spc="-1" strike="noStrike">
                <a:latin typeface="Arial"/>
              </a:rPr>
              <a:t>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创新答辩</a:t>
            </a:r>
            <a:r>
              <a:rPr b="0" lang="en-US" sz="2000" spc="-1" strike="noStrike">
                <a:latin typeface="Arial"/>
              </a:rPr>
              <a:t>20</a:t>
            </a:r>
            <a:r>
              <a:rPr b="0" lang="zh-CN" sz="2000" spc="-1" strike="noStrike">
                <a:latin typeface="Arial"/>
              </a:rPr>
              <a:t>分：机构、接触安全、视觉核验、时间同步、导航地图与阶段控制的场景化改进。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规则以评委现场判定为准，没有公布</a:t>
            </a:r>
            <a:r>
              <a:rPr b="0" lang="en-US" sz="2000" spc="-1" strike="noStrike">
                <a:latin typeface="Arial"/>
              </a:rPr>
              <a:t>15 cm</a:t>
            </a:r>
            <a:r>
              <a:rPr b="0" lang="zh-CN" sz="2000" spc="-1" strike="noStrike">
                <a:latin typeface="Arial"/>
              </a:rPr>
              <a:t>标记误差或</a:t>
            </a:r>
            <a:r>
              <a:rPr b="0" lang="en-US" sz="2000" spc="-1" strike="noStrike">
                <a:latin typeface="Arial"/>
              </a:rPr>
              <a:t>10 cm</a:t>
            </a:r>
            <a:r>
              <a:rPr b="0" lang="zh-CN" sz="2000" spc="-1" strike="noStrike">
                <a:latin typeface="Arial"/>
              </a:rPr>
              <a:t>返航误差的合格线。</a:t>
            </a:r>
            <a:r>
              <a:rPr b="0" lang="en-US" sz="2000" spc="-1" strike="noStrike">
                <a:latin typeface="Arial"/>
              </a:rPr>
              <a:t>8</a:t>
            </a:r>
            <a:r>
              <a:rPr b="0" lang="zh-CN" sz="2000" spc="-1" strike="noStrike">
                <a:latin typeface="Arial"/>
              </a:rPr>
              <a:t>分钟包含视频与讲解，展示结束后的提问由评委安排。超时达到</a:t>
            </a:r>
            <a:r>
              <a:rPr b="0" lang="en-US" sz="2000" spc="-1" strike="noStrike">
                <a:latin typeface="Arial"/>
              </a:rPr>
              <a:t>10</a:t>
            </a:r>
            <a:r>
              <a:rPr b="0" lang="zh-CN" sz="2000" spc="-1" strike="noStrike">
                <a:latin typeface="Arial"/>
              </a:rPr>
              <a:t>秒后，每超</a:t>
            </a:r>
            <a:r>
              <a:rPr b="0" lang="en-US" sz="2000" spc="-1" strike="noStrike">
                <a:latin typeface="Arial"/>
              </a:rPr>
              <a:t>10</a:t>
            </a:r>
            <a:r>
              <a:rPr b="0" lang="zh-CN" sz="2000" spc="-1" strike="noStrike">
                <a:latin typeface="Arial"/>
              </a:rPr>
              <a:t>秒扣</a:t>
            </a:r>
            <a:r>
              <a:rPr b="0" lang="en-US" sz="2000" spc="-1" strike="noStrike">
                <a:latin typeface="Arial"/>
              </a:rPr>
              <a:t>1</a:t>
            </a:r>
            <a:r>
              <a:rPr b="0" lang="zh-CN" sz="2000" spc="-1" strike="noStrike">
                <a:latin typeface="Arial"/>
              </a:rPr>
              <a:t>分，累计最多</a:t>
            </a:r>
            <a:r>
              <a:rPr b="0" lang="en-US" sz="2000" spc="-1" strike="noStrike">
                <a:latin typeface="Arial"/>
              </a:rPr>
              <a:t>5</a:t>
            </a:r>
            <a:r>
              <a:rPr b="0" lang="zh-CN" sz="2000" spc="-1" strike="noStrike">
                <a:latin typeface="Arial"/>
              </a:rPr>
              <a:t>分。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</p:txBody>
      </p:sp>
      <p:sp>
        <p:nvSpPr>
          <p:cNvPr id="338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920FCA8-6310-4A39-AD92-0A0F8E2AC155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4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## </a:t>
            </a:r>
            <a:r>
              <a:rPr b="0" lang="zh-CN" sz="2000" spc="-1" strike="noStrike">
                <a:latin typeface="Arial"/>
              </a:rPr>
              <a:t>第</a:t>
            </a:r>
            <a:r>
              <a:rPr b="0" lang="en-US" sz="2000" spc="-1" strike="noStrike">
                <a:latin typeface="Arial"/>
              </a:rPr>
              <a:t>19</a:t>
            </a:r>
            <a:r>
              <a:rPr b="0" lang="zh-CN" sz="2000" spc="-1" strike="noStrike">
                <a:latin typeface="Arial"/>
              </a:rPr>
              <a:t>页 备份</a:t>
            </a:r>
            <a:r>
              <a:rPr b="0" lang="en-US" sz="2000" spc="-1" strike="noStrike">
                <a:latin typeface="Arial"/>
              </a:rPr>
              <a:t>B</a:t>
            </a:r>
            <a:r>
              <a:rPr b="0" lang="zh-CN" sz="2000" spc="-1" strike="noStrike">
                <a:latin typeface="Arial"/>
              </a:rPr>
              <a:t>：传感器、任务与导航闭环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**</a:t>
            </a:r>
            <a:r>
              <a:rPr b="0" lang="zh-CN" sz="2000" spc="-1" strike="noStrike">
                <a:latin typeface="Arial"/>
              </a:rPr>
              <a:t>累计时间：问答备用</a:t>
            </a:r>
            <a:r>
              <a:rPr b="0" lang="en-US" sz="2000" spc="-1" strike="noStrike">
                <a:latin typeface="Arial"/>
              </a:rPr>
              <a:t>**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激光与里程计支持定位，</a:t>
            </a:r>
            <a:r>
              <a:rPr b="0" lang="en-US" sz="2000" spc="-1" strike="noStrike">
                <a:latin typeface="Arial"/>
              </a:rPr>
              <a:t>AMCL</a:t>
            </a:r>
            <a:r>
              <a:rPr b="0" lang="zh-CN" sz="2000" spc="-1" strike="noStrike">
                <a:latin typeface="Arial"/>
              </a:rPr>
              <a:t>在保存地图上定位；</a:t>
            </a:r>
            <a:r>
              <a:rPr b="0" lang="en-US" sz="2000" spc="-1" strike="noStrike">
                <a:latin typeface="Arial"/>
              </a:rPr>
              <a:t>Smac2D</a:t>
            </a:r>
            <a:r>
              <a:rPr b="0" lang="zh-CN" sz="2000" spc="-1" strike="noStrike">
                <a:latin typeface="Arial"/>
              </a:rPr>
              <a:t>规划器生成路径，</a:t>
            </a:r>
            <a:r>
              <a:rPr b="0" lang="en-US" sz="2000" spc="-1" strike="noStrike">
                <a:latin typeface="Arial"/>
              </a:rPr>
              <a:t>RPP</a:t>
            </a:r>
            <a:r>
              <a:rPr b="0" lang="zh-CN" sz="2000" spc="-1" strike="noStrike">
                <a:latin typeface="Arial"/>
              </a:rPr>
              <a:t>控制器跟踪。地图建图使用</a:t>
            </a:r>
            <a:r>
              <a:rPr b="0" lang="en-US" sz="2000" spc="-1" strike="noStrike">
                <a:latin typeface="Arial"/>
              </a:rPr>
              <a:t>slam_toolbox</a:t>
            </a:r>
            <a:r>
              <a:rPr b="0" lang="zh-CN" sz="2000" spc="-1" strike="noStrike">
                <a:latin typeface="Arial"/>
              </a:rPr>
              <a:t>，留档证据与运行导航模式分别说明。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相机与实际云台角发布视觉结果；</a:t>
            </a:r>
            <a:r>
              <a:rPr b="0" lang="en-US" sz="2000" spc="-1" strike="noStrike">
                <a:latin typeface="Arial"/>
              </a:rPr>
              <a:t>23</a:t>
            </a:r>
            <a:r>
              <a:rPr b="0" lang="zh-CN" sz="2000" spc="-1" strike="noStrike">
                <a:latin typeface="Arial"/>
              </a:rPr>
              <a:t>步</a:t>
            </a:r>
            <a:r>
              <a:rPr b="0" lang="en-US" sz="2000" spc="-1" strike="noStrike">
                <a:latin typeface="Arial"/>
              </a:rPr>
              <a:t>YAML</a:t>
            </a:r>
            <a:r>
              <a:rPr b="0" lang="zh-CN" sz="2000" spc="-1" strike="noStrike">
                <a:latin typeface="Arial"/>
              </a:rPr>
              <a:t>任务状态机根据到点、稳定与确认事件推进，依次完成观察、推障、入室和返航。</a:t>
            </a:r>
            <a:r>
              <a:rPr b="0" lang="en-US" sz="2000" spc="-1" strike="noStrike">
                <a:latin typeface="Arial"/>
              </a:rPr>
              <a:t>YAML</a:t>
            </a:r>
            <a:r>
              <a:rPr b="0" lang="zh-CN" sz="2000" spc="-1" strike="noStrike">
                <a:latin typeface="Arial"/>
              </a:rPr>
              <a:t>提供任务目标，路径由</a:t>
            </a:r>
            <a:r>
              <a:rPr b="0" lang="en-US" sz="2000" spc="-1" strike="noStrike">
                <a:latin typeface="Arial"/>
              </a:rPr>
              <a:t>Nav2</a:t>
            </a:r>
            <a:r>
              <a:rPr b="0" lang="zh-CN" sz="2000" spc="-1" strike="noStrike">
                <a:latin typeface="Arial"/>
              </a:rPr>
              <a:t>规划，移动使用导航；任务目标配置不能宣称未知环境自主探索。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速度平滑后，独立安全层检查包含推板的完整车体停车扫掠范围。验收旁路读取真值记录结果，任务、视觉与控制不利用世界真值取得答案。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</p:txBody>
      </p:sp>
      <p:sp>
        <p:nvSpPr>
          <p:cNvPr id="341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00E4A68-1942-4EB2-8087-7DA7EC9EB65C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4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## </a:t>
            </a:r>
            <a:r>
              <a:rPr b="0" lang="zh-CN" sz="2000" spc="-1" strike="noStrike">
                <a:latin typeface="Arial"/>
              </a:rPr>
              <a:t>第</a:t>
            </a:r>
            <a:r>
              <a:rPr b="0" lang="en-US" sz="2000" spc="-1" strike="noStrike">
                <a:latin typeface="Arial"/>
              </a:rPr>
              <a:t>20</a:t>
            </a:r>
            <a:r>
              <a:rPr b="0" lang="zh-CN" sz="2000" spc="-1" strike="noStrike">
                <a:latin typeface="Arial"/>
              </a:rPr>
              <a:t>页 备份</a:t>
            </a:r>
            <a:r>
              <a:rPr b="0" lang="en-US" sz="2000" spc="-1" strike="noStrike">
                <a:latin typeface="Arial"/>
              </a:rPr>
              <a:t>C</a:t>
            </a:r>
            <a:r>
              <a:rPr b="0" lang="zh-CN" sz="2000" spc="-1" strike="noStrike">
                <a:latin typeface="Arial"/>
              </a:rPr>
              <a:t>：本次定位误差的坐标口径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**</a:t>
            </a:r>
            <a:r>
              <a:rPr b="0" lang="zh-CN" sz="2000" spc="-1" strike="noStrike">
                <a:latin typeface="Arial"/>
              </a:rPr>
              <a:t>累计时间：问答备用</a:t>
            </a:r>
            <a:r>
              <a:rPr b="0" lang="en-US" sz="2000" spc="-1" strike="noStrike">
                <a:latin typeface="Arial"/>
              </a:rPr>
              <a:t>**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Marker</a:t>
            </a:r>
            <a:r>
              <a:rPr b="0" lang="zh-CN" sz="2000" spc="-1" strike="noStrike">
                <a:latin typeface="Arial"/>
              </a:rPr>
              <a:t>在</a:t>
            </a:r>
            <a:r>
              <a:rPr b="0" lang="en-US" sz="2000" spc="-1" strike="noStrike">
                <a:latin typeface="Arial"/>
              </a:rPr>
              <a:t>map</a:t>
            </a:r>
            <a:r>
              <a:rPr b="0" lang="zh-CN" sz="2000" spc="-1" strike="noStrike">
                <a:latin typeface="Arial"/>
              </a:rPr>
              <a:t>坐标系，仿真实际位置最初在</a:t>
            </a:r>
            <a:r>
              <a:rPr b="0" lang="en-US" sz="2000" spc="-1" strike="noStrike">
                <a:latin typeface="Arial"/>
              </a:rPr>
              <a:t>world/odom</a:t>
            </a:r>
            <a:r>
              <a:rPr b="0" lang="zh-CN" sz="2000" spc="-1" strike="noStrike">
                <a:latin typeface="Arial"/>
              </a:rPr>
              <a:t>参考。独立验收利用记录的</a:t>
            </a:r>
            <a:r>
              <a:rPr b="0" lang="en-US" sz="2000" spc="-1" strike="noStrike">
                <a:latin typeface="Arial"/>
              </a:rPr>
              <a:t>map←odom</a:t>
            </a:r>
            <a:r>
              <a:rPr b="0" lang="zh-CN" sz="2000" spc="-1" strike="noStrike">
                <a:latin typeface="Arial"/>
              </a:rPr>
              <a:t>变换统一坐标后计算平面误差，原始跨坐标系差值包含定位偏移。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ID 0</a:t>
            </a:r>
            <a:r>
              <a:rPr b="0" lang="zh-CN" sz="2000" spc="-1" strike="noStrike">
                <a:latin typeface="Arial"/>
              </a:rPr>
              <a:t>，</a:t>
            </a:r>
            <a:r>
              <a:rPr b="0" lang="en-US" sz="2000" spc="-1" strike="noStrike">
                <a:latin typeface="Arial"/>
              </a:rPr>
              <a:t>COLLAPSE</a:t>
            </a:r>
            <a:r>
              <a:rPr b="0" lang="zh-CN" sz="2000" spc="-1" strike="noStrike">
                <a:latin typeface="Arial"/>
              </a:rPr>
              <a:t>：统一</a:t>
            </a:r>
            <a:r>
              <a:rPr b="0" lang="en-US" sz="2000" spc="-1" strike="noStrike">
                <a:latin typeface="Arial"/>
              </a:rPr>
              <a:t>map</a:t>
            </a:r>
            <a:r>
              <a:rPr b="0" lang="zh-CN" sz="2000" spc="-1" strike="noStrike">
                <a:latin typeface="Arial"/>
              </a:rPr>
              <a:t>误差</a:t>
            </a:r>
            <a:r>
              <a:rPr b="0" lang="en-US" sz="2000" spc="-1" strike="noStrike">
                <a:latin typeface="Arial"/>
              </a:rPr>
              <a:t>13.94 cm</a:t>
            </a:r>
            <a:r>
              <a:rPr b="0" lang="zh-CN" sz="2000" spc="-1" strike="noStrike">
                <a:latin typeface="Arial"/>
              </a:rPr>
              <a:t>，原始</a:t>
            </a:r>
            <a:r>
              <a:rPr b="0" lang="en-US" sz="2000" spc="-1" strike="noStrike">
                <a:latin typeface="Arial"/>
              </a:rPr>
              <a:t>world/map</a:t>
            </a:r>
            <a:r>
              <a:rPr b="0" lang="zh-CN" sz="2000" spc="-1" strike="noStrike">
                <a:latin typeface="Arial"/>
              </a:rPr>
              <a:t>差</a:t>
            </a:r>
            <a:r>
              <a:rPr b="0" lang="en-US" sz="2000" spc="-1" strike="noStrike">
                <a:latin typeface="Arial"/>
              </a:rPr>
              <a:t>15.76 cm</a:t>
            </a:r>
            <a:r>
              <a:rPr b="0" lang="zh-CN" sz="2000" spc="-1" strike="noStrike">
                <a:latin typeface="Arial"/>
              </a:rPr>
              <a:t>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ID 1</a:t>
            </a:r>
            <a:r>
              <a:rPr b="0" lang="zh-CN" sz="2000" spc="-1" strike="noStrike">
                <a:latin typeface="Arial"/>
              </a:rPr>
              <a:t>，</a:t>
            </a:r>
            <a:r>
              <a:rPr b="0" lang="en-US" sz="2000" spc="-1" strike="noStrike">
                <a:latin typeface="Arial"/>
              </a:rPr>
              <a:t>TOXIC_LEAK</a:t>
            </a:r>
            <a:r>
              <a:rPr b="0" lang="zh-CN" sz="2000" spc="-1" strike="noStrike">
                <a:latin typeface="Arial"/>
              </a:rPr>
              <a:t>：统一</a:t>
            </a:r>
            <a:r>
              <a:rPr b="0" lang="en-US" sz="2000" spc="-1" strike="noStrike">
                <a:latin typeface="Arial"/>
              </a:rPr>
              <a:t>map</a:t>
            </a:r>
            <a:r>
              <a:rPr b="0" lang="zh-CN" sz="2000" spc="-1" strike="noStrike">
                <a:latin typeface="Arial"/>
              </a:rPr>
              <a:t>误差</a:t>
            </a:r>
            <a:r>
              <a:rPr b="0" lang="en-US" sz="2000" spc="-1" strike="noStrike">
                <a:latin typeface="Arial"/>
              </a:rPr>
              <a:t>11.88 cm</a:t>
            </a:r>
            <a:r>
              <a:rPr b="0" lang="zh-CN" sz="2000" spc="-1" strike="noStrike">
                <a:latin typeface="Arial"/>
              </a:rPr>
              <a:t>，原始</a:t>
            </a:r>
            <a:r>
              <a:rPr b="0" lang="en-US" sz="2000" spc="-1" strike="noStrike">
                <a:latin typeface="Arial"/>
              </a:rPr>
              <a:t>world/map</a:t>
            </a:r>
            <a:r>
              <a:rPr b="0" lang="zh-CN" sz="2000" spc="-1" strike="noStrike">
                <a:latin typeface="Arial"/>
              </a:rPr>
              <a:t>差</a:t>
            </a:r>
            <a:r>
              <a:rPr b="0" lang="en-US" sz="2000" spc="-1" strike="noStrike">
                <a:latin typeface="Arial"/>
              </a:rPr>
              <a:t>14.57 cm</a:t>
            </a:r>
            <a:r>
              <a:rPr b="0" lang="zh-CN" sz="2000" spc="-1" strike="noStrike">
                <a:latin typeface="Arial"/>
              </a:rPr>
              <a:t>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ID 2</a:t>
            </a:r>
            <a:r>
              <a:rPr b="0" lang="zh-CN" sz="2000" spc="-1" strike="noStrike">
                <a:latin typeface="Arial"/>
              </a:rPr>
              <a:t>，</a:t>
            </a:r>
            <a:r>
              <a:rPr b="0" lang="en-US" sz="2000" spc="-1" strike="noStrike">
                <a:latin typeface="Arial"/>
              </a:rPr>
              <a:t>TRAPPED_PERSON</a:t>
            </a:r>
            <a:r>
              <a:rPr b="0" lang="zh-CN" sz="2000" spc="-1" strike="noStrike">
                <a:latin typeface="Arial"/>
              </a:rPr>
              <a:t>：统一</a:t>
            </a:r>
            <a:r>
              <a:rPr b="0" lang="en-US" sz="2000" spc="-1" strike="noStrike">
                <a:latin typeface="Arial"/>
              </a:rPr>
              <a:t>map</a:t>
            </a:r>
            <a:r>
              <a:rPr b="0" lang="zh-CN" sz="2000" spc="-1" strike="noStrike">
                <a:latin typeface="Arial"/>
              </a:rPr>
              <a:t>误差</a:t>
            </a:r>
            <a:r>
              <a:rPr b="0" lang="en-US" sz="2000" spc="-1" strike="noStrike">
                <a:latin typeface="Arial"/>
              </a:rPr>
              <a:t>10.20 cm</a:t>
            </a:r>
            <a:r>
              <a:rPr b="0" lang="zh-CN" sz="2000" spc="-1" strike="noStrike">
                <a:latin typeface="Arial"/>
              </a:rPr>
              <a:t>，原始</a:t>
            </a:r>
            <a:r>
              <a:rPr b="0" lang="en-US" sz="2000" spc="-1" strike="noStrike">
                <a:latin typeface="Arial"/>
              </a:rPr>
              <a:t>world/map</a:t>
            </a:r>
            <a:r>
              <a:rPr b="0" lang="zh-CN" sz="2000" spc="-1" strike="noStrike">
                <a:latin typeface="Arial"/>
              </a:rPr>
              <a:t>差</a:t>
            </a:r>
            <a:r>
              <a:rPr b="0" lang="en-US" sz="2000" spc="-1" strike="noStrike">
                <a:latin typeface="Arial"/>
              </a:rPr>
              <a:t>13.88 cm</a:t>
            </a:r>
            <a:r>
              <a:rPr b="0" lang="zh-CN" sz="2000" spc="-1" strike="noStrike">
                <a:latin typeface="Arial"/>
              </a:rPr>
              <a:t>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ID 3</a:t>
            </a:r>
            <a:r>
              <a:rPr b="0" lang="zh-CN" sz="2000" spc="-1" strike="noStrike">
                <a:latin typeface="Arial"/>
              </a:rPr>
              <a:t>，</a:t>
            </a:r>
            <a:r>
              <a:rPr b="0" lang="en-US" sz="2000" spc="-1" strike="noStrike">
                <a:latin typeface="Arial"/>
              </a:rPr>
              <a:t>HIGH_TEMPERATURE</a:t>
            </a:r>
            <a:r>
              <a:rPr b="0" lang="zh-CN" sz="2000" spc="-1" strike="noStrike">
                <a:latin typeface="Arial"/>
              </a:rPr>
              <a:t>：统一</a:t>
            </a:r>
            <a:r>
              <a:rPr b="0" lang="en-US" sz="2000" spc="-1" strike="noStrike">
                <a:latin typeface="Arial"/>
              </a:rPr>
              <a:t>map</a:t>
            </a:r>
            <a:r>
              <a:rPr b="0" lang="zh-CN" sz="2000" spc="-1" strike="noStrike">
                <a:latin typeface="Arial"/>
              </a:rPr>
              <a:t>误差</a:t>
            </a:r>
            <a:r>
              <a:rPr b="0" lang="en-US" sz="2000" spc="-1" strike="noStrike">
                <a:latin typeface="Arial"/>
              </a:rPr>
              <a:t>7.52 cm</a:t>
            </a:r>
            <a:r>
              <a:rPr b="0" lang="zh-CN" sz="2000" spc="-1" strike="noStrike">
                <a:latin typeface="Arial"/>
              </a:rPr>
              <a:t>，原始</a:t>
            </a:r>
            <a:r>
              <a:rPr b="0" lang="en-US" sz="2000" spc="-1" strike="noStrike">
                <a:latin typeface="Arial"/>
              </a:rPr>
              <a:t>world/map</a:t>
            </a:r>
            <a:r>
              <a:rPr b="0" lang="zh-CN" sz="2000" spc="-1" strike="noStrike">
                <a:latin typeface="Arial"/>
              </a:rPr>
              <a:t>差</a:t>
            </a:r>
            <a:r>
              <a:rPr b="0" lang="en-US" sz="2000" spc="-1" strike="noStrike">
                <a:latin typeface="Arial"/>
              </a:rPr>
              <a:t>12.26 cm</a:t>
            </a:r>
            <a:r>
              <a:rPr b="0" lang="zh-CN" sz="2000" spc="-1" strike="noStrike">
                <a:latin typeface="Arial"/>
              </a:rPr>
              <a:t>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以上均为当前新版录屏同次数据。此误差同时包含相机测量、</a:t>
            </a:r>
            <a:r>
              <a:rPr b="0" lang="en-US" sz="2000" spc="-1" strike="noStrike">
                <a:latin typeface="Arial"/>
              </a:rPr>
              <a:t>AMCL</a:t>
            </a:r>
            <a:r>
              <a:rPr b="0" lang="zh-CN" sz="2000" spc="-1" strike="noStrike">
                <a:latin typeface="Arial"/>
              </a:rPr>
              <a:t>定位与地图漂移，不能称纯视觉或纯</a:t>
            </a:r>
            <a:r>
              <a:rPr b="0" lang="en-US" sz="2000" spc="-1" strike="noStrike">
                <a:latin typeface="Arial"/>
              </a:rPr>
              <a:t>PnP</a:t>
            </a:r>
            <a:r>
              <a:rPr b="0" lang="zh-CN" sz="2000" spc="-1" strike="noStrike">
                <a:latin typeface="Arial"/>
              </a:rPr>
              <a:t>误差。不同运行使用各自保存的变换，不借用另一次运行的</a:t>
            </a:r>
            <a:r>
              <a:rPr b="0" lang="en-US" sz="2000" spc="-1" strike="noStrike">
                <a:latin typeface="Arial"/>
              </a:rPr>
              <a:t>TF</a:t>
            </a:r>
            <a:r>
              <a:rPr b="0" lang="zh-CN" sz="2000" spc="-1" strike="noStrike">
                <a:latin typeface="Arial"/>
              </a:rPr>
              <a:t>替换。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</p:txBody>
      </p:sp>
      <p:sp>
        <p:nvSpPr>
          <p:cNvPr id="344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D11BF6A-7FD5-45AA-8976-40A8CDB23A44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46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## </a:t>
            </a:r>
            <a:r>
              <a:rPr b="0" lang="zh-CN" sz="2000" spc="-1" strike="noStrike">
                <a:latin typeface="Arial"/>
              </a:rPr>
              <a:t>第</a:t>
            </a:r>
            <a:r>
              <a:rPr b="0" lang="en-US" sz="2000" spc="-1" strike="noStrike">
                <a:latin typeface="Arial"/>
              </a:rPr>
              <a:t>21</a:t>
            </a:r>
            <a:r>
              <a:rPr b="0" lang="zh-CN" sz="2000" spc="-1" strike="noStrike">
                <a:latin typeface="Arial"/>
              </a:rPr>
              <a:t>页 备份</a:t>
            </a:r>
            <a:r>
              <a:rPr b="0" lang="en-US" sz="2000" spc="-1" strike="noStrike">
                <a:latin typeface="Arial"/>
              </a:rPr>
              <a:t>D</a:t>
            </a:r>
            <a:r>
              <a:rPr b="0" lang="zh-CN" sz="2000" spc="-1" strike="noStrike">
                <a:latin typeface="Arial"/>
              </a:rPr>
              <a:t>：提速试验与失败候选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**</a:t>
            </a:r>
            <a:r>
              <a:rPr b="0" lang="zh-CN" sz="2000" spc="-1" strike="noStrike">
                <a:latin typeface="Arial"/>
              </a:rPr>
              <a:t>累计时间：问答备用</a:t>
            </a:r>
            <a:r>
              <a:rPr b="0" lang="en-US" sz="2000" spc="-1" strike="noStrike">
                <a:latin typeface="Arial"/>
              </a:rPr>
              <a:t>**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以下为</a:t>
            </a:r>
            <a:r>
              <a:rPr b="0" lang="en-US" sz="2000" spc="-1" strike="noStrike">
                <a:latin typeface="Arial"/>
              </a:rPr>
              <a:t>2026-10-12</a:t>
            </a:r>
            <a:r>
              <a:rPr b="0" lang="zh-CN" sz="2000" spc="-1" strike="noStrike">
                <a:latin typeface="Arial"/>
              </a:rPr>
              <a:t>历史无界面完整任务试验，不是本次录屏播放时长。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原速基准：</a:t>
            </a:r>
            <a:r>
              <a:rPr b="0" lang="en-US" sz="2000" spc="-1" strike="noStrike">
                <a:latin typeface="Arial"/>
              </a:rPr>
              <a:t>310.82</a:t>
            </a:r>
            <a:r>
              <a:rPr b="0" lang="zh-CN" sz="2000" spc="-1" strike="noStrike">
                <a:latin typeface="Arial"/>
              </a:rPr>
              <a:t>秒，</a:t>
            </a:r>
            <a:r>
              <a:rPr b="0" lang="en-US" sz="2000" spc="-1" strike="noStrike">
                <a:latin typeface="Arial"/>
              </a:rPr>
              <a:t>1</a:t>
            </a:r>
            <a:r>
              <a:rPr b="0" lang="zh-CN" sz="2000" spc="-1" strike="noStrike">
                <a:latin typeface="Arial"/>
              </a:rPr>
              <a:t>次，验收通过。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最终分档</a:t>
            </a:r>
            <a:r>
              <a:rPr b="0" lang="en-US" sz="2000" spc="-1" strike="noStrike">
                <a:latin typeface="Arial"/>
              </a:rPr>
              <a:t>0.20</a:t>
            </a:r>
            <a:r>
              <a:rPr b="0" lang="zh-CN" sz="2000" spc="-1" strike="noStrike">
                <a:latin typeface="Arial"/>
              </a:rPr>
              <a:t>第</a:t>
            </a:r>
            <a:r>
              <a:rPr b="0" lang="en-US" sz="2000" spc="-1" strike="noStrike">
                <a:latin typeface="Arial"/>
              </a:rPr>
              <a:t>1</a:t>
            </a:r>
            <a:r>
              <a:rPr b="0" lang="zh-CN" sz="2000" spc="-1" strike="noStrike">
                <a:latin typeface="Arial"/>
              </a:rPr>
              <a:t>次：</a:t>
            </a:r>
            <a:r>
              <a:rPr b="0" lang="en-US" sz="2000" spc="-1" strike="noStrike">
                <a:latin typeface="Arial"/>
              </a:rPr>
              <a:t>286.07</a:t>
            </a:r>
            <a:r>
              <a:rPr b="0" lang="zh-CN" sz="2000" spc="-1" strike="noStrike">
                <a:latin typeface="Arial"/>
              </a:rPr>
              <a:t>秒，验收通过，</a:t>
            </a:r>
            <a:r>
              <a:rPr b="0" lang="en-US" sz="2000" spc="-1" strike="noStrike">
                <a:latin typeface="Arial"/>
              </a:rPr>
              <a:t>Marker</a:t>
            </a:r>
            <a:r>
              <a:rPr b="0" lang="zh-CN" sz="2000" spc="-1" strike="noStrike">
                <a:latin typeface="Arial"/>
              </a:rPr>
              <a:t>误差</a:t>
            </a:r>
            <a:r>
              <a:rPr b="0" lang="en-US" sz="2000" spc="-1" strike="noStrike">
                <a:latin typeface="Arial"/>
              </a:rPr>
              <a:t>7.67–12.83 cm</a:t>
            </a:r>
            <a:r>
              <a:rPr b="0" lang="zh-CN" sz="2000" spc="-1" strike="noStrike">
                <a:latin typeface="Arial"/>
              </a:rPr>
              <a:t>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最终分档</a:t>
            </a:r>
            <a:r>
              <a:rPr b="0" lang="en-US" sz="2000" spc="-1" strike="noStrike">
                <a:latin typeface="Arial"/>
              </a:rPr>
              <a:t>0.20</a:t>
            </a:r>
            <a:r>
              <a:rPr b="0" lang="zh-CN" sz="2000" spc="-1" strike="noStrike">
                <a:latin typeface="Arial"/>
              </a:rPr>
              <a:t>第</a:t>
            </a:r>
            <a:r>
              <a:rPr b="0" lang="en-US" sz="2000" spc="-1" strike="noStrike">
                <a:latin typeface="Arial"/>
              </a:rPr>
              <a:t>2</a:t>
            </a:r>
            <a:r>
              <a:rPr b="0" lang="zh-CN" sz="2000" spc="-1" strike="noStrike">
                <a:latin typeface="Arial"/>
              </a:rPr>
              <a:t>次：</a:t>
            </a:r>
            <a:r>
              <a:rPr b="0" lang="en-US" sz="2000" spc="-1" strike="noStrike">
                <a:latin typeface="Arial"/>
              </a:rPr>
              <a:t>288.32</a:t>
            </a:r>
            <a:r>
              <a:rPr b="0" lang="zh-CN" sz="2000" spc="-1" strike="noStrike">
                <a:latin typeface="Arial"/>
              </a:rPr>
              <a:t>秒，验收通过，</a:t>
            </a:r>
            <a:r>
              <a:rPr b="0" lang="en-US" sz="2000" spc="-1" strike="noStrike">
                <a:latin typeface="Arial"/>
              </a:rPr>
              <a:t>Marker</a:t>
            </a:r>
            <a:r>
              <a:rPr b="0" lang="zh-CN" sz="2000" spc="-1" strike="noStrike">
                <a:latin typeface="Arial"/>
              </a:rPr>
              <a:t>误差</a:t>
            </a:r>
            <a:r>
              <a:rPr b="0" lang="en-US" sz="2000" spc="-1" strike="noStrike">
                <a:latin typeface="Arial"/>
              </a:rPr>
              <a:t>4.41–6.83 cm</a:t>
            </a:r>
            <a:r>
              <a:rPr b="0" lang="zh-CN" sz="2000" spc="-1" strike="noStrike">
                <a:latin typeface="Arial"/>
              </a:rPr>
              <a:t>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分档</a:t>
            </a:r>
            <a:r>
              <a:rPr b="0" lang="en-US" sz="2000" spc="-1" strike="noStrike">
                <a:latin typeface="Arial"/>
              </a:rPr>
              <a:t>0.24</a:t>
            </a:r>
            <a:r>
              <a:rPr b="0" lang="zh-CN" sz="2000" spc="-1" strike="noStrike">
                <a:latin typeface="Arial"/>
              </a:rPr>
              <a:t>：</a:t>
            </a:r>
            <a:r>
              <a:rPr b="0" lang="en-US" sz="2000" spc="-1" strike="noStrike">
                <a:latin typeface="Arial"/>
              </a:rPr>
              <a:t>296.84</a:t>
            </a:r>
            <a:r>
              <a:rPr b="0" lang="zh-CN" sz="2000" spc="-1" strike="noStrike">
                <a:latin typeface="Arial"/>
              </a:rPr>
              <a:t>秒，验收通过，但朝向对正耗时较多。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全程</a:t>
            </a:r>
            <a:r>
              <a:rPr b="0" lang="en-US" sz="2000" spc="-1" strike="noStrike">
                <a:latin typeface="Arial"/>
              </a:rPr>
              <a:t>0.24</a:t>
            </a:r>
            <a:r>
              <a:rPr b="0" lang="zh-CN" sz="2000" spc="-1" strike="noStrike">
                <a:latin typeface="Arial"/>
              </a:rPr>
              <a:t>：失败，返航门洞触发激光保护，失败耗时不计提速成绩。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分档</a:t>
            </a:r>
            <a:r>
              <a:rPr b="0" lang="en-US" sz="2000" spc="-1" strike="noStrike">
                <a:latin typeface="Arial"/>
              </a:rPr>
              <a:t>0.30</a:t>
            </a:r>
            <a:r>
              <a:rPr b="0" lang="zh-CN" sz="2000" spc="-1" strike="noStrike">
                <a:latin typeface="Arial"/>
              </a:rPr>
              <a:t>：失败，异常转向触发停车，失败耗时不计提速成绩。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评价对象是包含观察与精细操作的完整任务耗时。一次基准和两次最终配置的样本有限，不足以判断普遍成功率、全局最优速度或统计显著性。</a:t>
            </a:r>
            <a:r>
              <a:rPr b="0" lang="en-US" sz="2000" spc="-1" strike="noStrike">
                <a:latin typeface="Arial"/>
              </a:rPr>
              <a:t>165</a:t>
            </a:r>
            <a:r>
              <a:rPr b="0" lang="zh-CN" sz="2000" spc="-1" strike="noStrike">
                <a:latin typeface="Arial"/>
              </a:rPr>
              <a:t>项回归通过是当时保留的历史验证记录，不称本次重新执行。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</p:txBody>
      </p:sp>
      <p:sp>
        <p:nvSpPr>
          <p:cNvPr id="347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F6114C7-FB3D-476E-A7A7-C46B19F73F96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4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## </a:t>
            </a:r>
            <a:r>
              <a:rPr b="0" lang="zh-CN" sz="2000" spc="-1" strike="noStrike">
                <a:latin typeface="Arial"/>
              </a:rPr>
              <a:t>第</a:t>
            </a:r>
            <a:r>
              <a:rPr b="0" lang="en-US" sz="2000" spc="-1" strike="noStrike">
                <a:latin typeface="Arial"/>
              </a:rPr>
              <a:t>22</a:t>
            </a:r>
            <a:r>
              <a:rPr b="0" lang="zh-CN" sz="2000" spc="-1" strike="noStrike">
                <a:latin typeface="Arial"/>
              </a:rPr>
              <a:t>页 备份</a:t>
            </a:r>
            <a:r>
              <a:rPr b="0" lang="en-US" sz="2000" spc="-1" strike="noStrike">
                <a:latin typeface="Arial"/>
              </a:rPr>
              <a:t>E</a:t>
            </a:r>
            <a:r>
              <a:rPr b="0" lang="zh-CN" sz="2000" spc="-1" strike="noStrike">
                <a:latin typeface="Arial"/>
              </a:rPr>
              <a:t>：视觉指标与确认条件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**</a:t>
            </a:r>
            <a:r>
              <a:rPr b="0" lang="zh-CN" sz="2000" spc="-1" strike="noStrike">
                <a:latin typeface="Arial"/>
              </a:rPr>
              <a:t>累计时间：问答备用</a:t>
            </a:r>
            <a:r>
              <a:rPr b="0" lang="en-US" sz="2000" spc="-1" strike="noStrike">
                <a:latin typeface="Arial"/>
              </a:rPr>
              <a:t>**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模型合成验证：</a:t>
            </a:r>
            <a:r>
              <a:rPr b="0" lang="en-US" sz="2000" spc="-1" strike="noStrike">
                <a:latin typeface="Arial"/>
              </a:rPr>
              <a:t>160</a:t>
            </a:r>
            <a:r>
              <a:rPr b="0" lang="zh-CN" sz="2000" spc="-1" strike="noStrike">
                <a:latin typeface="Arial"/>
              </a:rPr>
              <a:t>张，</a:t>
            </a:r>
            <a:r>
              <a:rPr b="0" lang="en-US" sz="2000" spc="-1" strike="noStrike">
                <a:latin typeface="Arial"/>
              </a:rPr>
              <a:t>IoU≥0.50</a:t>
            </a:r>
            <a:r>
              <a:rPr b="0" lang="zh-CN" sz="2000" spc="-1" strike="noStrike">
                <a:latin typeface="Arial"/>
              </a:rPr>
              <a:t>，置信度</a:t>
            </a:r>
            <a:r>
              <a:rPr b="0" lang="en-US" sz="2000" spc="-1" strike="noStrike">
                <a:latin typeface="Arial"/>
              </a:rPr>
              <a:t>0.45</a:t>
            </a:r>
            <a:r>
              <a:rPr b="0" lang="zh-CN" sz="2000" spc="-1" strike="noStrike">
                <a:latin typeface="Arial"/>
              </a:rPr>
              <a:t>；</a:t>
            </a:r>
            <a:r>
              <a:rPr b="0" lang="en-US" sz="2000" spc="-1" strike="noStrike">
                <a:latin typeface="Arial"/>
              </a:rPr>
              <a:t>TP=131</a:t>
            </a:r>
            <a:r>
              <a:rPr b="0" lang="zh-CN" sz="2000" spc="-1" strike="noStrike">
                <a:latin typeface="Arial"/>
              </a:rPr>
              <a:t>、</a:t>
            </a:r>
            <a:r>
              <a:rPr b="0" lang="en-US" sz="2000" spc="-1" strike="noStrike">
                <a:latin typeface="Arial"/>
              </a:rPr>
              <a:t>FP=22</a:t>
            </a:r>
            <a:r>
              <a:rPr b="0" lang="zh-CN" sz="2000" spc="-1" strike="noStrike">
                <a:latin typeface="Arial"/>
              </a:rPr>
              <a:t>、漏检</a:t>
            </a:r>
            <a:r>
              <a:rPr b="0" lang="en-US" sz="2000" spc="-1" strike="noStrike">
                <a:latin typeface="Arial"/>
              </a:rPr>
              <a:t>=54</a:t>
            </a:r>
            <a:r>
              <a:rPr b="0" lang="zh-CN" sz="2000" spc="-1" strike="noStrike">
                <a:latin typeface="Arial"/>
              </a:rPr>
              <a:t>，</a:t>
            </a:r>
            <a:r>
              <a:rPr b="0" lang="en-US" sz="2000" spc="-1" strike="noStrike">
                <a:latin typeface="Arial"/>
              </a:rPr>
              <a:t>P=85.62%</a:t>
            </a:r>
            <a:r>
              <a:rPr b="0" lang="zh-CN" sz="2000" spc="-1" strike="noStrike">
                <a:latin typeface="Arial"/>
              </a:rPr>
              <a:t>、</a:t>
            </a:r>
            <a:r>
              <a:rPr b="0" lang="en-US" sz="2000" spc="-1" strike="noStrike">
                <a:latin typeface="Arial"/>
              </a:rPr>
              <a:t>R=70.81%</a:t>
            </a:r>
            <a:r>
              <a:rPr b="0" lang="zh-CN" sz="2000" spc="-1" strike="noStrike">
                <a:latin typeface="Arial"/>
              </a:rPr>
              <a:t>。</a:t>
            </a:r>
            <a:r>
              <a:rPr b="0" lang="en-US" sz="2000" spc="-1" strike="noStrike">
                <a:latin typeface="Arial"/>
              </a:rPr>
              <a:t>59</a:t>
            </a:r>
            <a:r>
              <a:rPr b="0" lang="zh-CN" sz="2000" spc="-1" strike="noStrike">
                <a:latin typeface="Arial"/>
              </a:rPr>
              <a:t>张无目标图中</a:t>
            </a:r>
            <a:r>
              <a:rPr b="0" lang="en-US" sz="2000" spc="-1" strike="noStrike">
                <a:latin typeface="Arial"/>
              </a:rPr>
              <a:t>2</a:t>
            </a:r>
            <a:r>
              <a:rPr b="0" lang="zh-CN" sz="2000" spc="-1" strike="noStrike">
                <a:latin typeface="Arial"/>
              </a:rPr>
              <a:t>张误报，图像级误报率</a:t>
            </a:r>
            <a:r>
              <a:rPr b="0" lang="en-US" sz="2000" spc="-1" strike="noStrike">
                <a:latin typeface="Arial"/>
              </a:rPr>
              <a:t>3.39%</a:t>
            </a:r>
            <a:r>
              <a:rPr b="0" lang="zh-CN" sz="2000" spc="-1" strike="noStrike">
                <a:latin typeface="Arial"/>
              </a:rPr>
              <a:t>。这些不是视频逐帧指标，也不是多级核验后整条工程链的准确率。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走廊事件确认：同一目标连续三个空间关联处理帧。当前显示框、历史类别计数和任务确认事件分别处理。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核心定位确认：至少四次有效观测，不要求连续。有效样本经过重投影、离群值筛选和位置融合。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完整任务集齐五类与四个标签，只证明任务级确认完整，不能宣称逐帧零误报、零漏报或</a:t>
            </a:r>
            <a:r>
              <a:rPr b="0" lang="en-US" sz="2000" spc="-1" strike="noStrike">
                <a:latin typeface="Arial"/>
              </a:rPr>
              <a:t>100%</a:t>
            </a:r>
            <a:r>
              <a:rPr b="0" lang="zh-CN" sz="2000" spc="-1" strike="noStrike">
                <a:latin typeface="Arial"/>
              </a:rPr>
              <a:t>准确。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红箱像素框来自独立箱体检测器，用于画面显示，不授予推障权限或直接控制导航。系统另有可配置的</a:t>
            </a:r>
            <a:r>
              <a:rPr b="0" lang="en-US" sz="2000" spc="-1" strike="noStrike">
                <a:latin typeface="Arial"/>
              </a:rPr>
              <a:t>SIFT/RANSAC/</a:t>
            </a:r>
            <a:r>
              <a:rPr b="0" lang="zh-CN" sz="2000" spc="-1" strike="noStrike">
                <a:latin typeface="Arial"/>
              </a:rPr>
              <a:t>颜色验证回退并告警，可配置禁用回退、缺权重即失败。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</p:txBody>
      </p:sp>
      <p:sp>
        <p:nvSpPr>
          <p:cNvPr id="350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98BA381-5C37-4DF5-BC9C-E8084ACE22BD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640" cy="3428640"/>
          </a:xfrm>
          <a:prstGeom prst="rect">
            <a:avLst/>
          </a:prstGeom>
          <a:ln w="0">
            <a:noFill/>
          </a:ln>
        </p:spPr>
      </p:sp>
      <p:sp>
        <p:nvSpPr>
          <p:cNvPr id="35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## </a:t>
            </a:r>
            <a:r>
              <a:rPr b="0" lang="zh-CN" sz="2000" spc="-1" strike="noStrike">
                <a:latin typeface="Arial"/>
              </a:rPr>
              <a:t>第</a:t>
            </a:r>
            <a:r>
              <a:rPr b="0" lang="en-US" sz="2000" spc="-1" strike="noStrike">
                <a:latin typeface="Arial"/>
              </a:rPr>
              <a:t>23</a:t>
            </a:r>
            <a:r>
              <a:rPr b="0" lang="zh-CN" sz="2000" spc="-1" strike="noStrike">
                <a:latin typeface="Arial"/>
              </a:rPr>
              <a:t>页 备份</a:t>
            </a:r>
            <a:r>
              <a:rPr b="0" lang="en-US" sz="2000" spc="-1" strike="noStrike">
                <a:latin typeface="Arial"/>
              </a:rPr>
              <a:t>F</a:t>
            </a:r>
            <a:r>
              <a:rPr b="0" lang="zh-CN" sz="2000" spc="-1" strike="noStrike">
                <a:latin typeface="Arial"/>
              </a:rPr>
              <a:t>：评委常见追问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en-US" sz="2000" spc="-1" strike="noStrike">
                <a:latin typeface="Arial"/>
              </a:rPr>
              <a:t>**</a:t>
            </a:r>
            <a:r>
              <a:rPr b="0" lang="zh-CN" sz="2000" spc="-1" strike="noStrike">
                <a:latin typeface="Arial"/>
              </a:rPr>
              <a:t>累计时间：问答备用</a:t>
            </a:r>
            <a:r>
              <a:rPr b="0" lang="en-US" sz="2000" spc="-1" strike="noStrike">
                <a:latin typeface="Arial"/>
              </a:rPr>
              <a:t>**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为何不是固定运动轨迹？</a:t>
            </a:r>
            <a:r>
              <a:rPr b="0" lang="en-US" sz="2000" spc="-1" strike="noStrike">
                <a:latin typeface="Arial"/>
              </a:rPr>
              <a:t>YAML</a:t>
            </a:r>
            <a:r>
              <a:rPr b="0" lang="zh-CN" sz="2000" spc="-1" strike="noStrike">
                <a:latin typeface="Arial"/>
              </a:rPr>
              <a:t>配置任务目标，</a:t>
            </a:r>
            <a:r>
              <a:rPr b="0" lang="en-US" sz="2000" spc="-1" strike="noStrike">
                <a:latin typeface="Arial"/>
              </a:rPr>
              <a:t>Nav2</a:t>
            </a:r>
            <a:r>
              <a:rPr b="0" lang="zh-CN" sz="2000" spc="-1" strike="noStrike">
                <a:latin typeface="Arial"/>
              </a:rPr>
              <a:t>根据当前地图规划路径，状态机等待到点和视觉确认；当前验证有场地先验，不宣称未知场景探索。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如何证明实体推障？展示</a:t>
            </a:r>
            <a:r>
              <a:rPr b="0" lang="en-US" sz="2000" spc="-1" strike="noStrike">
                <a:latin typeface="Arial"/>
              </a:rPr>
              <a:t>2 kg</a:t>
            </a:r>
            <a:r>
              <a:rPr b="0" lang="zh-CN" sz="2000" spc="-1" strike="noStrike">
                <a:latin typeface="Arial"/>
              </a:rPr>
              <a:t>动态箱体、真实接触推进画面及同次独立位移记录。控制是里程计闭环，暂未使用接触力传感器。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清地图会不会忽略障碍？清理区域有边界并排除固定墙体，同栅格需三次不同时间戳的自由证据，实时障碍层继续记录新位置。当前地图图展示原始栅格与允许区，不是实测前后对照。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云台更新了什么？模型增加对应的安装板、支柱、回转座等结构表达，相机由既有竖直旋转关节驱动，实际关节角参与</a:t>
            </a:r>
            <a:r>
              <a:rPr b="0" lang="en-US" sz="2000" spc="-1" strike="noStrike">
                <a:latin typeface="Arial"/>
              </a:rPr>
              <a:t>TF</a:t>
            </a:r>
            <a:r>
              <a:rPr b="0" lang="zh-CN" sz="2000" spc="-1" strike="noStrike">
                <a:latin typeface="Arial"/>
              </a:rPr>
              <a:t>。</a:t>
            </a:r>
            <a:r>
              <a:rPr b="0" lang="en-US" sz="2000" spc="-1" strike="noStrike">
                <a:latin typeface="Arial"/>
              </a:rPr>
              <a:t>PPT</a:t>
            </a:r>
            <a:r>
              <a:rPr b="0" lang="zh-CN" sz="2000" spc="-1" strike="noStrike">
                <a:latin typeface="Arial"/>
              </a:rPr>
              <a:t>图片与当前模型对应，不称增加了未经实现的俯仰轴。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为何不宣称基础算法原创？</a:t>
            </a:r>
            <a:r>
              <a:rPr b="0" lang="en-US" sz="2000" spc="-1" strike="noStrike">
                <a:latin typeface="Arial"/>
              </a:rPr>
              <a:t>ROS</a:t>
            </a:r>
            <a:r>
              <a:rPr b="0" lang="zh-CN" sz="2000" spc="-1" strike="noStrike">
                <a:latin typeface="Arial"/>
              </a:rPr>
              <a:t>、</a:t>
            </a:r>
            <a:r>
              <a:rPr b="0" lang="en-US" sz="2000" spc="-1" strike="noStrike">
                <a:latin typeface="Arial"/>
              </a:rPr>
              <a:t>Gazebo</a:t>
            </a:r>
            <a:r>
              <a:rPr b="0" lang="zh-CN" sz="2000" spc="-1" strike="noStrike">
                <a:latin typeface="Arial"/>
              </a:rPr>
              <a:t>、</a:t>
            </a:r>
            <a:r>
              <a:rPr b="0" lang="en-US" sz="2000" spc="-1" strike="noStrike">
                <a:latin typeface="Arial"/>
              </a:rPr>
              <a:t>Nav2</a:t>
            </a:r>
            <a:r>
              <a:rPr b="0" lang="zh-CN" sz="2000" spc="-1" strike="noStrike">
                <a:latin typeface="Arial"/>
              </a:rPr>
              <a:t>、</a:t>
            </a:r>
            <a:r>
              <a:rPr b="0" lang="en-US" sz="2000" spc="-1" strike="noStrike">
                <a:latin typeface="Arial"/>
              </a:rPr>
              <a:t>YOLOv5</a:t>
            </a:r>
            <a:r>
              <a:rPr b="0" lang="zh-CN" sz="2000" spc="-1" strike="noStrike">
                <a:latin typeface="Arial"/>
              </a:rPr>
              <a:t>、</a:t>
            </a:r>
            <a:r>
              <a:rPr b="0" lang="en-US" sz="2000" spc="-1" strike="noStrike">
                <a:latin typeface="Arial"/>
              </a:rPr>
              <a:t>AprilTag</a:t>
            </a:r>
            <a:r>
              <a:rPr b="0" lang="zh-CN" sz="2000" spc="-1" strike="noStrike">
                <a:latin typeface="Arial"/>
              </a:rPr>
              <a:t>等明确第三方归属，团队贡献落在场景、机构、核验、接触约束、任务控制与验收实现。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zh-CN" sz="2000" spc="-1" strike="noStrike">
                <a:latin typeface="Arial"/>
              </a:rPr>
              <a:t>如何复现？</a:t>
            </a:r>
            <a:r>
              <a:rPr b="0" lang="en-US" sz="2000" spc="-1" strike="noStrike">
                <a:latin typeface="Arial"/>
              </a:rPr>
              <a:t>Ubuntu 22.04</a:t>
            </a:r>
            <a:r>
              <a:rPr b="0" lang="zh-CN" sz="2000" spc="-1" strike="noStrike">
                <a:latin typeface="Arial"/>
              </a:rPr>
              <a:t>、</a:t>
            </a:r>
            <a:r>
              <a:rPr b="0" lang="en-US" sz="2000" spc="-1" strike="noStrike">
                <a:latin typeface="Arial"/>
              </a:rPr>
              <a:t>ROS 2 Humble</a:t>
            </a:r>
            <a:r>
              <a:rPr b="0" lang="zh-CN" sz="2000" spc="-1" strike="noStrike">
                <a:latin typeface="Arial"/>
              </a:rPr>
              <a:t>、</a:t>
            </a:r>
            <a:r>
              <a:rPr b="0" lang="en-US" sz="2000" spc="-1" strike="noStrike">
                <a:latin typeface="Arial"/>
              </a:rPr>
              <a:t>Gazebo 11</a:t>
            </a:r>
            <a:r>
              <a:rPr b="0" lang="zh-CN" sz="2000" spc="-1" strike="noStrike">
                <a:latin typeface="Arial"/>
              </a:rPr>
              <a:t>，一键</a:t>
            </a:r>
            <a:r>
              <a:rPr b="0" lang="en-US" sz="2000" spc="-1" strike="noStrike">
                <a:latin typeface="Arial"/>
              </a:rPr>
              <a:t>start.sh</a:t>
            </a:r>
            <a:r>
              <a:rPr b="0" lang="zh-CN" sz="2000" spc="-1" strike="noStrike">
                <a:latin typeface="Arial"/>
              </a:rPr>
              <a:t>与独立</a:t>
            </a:r>
            <a:r>
              <a:rPr b="0" lang="en-US" sz="2000" spc="-1" strike="noStrike">
                <a:latin typeface="Arial"/>
              </a:rPr>
              <a:t>YAML</a:t>
            </a:r>
            <a:r>
              <a:rPr b="0" lang="zh-CN" sz="2000" spc="-1" strike="noStrike">
                <a:latin typeface="Arial"/>
              </a:rPr>
              <a:t>配置。跨场景泛化与真实灾害场景效果尚未评估。</a:t>
            </a:r>
            <a:endParaRPr b="0" lang="en-US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en-US" sz="2000" spc="-1" strike="noStrike">
              <a:latin typeface="Arial"/>
            </a:endParaRPr>
          </a:p>
        </p:txBody>
      </p:sp>
      <p:sp>
        <p:nvSpPr>
          <p:cNvPr id="353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latin typeface="Times New Roman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BF0416B-0C3F-4370-8706-3F2A532CF2C7}" type="slidenum">
              <a:rPr b="0" lang="en-US" sz="1200" spc="-1" strike="noStrike">
                <a:latin typeface="Times New Roman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5DE84BA-03F6-4929-B8AC-361A24E6800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6843D38-6F8B-42B3-A680-B063AB266F4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F4C4448-5FF2-4BAD-B8E3-3531489E6CE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24FD04C-BC11-4C81-B64F-BE121FF4480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FC1EB55-9664-46A3-9A7A-ED9D522E17B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A2BD6FA-1978-4EA3-B7AE-D2A04AB8009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AA61009-396E-449A-9331-8C1F6F7A7FC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AAF068E-BBCA-4BFB-A4C0-A84BFFAF918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2281F48-1E36-4BF3-8B72-3E0E0C5CC15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03B0837-EDB0-4F58-A010-7232A213845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345998D-D223-4D45-9A39-11314AC26F3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9F8FEF3-C78E-48BC-885A-9C942607D9B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US" sz="12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US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US" sz="1400" spc="-1" strike="noStrike">
                <a:latin typeface="Times New Roman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53E7BEA-F11F-445D-BC9D-377B4FD57F04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video" Target="file:///home/c/AVS/avs_ws/submission/B09018834.mp4" TargetMode="External"/><Relationship Id="rId2" Type="http://schemas.microsoft.com/office/2007/relationships/media" Target="file:///home/c/AVS/avs_ws/submission/B09018834.mp4" TargetMode="External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26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1"/>
          <p:cNvSpPr/>
          <p:nvPr/>
        </p:nvSpPr>
        <p:spPr>
          <a:xfrm>
            <a:off x="311040" y="164520"/>
            <a:ext cx="11566800" cy="50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3100" spc="-1" strike="noStrike">
                <a:solidFill>
                  <a:srgbClr val="f4f7fc"/>
                </a:solidFill>
                <a:latin typeface="Noto Sans CJK SC"/>
              </a:rPr>
              <a:t>救援无人车仿真系统</a:t>
            </a:r>
            <a:endParaRPr b="0" lang="en-US" sz="3100" spc="-1" strike="noStrike">
              <a:latin typeface="Arial"/>
            </a:endParaRPr>
          </a:p>
        </p:txBody>
      </p:sp>
      <p:sp>
        <p:nvSpPr>
          <p:cNvPr id="48" name="TextBox 2"/>
          <p:cNvSpPr/>
          <p:nvPr/>
        </p:nvSpPr>
        <p:spPr>
          <a:xfrm>
            <a:off x="320040" y="786240"/>
            <a:ext cx="11521080" cy="29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800" spc="-1" strike="noStrike">
                <a:solidFill>
                  <a:srgbClr val="b8c7dc"/>
                </a:solidFill>
                <a:latin typeface="Noto Sans CJK SC"/>
              </a:rPr>
              <a:t>第十九届先进机器人及仿真技术大赛 </a:t>
            </a:r>
            <a:r>
              <a:rPr b="0" lang="en-US" sz="1800" spc="-1" strike="noStrike">
                <a:solidFill>
                  <a:srgbClr val="b8c7dc"/>
                </a:solidFill>
                <a:latin typeface="Noto Sans CJK SC"/>
              </a:rPr>
              <a:t>· </a:t>
            </a:r>
            <a:r>
              <a:rPr b="0" lang="zh-CN" sz="1800" spc="-1" strike="noStrike">
                <a:solidFill>
                  <a:srgbClr val="b8c7dc"/>
                </a:solidFill>
                <a:latin typeface="Noto Sans CJK SC"/>
              </a:rPr>
              <a:t>无人车仿真组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49" name="Rectangle 3"/>
          <p:cNvSpPr/>
          <p:nvPr/>
        </p:nvSpPr>
        <p:spPr>
          <a:xfrm>
            <a:off x="320040" y="6492240"/>
            <a:ext cx="11548440" cy="12600"/>
          </a:xfrm>
          <a:prstGeom prst="rect">
            <a:avLst/>
          </a:prstGeom>
          <a:solidFill>
            <a:srgbClr val="3b4c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0" name="TextBox 4"/>
          <p:cNvSpPr/>
          <p:nvPr/>
        </p:nvSpPr>
        <p:spPr>
          <a:xfrm>
            <a:off x="320040" y="6565320"/>
            <a:ext cx="10972440" cy="1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车辆结构：当前 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</a:rPr>
              <a:t>SDF 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几何渲染，与 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</a:rPr>
              <a:t>URDF 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可视结构对应。</a:t>
            </a:r>
            <a:endParaRPr b="0" lang="en-US" sz="1020" spc="-1" strike="noStrike">
              <a:latin typeface="Arial"/>
            </a:endParaRPr>
          </a:p>
        </p:txBody>
      </p:sp>
      <p:sp>
        <p:nvSpPr>
          <p:cNvPr id="51" name="TextBox 5"/>
          <p:cNvSpPr/>
          <p:nvPr/>
        </p:nvSpPr>
        <p:spPr>
          <a:xfrm>
            <a:off x="11421000" y="6537960"/>
            <a:ext cx="41112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1200" spc="-1" strike="noStrike">
                <a:solidFill>
                  <a:srgbClr val="42d5bb"/>
                </a:solidFill>
                <a:latin typeface="Noto Sans CJK SC"/>
              </a:rPr>
              <a:t>01</a:t>
            </a:r>
            <a:endParaRPr b="0" lang="en-US" sz="1200" spc="-1" strike="noStrike">
              <a:latin typeface="Arial"/>
            </a:endParaRPr>
          </a:p>
        </p:txBody>
      </p:sp>
      <p:pic>
        <p:nvPicPr>
          <p:cNvPr id="52" name="Picture 6" descr="vehicle_model.png"/>
          <p:cNvPicPr/>
          <p:nvPr/>
        </p:nvPicPr>
        <p:blipFill>
          <a:blip r:embed="rId1"/>
          <a:stretch/>
        </p:blipFill>
        <p:spPr>
          <a:xfrm>
            <a:off x="4617720" y="1239120"/>
            <a:ext cx="7223400" cy="5056200"/>
          </a:xfrm>
          <a:prstGeom prst="rect">
            <a:avLst/>
          </a:prstGeom>
          <a:ln w="0">
            <a:noFill/>
          </a:ln>
        </p:spPr>
      </p:pic>
      <p:sp>
        <p:nvSpPr>
          <p:cNvPr id="53" name="TextBox 7"/>
          <p:cNvSpPr/>
          <p:nvPr/>
        </p:nvSpPr>
        <p:spPr>
          <a:xfrm>
            <a:off x="502920" y="1600200"/>
            <a:ext cx="5120280" cy="99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2900" spc="-1" strike="noStrike">
                <a:solidFill>
                  <a:srgbClr val="f4f7fc"/>
                </a:solidFill>
                <a:latin typeface="Noto Sans CJK SC"/>
              </a:rPr>
              <a:t>巡检 </a:t>
            </a:r>
            <a:r>
              <a:rPr b="1" lang="en-US" sz="2900" spc="-1" strike="noStrike">
                <a:solidFill>
                  <a:srgbClr val="f4f7fc"/>
                </a:solidFill>
                <a:latin typeface="Noto Sans CJK SC"/>
              </a:rPr>
              <a:t>· </a:t>
            </a:r>
            <a:r>
              <a:rPr b="1" lang="zh-CN" sz="2900" spc="-1" strike="noStrike">
                <a:solidFill>
                  <a:srgbClr val="f4f7fc"/>
                </a:solidFill>
                <a:latin typeface="Noto Sans CJK SC"/>
              </a:rPr>
              <a:t>实体清障</a:t>
            </a:r>
            <a:endParaRPr b="0" lang="en-US" sz="2900" spc="-1" strike="noStrike">
              <a:latin typeface="Arial"/>
            </a:endParaRPr>
          </a:p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2900" spc="-1" strike="noStrike">
                <a:solidFill>
                  <a:srgbClr val="f4f7fc"/>
                </a:solidFill>
                <a:latin typeface="Noto Sans CJK SC"/>
              </a:rPr>
              <a:t>地图标定 </a:t>
            </a:r>
            <a:r>
              <a:rPr b="1" lang="en-US" sz="2900" spc="-1" strike="noStrike">
                <a:solidFill>
                  <a:srgbClr val="f4f7fc"/>
                </a:solidFill>
                <a:latin typeface="Noto Sans CJK SC"/>
              </a:rPr>
              <a:t>· </a:t>
            </a:r>
            <a:r>
              <a:rPr b="1" lang="zh-CN" sz="2900" spc="-1" strike="noStrike">
                <a:solidFill>
                  <a:srgbClr val="f4f7fc"/>
                </a:solidFill>
                <a:latin typeface="Noto Sans CJK SC"/>
              </a:rPr>
              <a:t>自主返航</a:t>
            </a:r>
            <a:endParaRPr b="0" lang="en-US" sz="2900" spc="-1" strike="noStrike">
              <a:latin typeface="Arial"/>
            </a:endParaRPr>
          </a:p>
        </p:txBody>
      </p:sp>
      <p:sp>
        <p:nvSpPr>
          <p:cNvPr id="54" name="TextBox 8"/>
          <p:cNvSpPr/>
          <p:nvPr/>
        </p:nvSpPr>
        <p:spPr>
          <a:xfrm>
            <a:off x="502920" y="3246120"/>
            <a:ext cx="5303160" cy="39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2400" spc="-1" strike="noStrike">
                <a:solidFill>
                  <a:srgbClr val="42d5bb"/>
                </a:solidFill>
                <a:latin typeface="Noto Sans CJK SC"/>
              </a:rPr>
              <a:t>Simulator  /  B09018834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55" name="TextBox 9"/>
          <p:cNvSpPr/>
          <p:nvPr/>
        </p:nvSpPr>
        <p:spPr>
          <a:xfrm>
            <a:off x="502920" y="3977640"/>
            <a:ext cx="5120280" cy="108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2000" spc="-1" strike="noStrike">
                <a:solidFill>
                  <a:srgbClr val="b8c7dc"/>
                </a:solidFill>
                <a:latin typeface="Noto Sans CJK SC"/>
              </a:rPr>
              <a:t>队长  陈莎莎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2000" spc="-1" strike="noStrike">
                <a:solidFill>
                  <a:srgbClr val="b8c7dc"/>
                </a:solidFill>
                <a:latin typeface="Noto Sans CJK SC"/>
              </a:rPr>
              <a:t>队员  梁辰瑜、赖丽燕、初冉</a:t>
            </a:r>
            <a:endParaRPr b="0" lang="en-US" sz="2000" spc="-1" strike="noStrike">
              <a:latin typeface="Arial"/>
            </a:endParaRPr>
          </a:p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2000" spc="-1" strike="noStrike">
                <a:solidFill>
                  <a:srgbClr val="b8c7dc"/>
                </a:solidFill>
                <a:latin typeface="Noto Sans CJK SC"/>
              </a:rPr>
              <a:t>指导教师  邓彦松</a:t>
            </a:r>
            <a:endParaRPr b="0" lang="en-US" sz="20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Box 1"/>
          <p:cNvSpPr/>
          <p:nvPr/>
        </p:nvSpPr>
        <p:spPr>
          <a:xfrm>
            <a:off x="311040" y="164520"/>
            <a:ext cx="11566800" cy="50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3100" spc="-1" strike="noStrike">
                <a:solidFill>
                  <a:srgbClr val="f4f7fc"/>
                </a:solidFill>
                <a:latin typeface="Noto Sans CJK SC"/>
              </a:rPr>
              <a:t>自建厂区：走廊巡检 → 清障入室 → 标定 → 返航</a:t>
            </a:r>
            <a:endParaRPr b="0" lang="en-US" sz="3100" spc="-1" strike="noStrike">
              <a:latin typeface="Arial"/>
            </a:endParaRPr>
          </a:p>
        </p:txBody>
      </p:sp>
      <p:sp>
        <p:nvSpPr>
          <p:cNvPr id="57" name="TextBox 2"/>
          <p:cNvSpPr/>
          <p:nvPr/>
        </p:nvSpPr>
        <p:spPr>
          <a:xfrm>
            <a:off x="320040" y="786240"/>
            <a:ext cx="11521080" cy="29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800" spc="-1" strike="noStrike">
                <a:solidFill>
                  <a:srgbClr val="b8c7dc"/>
                </a:solidFill>
                <a:latin typeface="Noto Sans CJK SC"/>
              </a:rPr>
              <a:t>本队场地 </a:t>
            </a:r>
            <a:r>
              <a:rPr b="0" lang="en-US" sz="1800" spc="-1" strike="noStrike">
                <a:solidFill>
                  <a:srgbClr val="b8c7dc"/>
                </a:solidFill>
                <a:latin typeface="Noto Sans CJK SC"/>
              </a:rPr>
              <a:t>3 × 3 m</a:t>
            </a:r>
            <a:r>
              <a:rPr b="0" lang="zh-CN" sz="1800" spc="-1" strike="noStrike">
                <a:solidFill>
                  <a:srgbClr val="b8c7dc"/>
                </a:solidFill>
                <a:latin typeface="Noto Sans CJK SC"/>
              </a:rPr>
              <a:t>，入口宽 </a:t>
            </a:r>
            <a:r>
              <a:rPr b="0" lang="en-US" sz="1800" spc="-1" strike="noStrike">
                <a:solidFill>
                  <a:srgbClr val="b8c7dc"/>
                </a:solidFill>
                <a:latin typeface="Noto Sans CJK SC"/>
              </a:rPr>
              <a:t>0.50 m</a:t>
            </a:r>
            <a:r>
              <a:rPr b="0" lang="zh-CN" sz="1800" spc="-1" strike="noStrike">
                <a:solidFill>
                  <a:srgbClr val="b8c7dc"/>
                </a:solidFill>
                <a:latin typeface="Noto Sans CJK SC"/>
              </a:rPr>
              <a:t>；九块标识图案各不相同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58" name="Rectangle 3"/>
          <p:cNvSpPr/>
          <p:nvPr/>
        </p:nvSpPr>
        <p:spPr>
          <a:xfrm>
            <a:off x="320040" y="6492240"/>
            <a:ext cx="11548440" cy="12600"/>
          </a:xfrm>
          <a:prstGeom prst="rect">
            <a:avLst/>
          </a:prstGeom>
          <a:solidFill>
            <a:srgbClr val="3b4c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9" name="TextBox 4"/>
          <p:cNvSpPr/>
          <p:nvPr/>
        </p:nvSpPr>
        <p:spPr>
          <a:xfrm>
            <a:off x="320040" y="6565320"/>
            <a:ext cx="10972440" cy="1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图：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</a:rPr>
              <a:t>2026-10-13 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同次 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</a:rPr>
              <a:t>Gazebo 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录屏及独立 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</a:rPr>
              <a:t>slam_toolbox 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留档；评分见本地 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</a:rPr>
              <a:t>B09 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规则。</a:t>
            </a:r>
            <a:endParaRPr b="0" lang="en-US" sz="1020" spc="-1" strike="noStrike">
              <a:latin typeface="Arial"/>
            </a:endParaRPr>
          </a:p>
        </p:txBody>
      </p:sp>
      <p:sp>
        <p:nvSpPr>
          <p:cNvPr id="60" name="TextBox 5"/>
          <p:cNvSpPr/>
          <p:nvPr/>
        </p:nvSpPr>
        <p:spPr>
          <a:xfrm>
            <a:off x="11421000" y="6537960"/>
            <a:ext cx="41112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1200" spc="-1" strike="noStrike">
                <a:solidFill>
                  <a:srgbClr val="42d5bb"/>
                </a:solidFill>
                <a:latin typeface="Noto Sans CJK SC"/>
              </a:rPr>
              <a:t>02</a:t>
            </a:r>
            <a:endParaRPr b="0" lang="en-US" sz="1200" spc="-1" strike="noStrike">
              <a:latin typeface="Arial"/>
            </a:endParaRPr>
          </a:p>
        </p:txBody>
      </p:sp>
      <p:pic>
        <p:nvPicPr>
          <p:cNvPr id="61" name="Picture 6" descr="scene.png"/>
          <p:cNvPicPr/>
          <p:nvPr/>
        </p:nvPicPr>
        <p:blipFill>
          <a:blip r:embed="rId1"/>
          <a:stretch/>
        </p:blipFill>
        <p:spPr>
          <a:xfrm>
            <a:off x="320040" y="1646280"/>
            <a:ext cx="6510240" cy="3656520"/>
          </a:xfrm>
          <a:prstGeom prst="rect">
            <a:avLst/>
          </a:prstGeom>
          <a:ln w="0">
            <a:noFill/>
          </a:ln>
        </p:spPr>
      </p:pic>
      <p:pic>
        <p:nvPicPr>
          <p:cNvPr id="62" name="Picture 7" descr="slam_map.png"/>
          <p:cNvPicPr/>
          <p:nvPr/>
        </p:nvPicPr>
        <p:blipFill>
          <a:blip r:embed="rId2"/>
          <a:stretch/>
        </p:blipFill>
        <p:spPr>
          <a:xfrm>
            <a:off x="7370280" y="1225440"/>
            <a:ext cx="4150440" cy="4498560"/>
          </a:xfrm>
          <a:prstGeom prst="rect">
            <a:avLst/>
          </a:prstGeom>
          <a:ln w="0">
            <a:noFill/>
          </a:ln>
        </p:spPr>
      </p:pic>
      <p:sp>
        <p:nvSpPr>
          <p:cNvPr id="63" name="TextBox 8"/>
          <p:cNvSpPr/>
          <p:nvPr/>
        </p:nvSpPr>
        <p:spPr>
          <a:xfrm>
            <a:off x="548640" y="5715000"/>
            <a:ext cx="6126120" cy="39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2400" spc="-1" strike="noStrike">
                <a:solidFill>
                  <a:srgbClr val="42d5bb"/>
                </a:solidFill>
                <a:latin typeface="Noto Sans CJK SC"/>
              </a:rPr>
              <a:t>自建 </a:t>
            </a:r>
            <a:r>
              <a:rPr b="1" lang="en-US" sz="2400" spc="-1" strike="noStrike">
                <a:solidFill>
                  <a:srgbClr val="42d5bb"/>
                </a:solidFill>
                <a:latin typeface="Noto Sans CJK SC"/>
              </a:rPr>
              <a:t>Gazebo </a:t>
            </a:r>
            <a:r>
              <a:rPr b="1" lang="zh-CN" sz="2400" spc="-1" strike="noStrike">
                <a:solidFill>
                  <a:srgbClr val="42d5bb"/>
                </a:solidFill>
                <a:latin typeface="Noto Sans CJK SC"/>
              </a:rPr>
              <a:t>场景</a:t>
            </a:r>
            <a:endParaRPr b="0" lang="en-US" sz="2400" spc="-1" strike="noStrike">
              <a:latin typeface="Arial"/>
            </a:endParaRPr>
          </a:p>
        </p:txBody>
      </p:sp>
      <p:sp>
        <p:nvSpPr>
          <p:cNvPr id="64" name="TextBox 9"/>
          <p:cNvSpPr/>
          <p:nvPr/>
        </p:nvSpPr>
        <p:spPr>
          <a:xfrm>
            <a:off x="7086600" y="5715000"/>
            <a:ext cx="4727160" cy="39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2400" spc="-1" strike="noStrike">
                <a:solidFill>
                  <a:srgbClr val="42d5bb"/>
                </a:solidFill>
                <a:latin typeface="Noto Sans CJK SC"/>
              </a:rPr>
              <a:t>在线 </a:t>
            </a:r>
            <a:r>
              <a:rPr b="1" lang="en-US" sz="2400" spc="-1" strike="noStrike">
                <a:solidFill>
                  <a:srgbClr val="42d5bb"/>
                </a:solidFill>
                <a:latin typeface="Noto Sans CJK SC"/>
              </a:rPr>
              <a:t>SLAM </a:t>
            </a:r>
            <a:r>
              <a:rPr b="1" lang="zh-CN" sz="2400" spc="-1" strike="noStrike">
                <a:solidFill>
                  <a:srgbClr val="42d5bb"/>
                </a:solidFill>
                <a:latin typeface="Noto Sans CJK SC"/>
              </a:rPr>
              <a:t>地图留档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" descr="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r:link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360" y="0"/>
            <a:ext cx="12192120" cy="6858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/>
          <p:nvPr/>
        </p:nvSpPr>
        <p:spPr>
          <a:xfrm>
            <a:off x="311040" y="164520"/>
            <a:ext cx="11566800" cy="50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3100" spc="-1" strike="noStrike">
                <a:solidFill>
                  <a:srgbClr val="f4f7fc"/>
                </a:solidFill>
                <a:latin typeface="Noto Sans CJK SC"/>
              </a:rPr>
              <a:t>新版云台与被动 </a:t>
            </a:r>
            <a:r>
              <a:rPr b="1" lang="en-US" sz="3100" spc="-1" strike="noStrike">
                <a:solidFill>
                  <a:srgbClr val="f4f7fc"/>
                </a:solidFill>
                <a:latin typeface="Noto Sans CJK SC"/>
              </a:rPr>
              <a:t>V </a:t>
            </a:r>
            <a:r>
              <a:rPr b="1" lang="zh-CN" sz="3100" spc="-1" strike="noStrike">
                <a:solidFill>
                  <a:srgbClr val="f4f7fc"/>
                </a:solidFill>
                <a:latin typeface="Noto Sans CJK SC"/>
              </a:rPr>
              <a:t>形推板</a:t>
            </a:r>
            <a:endParaRPr b="0" lang="en-US" sz="3100" spc="-1" strike="noStrike">
              <a:latin typeface="Arial"/>
            </a:endParaRPr>
          </a:p>
        </p:txBody>
      </p:sp>
      <p:sp>
        <p:nvSpPr>
          <p:cNvPr id="67" name="TextBox 2"/>
          <p:cNvSpPr/>
          <p:nvPr/>
        </p:nvSpPr>
        <p:spPr>
          <a:xfrm>
            <a:off x="320040" y="786240"/>
            <a:ext cx="11521080" cy="29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800" spc="-1" strike="noStrike">
                <a:solidFill>
                  <a:srgbClr val="b8c7dc"/>
                </a:solidFill>
                <a:latin typeface="Noto Sans CJK SC"/>
              </a:rPr>
              <a:t>安装底板 → 支撑柱 → 旋转底座；几何引导与受约束控制协同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68" name="Rectangle 3"/>
          <p:cNvSpPr/>
          <p:nvPr/>
        </p:nvSpPr>
        <p:spPr>
          <a:xfrm>
            <a:off x="320040" y="6492240"/>
            <a:ext cx="11548440" cy="12600"/>
          </a:xfrm>
          <a:prstGeom prst="rect">
            <a:avLst/>
          </a:prstGeom>
          <a:solidFill>
            <a:srgbClr val="3b4c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69" name="TextBox 4"/>
          <p:cNvSpPr/>
          <p:nvPr/>
        </p:nvSpPr>
        <p:spPr>
          <a:xfrm>
            <a:off x="320040" y="6565320"/>
            <a:ext cx="10972440" cy="1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图：当前 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</a:rPr>
              <a:t>rescue_rover/model.sdf 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等比例渲染；与 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</a:rPr>
              <a:t>urdf/rescue_rover.urdf 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对应。</a:t>
            </a:r>
            <a:endParaRPr b="0" lang="en-US" sz="1020" spc="-1" strike="noStrike">
              <a:latin typeface="Arial"/>
            </a:endParaRPr>
          </a:p>
        </p:txBody>
      </p:sp>
      <p:sp>
        <p:nvSpPr>
          <p:cNvPr id="70" name="TextBox 5"/>
          <p:cNvSpPr/>
          <p:nvPr/>
        </p:nvSpPr>
        <p:spPr>
          <a:xfrm>
            <a:off x="11421000" y="6537960"/>
            <a:ext cx="41112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1200" spc="-1" strike="noStrike">
                <a:solidFill>
                  <a:srgbClr val="42d5bb"/>
                </a:solidFill>
                <a:latin typeface="Noto Sans CJK SC"/>
              </a:rPr>
              <a:t>04</a:t>
            </a:r>
            <a:endParaRPr b="0" lang="en-US" sz="1200" spc="-1" strike="noStrike">
              <a:latin typeface="Arial"/>
            </a:endParaRPr>
          </a:p>
        </p:txBody>
      </p:sp>
      <p:pic>
        <p:nvPicPr>
          <p:cNvPr id="71" name="Picture 6" descr="vehicle_model.png"/>
          <p:cNvPicPr/>
          <p:nvPr/>
        </p:nvPicPr>
        <p:blipFill>
          <a:blip r:embed="rId1"/>
          <a:stretch/>
        </p:blipFill>
        <p:spPr>
          <a:xfrm>
            <a:off x="235080" y="1097280"/>
            <a:ext cx="7393320" cy="5175000"/>
          </a:xfrm>
          <a:prstGeom prst="rect">
            <a:avLst/>
          </a:prstGeom>
          <a:ln w="0">
            <a:noFill/>
          </a:ln>
        </p:spPr>
      </p:pic>
      <p:pic>
        <p:nvPicPr>
          <p:cNvPr id="72" name="Picture 7" descr="vehicle_model_1135_185_1665_735.png"/>
          <p:cNvPicPr/>
          <p:nvPr/>
        </p:nvPicPr>
        <p:blipFill>
          <a:blip r:embed="rId2"/>
          <a:stretch/>
        </p:blipFill>
        <p:spPr>
          <a:xfrm>
            <a:off x="8269920" y="1307520"/>
            <a:ext cx="3101400" cy="3218400"/>
          </a:xfrm>
          <a:prstGeom prst="rect">
            <a:avLst/>
          </a:prstGeom>
          <a:ln w="0">
            <a:noFill/>
          </a:ln>
        </p:spPr>
      </p:pic>
      <p:sp>
        <p:nvSpPr>
          <p:cNvPr id="73" name="Rectangle 8"/>
          <p:cNvSpPr/>
          <p:nvPr/>
        </p:nvSpPr>
        <p:spPr>
          <a:xfrm>
            <a:off x="5568840" y="5609880"/>
            <a:ext cx="1645560" cy="392760"/>
          </a:xfrm>
          <a:prstGeom prst="rect">
            <a:avLst/>
          </a:prstGeom>
          <a:solidFill>
            <a:srgbClr val="101b2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4" name="TextBox 9"/>
          <p:cNvSpPr/>
          <p:nvPr/>
        </p:nvSpPr>
        <p:spPr>
          <a:xfrm>
            <a:off x="5614560" y="5641920"/>
            <a:ext cx="155412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2200" spc="-1" strike="noStrike">
                <a:solidFill>
                  <a:srgbClr val="42d5bb"/>
                </a:solidFill>
                <a:latin typeface="Noto Sans CJK SC"/>
              </a:rPr>
              <a:t>V </a:t>
            </a:r>
            <a:r>
              <a:rPr b="1" lang="zh-CN" sz="2200" spc="-1" strike="noStrike">
                <a:solidFill>
                  <a:srgbClr val="42d5bb"/>
                </a:solidFill>
                <a:latin typeface="Noto Sans CJK SC"/>
              </a:rPr>
              <a:t>形推板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75" name="Connector 10"/>
          <p:cNvSpPr/>
          <p:nvPr/>
        </p:nvSpPr>
        <p:spPr>
          <a:xfrm flipH="1" flipV="1">
            <a:off x="6035040" y="4809600"/>
            <a:ext cx="356400" cy="1188720"/>
          </a:xfrm>
          <a:prstGeom prst="line">
            <a:avLst/>
          </a:prstGeom>
          <a:ln>
            <a:solidFill>
              <a:srgbClr val="42d5bb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76" name="Oval 11"/>
          <p:cNvSpPr/>
          <p:nvPr/>
        </p:nvSpPr>
        <p:spPr>
          <a:xfrm>
            <a:off x="5998320" y="4773240"/>
            <a:ext cx="72720" cy="72720"/>
          </a:xfrm>
          <a:prstGeom prst="ellipse">
            <a:avLst/>
          </a:prstGeom>
          <a:solidFill>
            <a:srgbClr val="42d5b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7" name="TextBox 12"/>
          <p:cNvSpPr/>
          <p:nvPr/>
        </p:nvSpPr>
        <p:spPr>
          <a:xfrm>
            <a:off x="7754040" y="4681800"/>
            <a:ext cx="411444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2200" spc="-1" strike="noStrike">
                <a:solidFill>
                  <a:srgbClr val="42d5bb"/>
                </a:solidFill>
                <a:latin typeface="Noto Sans CJK SC"/>
              </a:rPr>
              <a:t>云台安装结构（局部放大）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78" name="TextBox 13"/>
          <p:cNvSpPr/>
          <p:nvPr/>
        </p:nvSpPr>
        <p:spPr>
          <a:xfrm>
            <a:off x="7891200" y="5376600"/>
            <a:ext cx="3812760" cy="83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2400" spc="-1" strike="noStrike">
                <a:solidFill>
                  <a:srgbClr val="f4f7fc"/>
                </a:solidFill>
                <a:latin typeface="Noto Sans CJK SC"/>
              </a:rPr>
              <a:t>整车宽约 </a:t>
            </a:r>
            <a:r>
              <a:rPr b="1" lang="en-US" sz="2400" spc="-1" strike="noStrike">
                <a:solidFill>
                  <a:srgbClr val="f4f7fc"/>
                </a:solidFill>
                <a:latin typeface="Noto Sans CJK SC"/>
              </a:rPr>
              <a:t>0.285 m</a:t>
            </a:r>
            <a:endParaRPr b="0" lang="en-US" sz="2400" spc="-1" strike="noStrike">
              <a:latin typeface="Arial"/>
            </a:endParaRPr>
          </a:p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2400" spc="-1" strike="noStrike">
                <a:solidFill>
                  <a:srgbClr val="f4f7fc"/>
                </a:solidFill>
                <a:latin typeface="Noto Sans CJK SC"/>
              </a:rPr>
              <a:t>推板宽 </a:t>
            </a:r>
            <a:r>
              <a:rPr b="1" lang="en-US" sz="2400" spc="-1" strike="noStrike">
                <a:solidFill>
                  <a:srgbClr val="f4f7fc"/>
                </a:solidFill>
                <a:latin typeface="Noto Sans CJK SC"/>
              </a:rPr>
              <a:t>0.28 m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Box 1"/>
          <p:cNvSpPr/>
          <p:nvPr/>
        </p:nvSpPr>
        <p:spPr>
          <a:xfrm>
            <a:off x="311040" y="164520"/>
            <a:ext cx="11566800" cy="50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3100" spc="-1" strike="noStrike">
                <a:solidFill>
                  <a:srgbClr val="f4f7fc"/>
                </a:solidFill>
                <a:latin typeface="Noto Sans CJK SC"/>
              </a:rPr>
              <a:t>真实接触推障：对准、推进、脱离</a:t>
            </a:r>
            <a:endParaRPr b="0" lang="en-US" sz="3100" spc="-1" strike="noStrike">
              <a:latin typeface="Arial"/>
            </a:endParaRPr>
          </a:p>
        </p:txBody>
      </p:sp>
      <p:sp>
        <p:nvSpPr>
          <p:cNvPr id="80" name="TextBox 2"/>
          <p:cNvSpPr/>
          <p:nvPr/>
        </p:nvSpPr>
        <p:spPr>
          <a:xfrm>
            <a:off x="320040" y="786240"/>
            <a:ext cx="11521080" cy="29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en-US" sz="1800" spc="-1" strike="noStrike">
                <a:solidFill>
                  <a:srgbClr val="b8c7dc"/>
                </a:solidFill>
                <a:latin typeface="Noto Sans CJK SC"/>
              </a:rPr>
              <a:t>2 kg </a:t>
            </a:r>
            <a:r>
              <a:rPr b="0" lang="zh-CN" sz="1800" spc="-1" strike="noStrike">
                <a:solidFill>
                  <a:srgbClr val="b8c7dc"/>
                </a:solidFill>
                <a:latin typeface="Noto Sans CJK SC"/>
              </a:rPr>
              <a:t>动态箱体；</a:t>
            </a:r>
            <a:r>
              <a:rPr b="0" lang="en-US" sz="1800" spc="-1" strike="noStrike">
                <a:solidFill>
                  <a:srgbClr val="b8c7dc"/>
                </a:solidFill>
                <a:latin typeface="Noto Sans CJK SC"/>
              </a:rPr>
              <a:t>0.10 m/s </a:t>
            </a:r>
            <a:r>
              <a:rPr b="0" lang="zh-CN" sz="1800" spc="-1" strike="noStrike">
                <a:solidFill>
                  <a:srgbClr val="b8c7dc"/>
                </a:solidFill>
                <a:latin typeface="Noto Sans CJK SC"/>
              </a:rPr>
              <a:t>闭环推障；里程计推进目标 </a:t>
            </a:r>
            <a:r>
              <a:rPr b="0" lang="en-US" sz="1800" spc="-1" strike="noStrike">
                <a:solidFill>
                  <a:srgbClr val="b8c7dc"/>
                </a:solidFill>
                <a:latin typeface="Noto Sans CJK SC"/>
              </a:rPr>
              <a:t>1.08 m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81" name="Rectangle 3"/>
          <p:cNvSpPr/>
          <p:nvPr/>
        </p:nvSpPr>
        <p:spPr>
          <a:xfrm>
            <a:off x="320040" y="6492240"/>
            <a:ext cx="11548440" cy="12600"/>
          </a:xfrm>
          <a:prstGeom prst="rect">
            <a:avLst/>
          </a:prstGeom>
          <a:solidFill>
            <a:srgbClr val="3b4c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2" name="TextBox 4"/>
          <p:cNvSpPr/>
          <p:nvPr/>
        </p:nvSpPr>
        <p:spPr>
          <a:xfrm>
            <a:off x="320040" y="6565320"/>
            <a:ext cx="10972440" cy="1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三图：新版同次录屏 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</a:rPr>
              <a:t>00:47 / 00:53 / 00:59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，裁去界面背景；框、车辆与箱体原样保留。</a:t>
            </a:r>
            <a:endParaRPr b="0" lang="en-US" sz="1020" spc="-1" strike="noStrike">
              <a:latin typeface="Arial"/>
            </a:endParaRPr>
          </a:p>
        </p:txBody>
      </p:sp>
      <p:sp>
        <p:nvSpPr>
          <p:cNvPr id="83" name="TextBox 5"/>
          <p:cNvSpPr/>
          <p:nvPr/>
        </p:nvSpPr>
        <p:spPr>
          <a:xfrm>
            <a:off x="11421000" y="6537960"/>
            <a:ext cx="41112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1200" spc="-1" strike="noStrike">
                <a:solidFill>
                  <a:srgbClr val="42d5bb"/>
                </a:solidFill>
                <a:latin typeface="Noto Sans CJK SC"/>
              </a:rPr>
              <a:t>05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84" name="TextBox 6"/>
          <p:cNvSpPr/>
          <p:nvPr/>
        </p:nvSpPr>
        <p:spPr>
          <a:xfrm>
            <a:off x="320040" y="1188720"/>
            <a:ext cx="3721320" cy="40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2500" spc="-1" strike="noStrike">
                <a:solidFill>
                  <a:srgbClr val="42d5bb"/>
                </a:solidFill>
                <a:latin typeface="Noto Sans CJK SC"/>
              </a:rPr>
              <a:t>① </a:t>
            </a:r>
            <a:r>
              <a:rPr b="1" lang="zh-CN" sz="2500" spc="-1" strike="noStrike">
                <a:solidFill>
                  <a:srgbClr val="42d5bb"/>
                </a:solidFill>
                <a:latin typeface="Noto Sans CJK SC"/>
              </a:rPr>
              <a:t>对准入口</a:t>
            </a:r>
            <a:endParaRPr b="0" lang="en-US" sz="2500" spc="-1" strike="noStrike">
              <a:latin typeface="Arial"/>
            </a:endParaRPr>
          </a:p>
        </p:txBody>
      </p:sp>
      <p:pic>
        <p:nvPicPr>
          <p:cNvPr id="85" name="Picture 7" descr="push_before.png"/>
          <p:cNvPicPr/>
          <p:nvPr/>
        </p:nvPicPr>
        <p:blipFill>
          <a:blip r:embed="rId1"/>
          <a:stretch/>
        </p:blipFill>
        <p:spPr>
          <a:xfrm>
            <a:off x="344520" y="1737360"/>
            <a:ext cx="3672360" cy="4407120"/>
          </a:xfrm>
          <a:prstGeom prst="rect">
            <a:avLst/>
          </a:prstGeom>
          <a:ln w="0">
            <a:noFill/>
          </a:ln>
        </p:spPr>
      </p:pic>
      <p:sp>
        <p:nvSpPr>
          <p:cNvPr id="86" name="TextBox 8"/>
          <p:cNvSpPr/>
          <p:nvPr/>
        </p:nvSpPr>
        <p:spPr>
          <a:xfrm>
            <a:off x="4233600" y="1188720"/>
            <a:ext cx="3721320" cy="40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2500" spc="-1" strike="noStrike">
                <a:solidFill>
                  <a:srgbClr val="42d5bb"/>
                </a:solidFill>
                <a:latin typeface="Noto Sans CJK SC"/>
              </a:rPr>
              <a:t>② </a:t>
            </a:r>
            <a:r>
              <a:rPr b="1" lang="zh-CN" sz="2500" spc="-1" strike="noStrike">
                <a:solidFill>
                  <a:srgbClr val="42d5bb"/>
                </a:solidFill>
                <a:latin typeface="Noto Sans CJK SC"/>
              </a:rPr>
              <a:t>实体推进</a:t>
            </a:r>
            <a:endParaRPr b="0" lang="en-US" sz="2500" spc="-1" strike="noStrike">
              <a:latin typeface="Arial"/>
            </a:endParaRPr>
          </a:p>
        </p:txBody>
      </p:sp>
      <p:pic>
        <p:nvPicPr>
          <p:cNvPr id="87" name="Picture 9" descr="push_during.png"/>
          <p:cNvPicPr/>
          <p:nvPr/>
        </p:nvPicPr>
        <p:blipFill>
          <a:blip r:embed="rId2"/>
          <a:stretch/>
        </p:blipFill>
        <p:spPr>
          <a:xfrm>
            <a:off x="4258080" y="1737360"/>
            <a:ext cx="3672360" cy="4407120"/>
          </a:xfrm>
          <a:prstGeom prst="rect">
            <a:avLst/>
          </a:prstGeom>
          <a:ln w="0">
            <a:noFill/>
          </a:ln>
        </p:spPr>
      </p:pic>
      <p:sp>
        <p:nvSpPr>
          <p:cNvPr id="88" name="TextBox 10"/>
          <p:cNvSpPr/>
          <p:nvPr/>
        </p:nvSpPr>
        <p:spPr>
          <a:xfrm>
            <a:off x="8147160" y="1188720"/>
            <a:ext cx="3721320" cy="40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2500" spc="-1" strike="noStrike">
                <a:solidFill>
                  <a:srgbClr val="42d5bb"/>
                </a:solidFill>
                <a:latin typeface="Noto Sans CJK SC"/>
              </a:rPr>
              <a:t>③ </a:t>
            </a:r>
            <a:r>
              <a:rPr b="1" lang="zh-CN" sz="2500" spc="-1" strike="noStrike">
                <a:solidFill>
                  <a:srgbClr val="42d5bb"/>
                </a:solidFill>
                <a:latin typeface="Noto Sans CJK SC"/>
              </a:rPr>
              <a:t>转向脱离</a:t>
            </a:r>
            <a:endParaRPr b="0" lang="en-US" sz="2500" spc="-1" strike="noStrike">
              <a:latin typeface="Arial"/>
            </a:endParaRPr>
          </a:p>
        </p:txBody>
      </p:sp>
      <p:pic>
        <p:nvPicPr>
          <p:cNvPr id="89" name="Picture 11" descr="push_after.png"/>
          <p:cNvPicPr/>
          <p:nvPr/>
        </p:nvPicPr>
        <p:blipFill>
          <a:blip r:embed="rId3"/>
          <a:stretch/>
        </p:blipFill>
        <p:spPr>
          <a:xfrm>
            <a:off x="8171640" y="1737360"/>
            <a:ext cx="3672360" cy="4407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Box 1"/>
          <p:cNvSpPr/>
          <p:nvPr/>
        </p:nvSpPr>
        <p:spPr>
          <a:xfrm>
            <a:off x="311040" y="164520"/>
            <a:ext cx="11566800" cy="50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3100" spc="-1" strike="noStrike">
                <a:solidFill>
                  <a:srgbClr val="f4f7fc"/>
                </a:solidFill>
                <a:latin typeface="Noto Sans CJK SC"/>
              </a:rPr>
              <a:t>主动接触的安全边界：保护完整车体</a:t>
            </a:r>
            <a:endParaRPr b="0" lang="en-US" sz="3100" spc="-1" strike="noStrike">
              <a:latin typeface="Arial"/>
            </a:endParaRPr>
          </a:p>
        </p:txBody>
      </p:sp>
      <p:sp>
        <p:nvSpPr>
          <p:cNvPr id="91" name="TextBox 2"/>
          <p:cNvSpPr/>
          <p:nvPr/>
        </p:nvSpPr>
        <p:spPr>
          <a:xfrm>
            <a:off x="320040" y="786240"/>
            <a:ext cx="11521080" cy="29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800" spc="-1" strike="noStrike">
                <a:solidFill>
                  <a:srgbClr val="b8c7dc"/>
                </a:solidFill>
                <a:latin typeface="Noto Sans CJK SC"/>
              </a:rPr>
              <a:t>推板也在停车扫掠范围内；检查指令速度与实际惯性速度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92" name="Rectangle 3"/>
          <p:cNvSpPr/>
          <p:nvPr/>
        </p:nvSpPr>
        <p:spPr>
          <a:xfrm>
            <a:off x="320040" y="6492240"/>
            <a:ext cx="11548440" cy="12600"/>
          </a:xfrm>
          <a:prstGeom prst="rect">
            <a:avLst/>
          </a:prstGeom>
          <a:solidFill>
            <a:srgbClr val="3b4c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3" name="TextBox 4"/>
          <p:cNvSpPr/>
          <p:nvPr/>
        </p:nvSpPr>
        <p:spPr>
          <a:xfrm>
            <a:off x="320040" y="6565320"/>
            <a:ext cx="10972440" cy="1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图源：创新点 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</a:rPr>
              <a:t>PPT 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第 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</a:rPr>
              <a:t>5 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页；当前 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</a:rPr>
              <a:t>footprint 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与 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</a:rPr>
              <a:t>motion_safety.py 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绘制的保护原理。</a:t>
            </a:r>
            <a:endParaRPr b="0" lang="en-US" sz="1020" spc="-1" strike="noStrike">
              <a:latin typeface="Arial"/>
            </a:endParaRPr>
          </a:p>
        </p:txBody>
      </p:sp>
      <p:sp>
        <p:nvSpPr>
          <p:cNvPr id="94" name="TextBox 5"/>
          <p:cNvSpPr/>
          <p:nvPr/>
        </p:nvSpPr>
        <p:spPr>
          <a:xfrm>
            <a:off x="11421000" y="6537960"/>
            <a:ext cx="41112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1200" spc="-1" strike="noStrike">
                <a:solidFill>
                  <a:srgbClr val="42d5bb"/>
                </a:solidFill>
                <a:latin typeface="Noto Sans CJK SC"/>
              </a:rPr>
              <a:t>06</a:t>
            </a:r>
            <a:endParaRPr b="0" lang="en-US" sz="1200" spc="-1" strike="noStrike">
              <a:latin typeface="Arial"/>
            </a:endParaRPr>
          </a:p>
        </p:txBody>
      </p:sp>
      <p:pic>
        <p:nvPicPr>
          <p:cNvPr id="95" name="Picture 6" descr="完整轮廓停车保护示意.png"/>
          <p:cNvPicPr/>
          <p:nvPr/>
        </p:nvPicPr>
        <p:blipFill>
          <a:blip r:embed="rId1"/>
          <a:stretch/>
        </p:blipFill>
        <p:spPr>
          <a:xfrm>
            <a:off x="330120" y="1143000"/>
            <a:ext cx="11528280" cy="4854960"/>
          </a:xfrm>
          <a:prstGeom prst="rect">
            <a:avLst/>
          </a:prstGeom>
          <a:ln w="0">
            <a:noFill/>
          </a:ln>
        </p:spPr>
      </p:pic>
      <p:sp>
        <p:nvSpPr>
          <p:cNvPr id="96" name="Rectangle 7"/>
          <p:cNvSpPr/>
          <p:nvPr/>
        </p:nvSpPr>
        <p:spPr>
          <a:xfrm>
            <a:off x="320040" y="5989320"/>
            <a:ext cx="11548440" cy="438480"/>
          </a:xfrm>
          <a:prstGeom prst="rect">
            <a:avLst/>
          </a:prstGeom>
          <a:solidFill>
            <a:srgbClr val="1d2c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7" name="TextBox 8"/>
          <p:cNvSpPr/>
          <p:nvPr/>
        </p:nvSpPr>
        <p:spPr>
          <a:xfrm>
            <a:off x="466200" y="6039720"/>
            <a:ext cx="11246760" cy="374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2300" spc="-1" strike="noStrike">
                <a:solidFill>
                  <a:srgbClr val="42d5bb"/>
                </a:solidFill>
                <a:latin typeface="Noto Sans CJK SC"/>
              </a:rPr>
              <a:t>低速前方接触 </a:t>
            </a:r>
            <a:r>
              <a:rPr b="1" lang="en-US" sz="2300" spc="-1" strike="noStrike">
                <a:solidFill>
                  <a:srgbClr val="42d5bb"/>
                </a:solidFill>
                <a:latin typeface="Noto Sans CJK SC"/>
              </a:rPr>
              <a:t>· </a:t>
            </a:r>
            <a:r>
              <a:rPr b="1" lang="zh-CN" sz="2300" spc="-1" strike="noStrike">
                <a:solidFill>
                  <a:srgbClr val="42d5bb"/>
                </a:solidFill>
                <a:latin typeface="Noto Sans CJK SC"/>
              </a:rPr>
              <a:t>侧后继续保护 </a:t>
            </a:r>
            <a:r>
              <a:rPr b="1" lang="en-US" sz="2300" spc="-1" strike="noStrike">
                <a:solidFill>
                  <a:srgbClr val="42d5bb"/>
                </a:solidFill>
                <a:latin typeface="Noto Sans CJK SC"/>
              </a:rPr>
              <a:t>· </a:t>
            </a:r>
            <a:r>
              <a:rPr b="1" lang="zh-CN" sz="2300" spc="-1" strike="noStrike">
                <a:solidFill>
                  <a:srgbClr val="42d5bb"/>
                </a:solidFill>
                <a:latin typeface="Noto Sans CJK SC"/>
              </a:rPr>
              <a:t>脱离 ≤</a:t>
            </a:r>
            <a:r>
              <a:rPr b="1" lang="en-US" sz="2300" spc="-1" strike="noStrike">
                <a:solidFill>
                  <a:srgbClr val="42d5bb"/>
                </a:solidFill>
                <a:latin typeface="Noto Sans CJK SC"/>
              </a:rPr>
              <a:t>12 s / ≤6 cm</a:t>
            </a:r>
            <a:endParaRPr b="0" lang="en-US" sz="2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extBox 1"/>
          <p:cNvSpPr/>
          <p:nvPr/>
        </p:nvSpPr>
        <p:spPr>
          <a:xfrm>
            <a:off x="311040" y="164520"/>
            <a:ext cx="11566800" cy="50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3100" spc="-1" strike="noStrike">
                <a:solidFill>
                  <a:srgbClr val="f4f7fc"/>
                </a:solidFill>
                <a:latin typeface="Noto Sans CJK SC"/>
              </a:rPr>
              <a:t>云台左右观察，任务等待多帧确认</a:t>
            </a:r>
            <a:endParaRPr b="0" lang="en-US" sz="3100" spc="-1" strike="noStrike">
              <a:latin typeface="Arial"/>
            </a:endParaRPr>
          </a:p>
        </p:txBody>
      </p:sp>
      <p:sp>
        <p:nvSpPr>
          <p:cNvPr id="99" name="TextBox 2"/>
          <p:cNvSpPr/>
          <p:nvPr/>
        </p:nvSpPr>
        <p:spPr>
          <a:xfrm>
            <a:off x="320040" y="786240"/>
            <a:ext cx="11521080" cy="29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800" spc="-1" strike="noStrike">
                <a:solidFill>
                  <a:srgbClr val="b8c7dc"/>
                </a:solidFill>
                <a:latin typeface="Noto Sans CJK SC"/>
              </a:rPr>
              <a:t>到观察点 → 确认停车 → 扫描 → 连续 </a:t>
            </a:r>
            <a:r>
              <a:rPr b="0" lang="en-US" sz="1800" spc="-1" strike="noStrike">
                <a:solidFill>
                  <a:srgbClr val="b8c7dc"/>
                </a:solidFill>
                <a:latin typeface="Noto Sans CJK SC"/>
              </a:rPr>
              <a:t>3 </a:t>
            </a:r>
            <a:r>
              <a:rPr b="0" lang="zh-CN" sz="1800" spc="-1" strike="noStrike">
                <a:solidFill>
                  <a:srgbClr val="b8c7dc"/>
                </a:solidFill>
                <a:latin typeface="Noto Sans CJK SC"/>
              </a:rPr>
              <a:t>个关联处理帧 → 继续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0" name="Rectangle 3"/>
          <p:cNvSpPr/>
          <p:nvPr/>
        </p:nvSpPr>
        <p:spPr>
          <a:xfrm>
            <a:off x="320040" y="6492240"/>
            <a:ext cx="11548440" cy="12600"/>
          </a:xfrm>
          <a:prstGeom prst="rect">
            <a:avLst/>
          </a:prstGeom>
          <a:solidFill>
            <a:srgbClr val="3b4c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1" name="TextBox 4"/>
          <p:cNvSpPr/>
          <p:nvPr/>
        </p:nvSpPr>
        <p:spPr>
          <a:xfrm>
            <a:off x="320040" y="6565320"/>
            <a:ext cx="10972440" cy="1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图：创新点 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</a:rPr>
              <a:t>PPT 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第 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</a:rPr>
              <a:t>2 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页，同一停车点两个扫视时刻；用于机制说明，与本次量化结果分开。</a:t>
            </a:r>
            <a:endParaRPr b="0" lang="en-US" sz="1020" spc="-1" strike="noStrike">
              <a:latin typeface="Arial"/>
            </a:endParaRPr>
          </a:p>
        </p:txBody>
      </p:sp>
      <p:sp>
        <p:nvSpPr>
          <p:cNvPr id="102" name="TextBox 5"/>
          <p:cNvSpPr/>
          <p:nvPr/>
        </p:nvSpPr>
        <p:spPr>
          <a:xfrm>
            <a:off x="11421000" y="6537960"/>
            <a:ext cx="41112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1200" spc="-1" strike="noStrike">
                <a:solidFill>
                  <a:srgbClr val="42d5bb"/>
                </a:solidFill>
                <a:latin typeface="Noto Sans CJK SC"/>
              </a:rPr>
              <a:t>07</a:t>
            </a:r>
            <a:endParaRPr b="0" lang="en-US" sz="1200" spc="-1" strike="noStrike">
              <a:latin typeface="Arial"/>
            </a:endParaRPr>
          </a:p>
        </p:txBody>
      </p:sp>
      <p:pic>
        <p:nvPicPr>
          <p:cNvPr id="103" name="Picture 6" descr="scan_stop_A.png"/>
          <p:cNvPicPr/>
          <p:nvPr/>
        </p:nvPicPr>
        <p:blipFill>
          <a:blip r:embed="rId1"/>
          <a:stretch/>
        </p:blipFill>
        <p:spPr>
          <a:xfrm>
            <a:off x="320040" y="1230840"/>
            <a:ext cx="5677920" cy="4258440"/>
          </a:xfrm>
          <a:prstGeom prst="rect">
            <a:avLst/>
          </a:prstGeom>
          <a:ln w="0">
            <a:noFill/>
          </a:ln>
        </p:spPr>
      </p:pic>
      <p:sp>
        <p:nvSpPr>
          <p:cNvPr id="104" name="TextBox 7"/>
          <p:cNvSpPr/>
          <p:nvPr/>
        </p:nvSpPr>
        <p:spPr>
          <a:xfrm>
            <a:off x="320040" y="5696640"/>
            <a:ext cx="567792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2500" spc="-1" strike="noStrike">
                <a:solidFill>
                  <a:srgbClr val="42d5bb"/>
                </a:solidFill>
                <a:latin typeface="Noto Sans CJK SC"/>
              </a:rPr>
              <a:t>扫视时刻 </a:t>
            </a:r>
            <a:r>
              <a:rPr b="1" lang="en-US" sz="2500" spc="-1" strike="noStrike">
                <a:solidFill>
                  <a:srgbClr val="42d5bb"/>
                </a:solidFill>
                <a:latin typeface="Noto Sans CJK SC"/>
              </a:rPr>
              <a:t>A</a:t>
            </a:r>
            <a:endParaRPr b="0" lang="en-US" sz="2500" spc="-1" strike="noStrike">
              <a:latin typeface="Arial"/>
            </a:endParaRPr>
          </a:p>
        </p:txBody>
      </p:sp>
      <p:pic>
        <p:nvPicPr>
          <p:cNvPr id="105" name="Picture 8" descr="scan_stop_B.png"/>
          <p:cNvPicPr/>
          <p:nvPr/>
        </p:nvPicPr>
        <p:blipFill>
          <a:blip r:embed="rId2"/>
          <a:stretch/>
        </p:blipFill>
        <p:spPr>
          <a:xfrm>
            <a:off x="6190560" y="1230840"/>
            <a:ext cx="5677920" cy="4258440"/>
          </a:xfrm>
          <a:prstGeom prst="rect">
            <a:avLst/>
          </a:prstGeom>
          <a:ln w="0">
            <a:noFill/>
          </a:ln>
        </p:spPr>
      </p:pic>
      <p:sp>
        <p:nvSpPr>
          <p:cNvPr id="106" name="TextBox 9"/>
          <p:cNvSpPr/>
          <p:nvPr/>
        </p:nvSpPr>
        <p:spPr>
          <a:xfrm>
            <a:off x="6190560" y="5696640"/>
            <a:ext cx="5677920" cy="40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2500" spc="-1" strike="noStrike">
                <a:solidFill>
                  <a:srgbClr val="42d5bb"/>
                </a:solidFill>
                <a:latin typeface="Noto Sans CJK SC"/>
              </a:rPr>
              <a:t>扫视时刻 </a:t>
            </a:r>
            <a:r>
              <a:rPr b="1" lang="en-US" sz="2500" spc="-1" strike="noStrike">
                <a:solidFill>
                  <a:srgbClr val="42d5bb"/>
                </a:solidFill>
                <a:latin typeface="Noto Sans CJK SC"/>
              </a:rPr>
              <a:t>B</a:t>
            </a:r>
            <a:endParaRPr b="0" lang="en-US" sz="2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extBox 1"/>
          <p:cNvSpPr/>
          <p:nvPr/>
        </p:nvSpPr>
        <p:spPr>
          <a:xfrm>
            <a:off x="311040" y="164520"/>
            <a:ext cx="11566800" cy="50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3100" spc="-1" strike="noStrike">
                <a:solidFill>
                  <a:srgbClr val="f4f7fc"/>
                </a:solidFill>
                <a:latin typeface="Noto Sans CJK SC"/>
              </a:rPr>
              <a:t>走廊识别：火灾、化学、辐射</a:t>
            </a:r>
            <a:endParaRPr b="0" lang="en-US" sz="3100" spc="-1" strike="noStrike">
              <a:latin typeface="Arial"/>
            </a:endParaRPr>
          </a:p>
        </p:txBody>
      </p:sp>
      <p:sp>
        <p:nvSpPr>
          <p:cNvPr id="108" name="TextBox 2"/>
          <p:cNvSpPr/>
          <p:nvPr/>
        </p:nvSpPr>
        <p:spPr>
          <a:xfrm>
            <a:off x="320040" y="786240"/>
            <a:ext cx="11521080" cy="29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800" spc="-1" strike="noStrike">
                <a:solidFill>
                  <a:srgbClr val="b8c7dc"/>
                </a:solidFill>
                <a:latin typeface="Noto Sans CJK SC"/>
              </a:rPr>
              <a:t>绿色框为当前图案分类；三帧确认事件与单帧显示框分别记录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09" name="Rectangle 3"/>
          <p:cNvSpPr/>
          <p:nvPr/>
        </p:nvSpPr>
        <p:spPr>
          <a:xfrm>
            <a:off x="320040" y="6492240"/>
            <a:ext cx="11548440" cy="12600"/>
          </a:xfrm>
          <a:prstGeom prst="rect">
            <a:avLst/>
          </a:prstGeom>
          <a:solidFill>
            <a:srgbClr val="3b4c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0" name="TextBox 4"/>
          <p:cNvSpPr/>
          <p:nvPr/>
        </p:nvSpPr>
        <p:spPr>
          <a:xfrm>
            <a:off x="320040" y="6565320"/>
            <a:ext cx="10972440" cy="1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相机图：新版同次运行，保留原检测框与类别；原图与裁剪坐标见素材来源记录。</a:t>
            </a:r>
            <a:endParaRPr b="0" lang="en-US" sz="1020" spc="-1" strike="noStrike">
              <a:latin typeface="Arial"/>
            </a:endParaRPr>
          </a:p>
        </p:txBody>
      </p:sp>
      <p:sp>
        <p:nvSpPr>
          <p:cNvPr id="111" name="TextBox 5"/>
          <p:cNvSpPr/>
          <p:nvPr/>
        </p:nvSpPr>
        <p:spPr>
          <a:xfrm>
            <a:off x="11421000" y="6537960"/>
            <a:ext cx="41112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1200" spc="-1" strike="noStrike">
                <a:solidFill>
                  <a:srgbClr val="42d5bb"/>
                </a:solidFill>
                <a:latin typeface="Noto Sans CJK SC"/>
              </a:rPr>
              <a:t>08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12" name="TextBox 6"/>
          <p:cNvSpPr/>
          <p:nvPr/>
        </p:nvSpPr>
        <p:spPr>
          <a:xfrm>
            <a:off x="320040" y="1161360"/>
            <a:ext cx="3721320" cy="37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2300" spc="-1" strike="noStrike">
                <a:solidFill>
                  <a:srgbClr val="42d5bb"/>
                </a:solidFill>
                <a:latin typeface="Noto Sans CJK SC"/>
              </a:rPr>
              <a:t>火灾 </a:t>
            </a:r>
            <a:r>
              <a:rPr b="1" lang="en-US" sz="2300" spc="-1" strike="noStrike">
                <a:solidFill>
                  <a:srgbClr val="42d5bb"/>
                </a:solidFill>
                <a:latin typeface="Noto Sans CJK SC"/>
              </a:rPr>
              <a:t>FIRE</a:t>
            </a:r>
            <a:endParaRPr b="0" lang="en-US" sz="2300" spc="-1" strike="noStrike">
              <a:latin typeface="Arial"/>
            </a:endParaRPr>
          </a:p>
        </p:txBody>
      </p:sp>
      <p:pic>
        <p:nvPicPr>
          <p:cNvPr id="113" name="Picture 7" descr="fire_large.png"/>
          <p:cNvPicPr/>
          <p:nvPr/>
        </p:nvPicPr>
        <p:blipFill>
          <a:blip r:embed="rId1"/>
          <a:stretch/>
        </p:blipFill>
        <p:spPr>
          <a:xfrm>
            <a:off x="320040" y="1915560"/>
            <a:ext cx="3721320" cy="4123800"/>
          </a:xfrm>
          <a:prstGeom prst="rect">
            <a:avLst/>
          </a:prstGeom>
          <a:ln w="0">
            <a:noFill/>
          </a:ln>
        </p:spPr>
      </p:pic>
      <p:sp>
        <p:nvSpPr>
          <p:cNvPr id="114" name="TextBox 8"/>
          <p:cNvSpPr/>
          <p:nvPr/>
        </p:nvSpPr>
        <p:spPr>
          <a:xfrm>
            <a:off x="4233600" y="1161360"/>
            <a:ext cx="3721320" cy="37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2300" spc="-1" strike="noStrike">
                <a:solidFill>
                  <a:srgbClr val="42d5bb"/>
                </a:solidFill>
                <a:latin typeface="Noto Sans CJK SC"/>
              </a:rPr>
              <a:t>化学 </a:t>
            </a:r>
            <a:r>
              <a:rPr b="1" lang="en-US" sz="2300" spc="-1" strike="noStrike">
                <a:solidFill>
                  <a:srgbClr val="42d5bb"/>
                </a:solidFill>
                <a:latin typeface="Noto Sans CJK SC"/>
              </a:rPr>
              <a:t>CHEMICAL</a:t>
            </a:r>
            <a:endParaRPr b="0" lang="en-US" sz="2300" spc="-1" strike="noStrike">
              <a:latin typeface="Arial"/>
            </a:endParaRPr>
          </a:p>
        </p:txBody>
      </p:sp>
      <p:pic>
        <p:nvPicPr>
          <p:cNvPr id="115" name="Picture 9" descr="chemical_video_large.png"/>
          <p:cNvPicPr/>
          <p:nvPr/>
        </p:nvPicPr>
        <p:blipFill>
          <a:blip r:embed="rId2"/>
          <a:stretch/>
        </p:blipFill>
        <p:spPr>
          <a:xfrm>
            <a:off x="4233600" y="1868760"/>
            <a:ext cx="3721320" cy="4217400"/>
          </a:xfrm>
          <a:prstGeom prst="rect">
            <a:avLst/>
          </a:prstGeom>
          <a:ln w="0">
            <a:noFill/>
          </a:ln>
        </p:spPr>
      </p:pic>
      <p:sp>
        <p:nvSpPr>
          <p:cNvPr id="116" name="TextBox 10"/>
          <p:cNvSpPr/>
          <p:nvPr/>
        </p:nvSpPr>
        <p:spPr>
          <a:xfrm>
            <a:off x="8147160" y="1161360"/>
            <a:ext cx="3721320" cy="37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2300" spc="-1" strike="noStrike">
                <a:solidFill>
                  <a:srgbClr val="42d5bb"/>
                </a:solidFill>
                <a:latin typeface="Noto Sans CJK SC"/>
              </a:rPr>
              <a:t>辐射 </a:t>
            </a:r>
            <a:r>
              <a:rPr b="1" lang="en-US" sz="2300" spc="-1" strike="noStrike">
                <a:solidFill>
                  <a:srgbClr val="42d5bb"/>
                </a:solidFill>
                <a:latin typeface="Noto Sans CJK SC"/>
              </a:rPr>
              <a:t>RADIATION</a:t>
            </a:r>
            <a:endParaRPr b="0" lang="en-US" sz="2300" spc="-1" strike="noStrike">
              <a:latin typeface="Arial"/>
            </a:endParaRPr>
          </a:p>
        </p:txBody>
      </p:sp>
      <p:pic>
        <p:nvPicPr>
          <p:cNvPr id="117" name="Picture 11" descr="radiation_large.png"/>
          <p:cNvPicPr/>
          <p:nvPr/>
        </p:nvPicPr>
        <p:blipFill>
          <a:blip r:embed="rId3"/>
          <a:stretch/>
        </p:blipFill>
        <p:spPr>
          <a:xfrm>
            <a:off x="8620200" y="1719000"/>
            <a:ext cx="2775600" cy="4516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extBox 1"/>
          <p:cNvSpPr/>
          <p:nvPr/>
        </p:nvSpPr>
        <p:spPr>
          <a:xfrm>
            <a:off x="311040" y="164520"/>
            <a:ext cx="11566800" cy="50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3100" spc="-1" strike="noStrike">
                <a:solidFill>
                  <a:srgbClr val="f4f7fc"/>
                </a:solidFill>
                <a:latin typeface="Noto Sans CJK SC"/>
              </a:rPr>
              <a:t>走廊识别：电气、生物危害与终端打印</a:t>
            </a:r>
            <a:endParaRPr b="0" lang="en-US" sz="3100" spc="-1" strike="noStrike">
              <a:latin typeface="Arial"/>
            </a:endParaRPr>
          </a:p>
        </p:txBody>
      </p:sp>
      <p:sp>
        <p:nvSpPr>
          <p:cNvPr id="119" name="TextBox 2"/>
          <p:cNvSpPr/>
          <p:nvPr/>
        </p:nvSpPr>
        <p:spPr>
          <a:xfrm>
            <a:off x="320040" y="786240"/>
            <a:ext cx="11521080" cy="29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800" spc="-1" strike="noStrike">
                <a:solidFill>
                  <a:srgbClr val="b8c7dc"/>
                </a:solidFill>
                <a:latin typeface="Noto Sans CJK SC"/>
              </a:rPr>
              <a:t>规则要求：入室前识别五类标识，并在终端打印结果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20" name="Rectangle 3"/>
          <p:cNvSpPr/>
          <p:nvPr/>
        </p:nvSpPr>
        <p:spPr>
          <a:xfrm>
            <a:off x="320040" y="6492240"/>
            <a:ext cx="11548440" cy="12600"/>
          </a:xfrm>
          <a:prstGeom prst="rect">
            <a:avLst/>
          </a:prstGeom>
          <a:solidFill>
            <a:srgbClr val="3b4c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1" name="TextBox 4"/>
          <p:cNvSpPr/>
          <p:nvPr/>
        </p:nvSpPr>
        <p:spPr>
          <a:xfrm>
            <a:off x="320040" y="6565320"/>
            <a:ext cx="10972440" cy="1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相机及终端：新版同次连续录屏；终端原字保留，按行裁剪换行排布，未重写检测结果。</a:t>
            </a:r>
            <a:endParaRPr b="0" lang="en-US" sz="1020" spc="-1" strike="noStrike">
              <a:latin typeface="Arial"/>
            </a:endParaRPr>
          </a:p>
        </p:txBody>
      </p:sp>
      <p:sp>
        <p:nvSpPr>
          <p:cNvPr id="122" name="TextBox 5"/>
          <p:cNvSpPr/>
          <p:nvPr/>
        </p:nvSpPr>
        <p:spPr>
          <a:xfrm>
            <a:off x="11421000" y="6537960"/>
            <a:ext cx="41112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1200" spc="-1" strike="noStrike">
                <a:solidFill>
                  <a:srgbClr val="42d5bb"/>
                </a:solidFill>
                <a:latin typeface="Noto Sans CJK SC"/>
              </a:rPr>
              <a:t>09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23" name="TextBox 6"/>
          <p:cNvSpPr/>
          <p:nvPr/>
        </p:nvSpPr>
        <p:spPr>
          <a:xfrm>
            <a:off x="320040" y="1161360"/>
            <a:ext cx="3721320" cy="37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2300" spc="-1" strike="noStrike">
                <a:solidFill>
                  <a:srgbClr val="42d5bb"/>
                </a:solidFill>
                <a:latin typeface="Noto Sans CJK SC"/>
              </a:rPr>
              <a:t>电气 </a:t>
            </a:r>
            <a:r>
              <a:rPr b="1" lang="en-US" sz="2300" spc="-1" strike="noStrike">
                <a:solidFill>
                  <a:srgbClr val="42d5bb"/>
                </a:solidFill>
                <a:latin typeface="Noto Sans CJK SC"/>
              </a:rPr>
              <a:t>ELECTRICAL</a:t>
            </a:r>
            <a:endParaRPr b="0" lang="en-US" sz="2300" spc="-1" strike="noStrike">
              <a:latin typeface="Arial"/>
            </a:endParaRPr>
          </a:p>
        </p:txBody>
      </p:sp>
      <p:pic>
        <p:nvPicPr>
          <p:cNvPr id="124" name="Picture 7" descr="electrical_large.png"/>
          <p:cNvPicPr/>
          <p:nvPr/>
        </p:nvPicPr>
        <p:blipFill>
          <a:blip r:embed="rId1"/>
          <a:stretch/>
        </p:blipFill>
        <p:spPr>
          <a:xfrm>
            <a:off x="322560" y="1737360"/>
            <a:ext cx="3716640" cy="4388760"/>
          </a:xfrm>
          <a:prstGeom prst="rect">
            <a:avLst/>
          </a:prstGeom>
          <a:ln w="0">
            <a:noFill/>
          </a:ln>
        </p:spPr>
      </p:pic>
      <p:sp>
        <p:nvSpPr>
          <p:cNvPr id="125" name="TextBox 8"/>
          <p:cNvSpPr/>
          <p:nvPr/>
        </p:nvSpPr>
        <p:spPr>
          <a:xfrm>
            <a:off x="4233600" y="1161360"/>
            <a:ext cx="3721320" cy="37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2300" spc="-1" strike="noStrike">
                <a:solidFill>
                  <a:srgbClr val="42d5bb"/>
                </a:solidFill>
                <a:latin typeface="Noto Sans CJK SC"/>
              </a:rPr>
              <a:t>生物 </a:t>
            </a:r>
            <a:r>
              <a:rPr b="1" lang="en-US" sz="2300" spc="-1" strike="noStrike">
                <a:solidFill>
                  <a:srgbClr val="42d5bb"/>
                </a:solidFill>
                <a:latin typeface="Noto Sans CJK SC"/>
              </a:rPr>
              <a:t>BIOHAZARD</a:t>
            </a:r>
            <a:endParaRPr b="0" lang="en-US" sz="2300" spc="-1" strike="noStrike">
              <a:latin typeface="Arial"/>
            </a:endParaRPr>
          </a:p>
        </p:txBody>
      </p:sp>
      <p:pic>
        <p:nvPicPr>
          <p:cNvPr id="126" name="Picture 9" descr="biohazard_video_large.png"/>
          <p:cNvPicPr/>
          <p:nvPr/>
        </p:nvPicPr>
        <p:blipFill>
          <a:blip r:embed="rId2"/>
          <a:stretch/>
        </p:blipFill>
        <p:spPr>
          <a:xfrm>
            <a:off x="4233600" y="1740240"/>
            <a:ext cx="3721320" cy="4383000"/>
          </a:xfrm>
          <a:prstGeom prst="rect">
            <a:avLst/>
          </a:prstGeom>
          <a:ln w="0">
            <a:noFill/>
          </a:ln>
        </p:spPr>
      </p:pic>
      <p:sp>
        <p:nvSpPr>
          <p:cNvPr id="127" name="TextBox 10"/>
          <p:cNvSpPr/>
          <p:nvPr/>
        </p:nvSpPr>
        <p:spPr>
          <a:xfrm>
            <a:off x="8229600" y="1170360"/>
            <a:ext cx="356580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2200" spc="-1" strike="noStrike">
                <a:solidFill>
                  <a:srgbClr val="42d5bb"/>
                </a:solidFill>
                <a:latin typeface="Noto Sans CJK SC"/>
              </a:rPr>
              <a:t>五类终端确认</a:t>
            </a:r>
            <a:endParaRPr b="0" lang="en-US" sz="2200" spc="-1" strike="noStrike">
              <a:latin typeface="Arial"/>
            </a:endParaRPr>
          </a:p>
        </p:txBody>
      </p:sp>
      <p:pic>
        <p:nvPicPr>
          <p:cNvPr id="128" name="Picture 11" descr="corridor_terminal.png"/>
          <p:cNvPicPr/>
          <p:nvPr/>
        </p:nvPicPr>
        <p:blipFill>
          <a:blip r:embed="rId3"/>
          <a:stretch/>
        </p:blipFill>
        <p:spPr>
          <a:xfrm>
            <a:off x="8229600" y="1980360"/>
            <a:ext cx="3638880" cy="4067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TextBox 1"/>
          <p:cNvSpPr/>
          <p:nvPr/>
        </p:nvSpPr>
        <p:spPr>
          <a:xfrm>
            <a:off x="311040" y="164520"/>
            <a:ext cx="11566800" cy="50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3100" spc="-1" strike="noStrike">
                <a:solidFill>
                  <a:srgbClr val="f4f7fc"/>
                </a:solidFill>
                <a:latin typeface="Noto Sans CJK SC"/>
              </a:rPr>
              <a:t>同帧局部放大重检，恢复部分小目标</a:t>
            </a:r>
            <a:endParaRPr b="0" lang="en-US" sz="3100" spc="-1" strike="noStrike">
              <a:latin typeface="Arial"/>
            </a:endParaRPr>
          </a:p>
        </p:txBody>
      </p:sp>
      <p:sp>
        <p:nvSpPr>
          <p:cNvPr id="130" name="TextBox 2"/>
          <p:cNvSpPr/>
          <p:nvPr/>
        </p:nvSpPr>
        <p:spPr>
          <a:xfrm>
            <a:off x="320040" y="786240"/>
            <a:ext cx="11521080" cy="29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800" spc="-1" strike="noStrike">
                <a:solidFill>
                  <a:srgbClr val="b8c7dc"/>
                </a:solidFill>
                <a:latin typeface="Noto Sans CJK SC"/>
              </a:rPr>
              <a:t>同色负例训练 → 图案 </a:t>
            </a:r>
            <a:r>
              <a:rPr b="0" lang="en-US" sz="1800" spc="-1" strike="noStrike">
                <a:solidFill>
                  <a:srgbClr val="b8c7dc"/>
                </a:solidFill>
                <a:latin typeface="Noto Sans CJK SC"/>
              </a:rPr>
              <a:t>/ </a:t>
            </a:r>
            <a:r>
              <a:rPr b="0" lang="zh-CN" sz="1800" spc="-1" strike="noStrike">
                <a:solidFill>
                  <a:srgbClr val="b8c7dc"/>
                </a:solidFill>
                <a:latin typeface="Noto Sans CJK SC"/>
              </a:rPr>
              <a:t>牌边核验 → 局部重检 → 时序确认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31" name="Rectangle 3"/>
          <p:cNvSpPr/>
          <p:nvPr/>
        </p:nvSpPr>
        <p:spPr>
          <a:xfrm>
            <a:off x="320040" y="6492240"/>
            <a:ext cx="11548440" cy="12600"/>
          </a:xfrm>
          <a:prstGeom prst="rect">
            <a:avLst/>
          </a:prstGeom>
          <a:solidFill>
            <a:srgbClr val="3b4c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2" name="TextBox 4"/>
          <p:cNvSpPr/>
          <p:nvPr/>
        </p:nvSpPr>
        <p:spPr>
          <a:xfrm>
            <a:off x="320040" y="6565320"/>
            <a:ext cx="10972440" cy="1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图源：创新点 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</a:rPr>
              <a:t>PPT 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第 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</a:rPr>
              <a:t>7 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页；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</a:rPr>
              <a:t>v19 / image_0462 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同输入离线回放，不是两次现场录像。</a:t>
            </a:r>
            <a:endParaRPr b="0" lang="en-US" sz="1020" spc="-1" strike="noStrike">
              <a:latin typeface="Arial"/>
            </a:endParaRPr>
          </a:p>
        </p:txBody>
      </p:sp>
      <p:sp>
        <p:nvSpPr>
          <p:cNvPr id="133" name="TextBox 5"/>
          <p:cNvSpPr/>
          <p:nvPr/>
        </p:nvSpPr>
        <p:spPr>
          <a:xfrm>
            <a:off x="11421000" y="6537960"/>
            <a:ext cx="41112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1200" spc="-1" strike="noStrike">
                <a:solidFill>
                  <a:srgbClr val="42d5bb"/>
                </a:solidFill>
                <a:latin typeface="Noto Sans CJK SC"/>
              </a:rPr>
              <a:t>10</a:t>
            </a:r>
            <a:endParaRPr b="0" lang="en-US" sz="1200" spc="-1" strike="noStrike">
              <a:latin typeface="Arial"/>
            </a:endParaRPr>
          </a:p>
        </p:txBody>
      </p:sp>
      <p:pic>
        <p:nvPicPr>
          <p:cNvPr id="134" name="Picture 6" descr="recovery_same_frame_verified.png"/>
          <p:cNvPicPr/>
          <p:nvPr/>
        </p:nvPicPr>
        <p:blipFill>
          <a:blip r:embed="rId1"/>
          <a:stretch/>
        </p:blipFill>
        <p:spPr>
          <a:xfrm>
            <a:off x="478440" y="1179720"/>
            <a:ext cx="11231280" cy="5202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Box 1"/>
          <p:cNvSpPr/>
          <p:nvPr/>
        </p:nvSpPr>
        <p:spPr>
          <a:xfrm>
            <a:off x="311040" y="164520"/>
            <a:ext cx="11566800" cy="50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3100" spc="-1" strike="noStrike">
                <a:solidFill>
                  <a:srgbClr val="f4f7fc"/>
                </a:solidFill>
                <a:latin typeface="Noto Sans CJK SC"/>
              </a:rPr>
              <a:t>核心标识：坍塌与有毒泄漏</a:t>
            </a:r>
            <a:endParaRPr b="0" lang="en-US" sz="3100" spc="-1" strike="noStrike">
              <a:latin typeface="Arial"/>
            </a:endParaRPr>
          </a:p>
        </p:txBody>
      </p:sp>
      <p:sp>
        <p:nvSpPr>
          <p:cNvPr id="136" name="TextBox 2"/>
          <p:cNvSpPr/>
          <p:nvPr/>
        </p:nvSpPr>
        <p:spPr>
          <a:xfrm>
            <a:off x="320040" y="786240"/>
            <a:ext cx="11521080" cy="29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800" spc="-1" strike="noStrike">
                <a:solidFill>
                  <a:srgbClr val="b8c7dc"/>
                </a:solidFill>
                <a:latin typeface="Noto Sans CJK SC"/>
              </a:rPr>
              <a:t>四种图案各不相同；核心标识附加 </a:t>
            </a:r>
            <a:r>
              <a:rPr b="0" lang="en-US" sz="1800" spc="-1" strike="noStrike">
                <a:solidFill>
                  <a:srgbClr val="b8c7dc"/>
                </a:solidFill>
                <a:latin typeface="Noto Sans CJK SC"/>
              </a:rPr>
              <a:t>AprilTag</a:t>
            </a:r>
            <a:r>
              <a:rPr b="0" lang="zh-CN" sz="1800" spc="-1" strike="noStrike">
                <a:solidFill>
                  <a:srgbClr val="b8c7dc"/>
                </a:solidFill>
                <a:latin typeface="Noto Sans CJK SC"/>
              </a:rPr>
              <a:t>，类别由 </a:t>
            </a:r>
            <a:r>
              <a:rPr b="0" lang="en-US" sz="1800" spc="-1" strike="noStrike">
                <a:solidFill>
                  <a:srgbClr val="b8c7dc"/>
                </a:solidFill>
                <a:latin typeface="Noto Sans CJK SC"/>
              </a:rPr>
              <a:t>ID </a:t>
            </a:r>
            <a:r>
              <a:rPr b="0" lang="zh-CN" sz="1800" spc="-1" strike="noStrike">
                <a:solidFill>
                  <a:srgbClr val="b8c7dc"/>
                </a:solidFill>
                <a:latin typeface="Noto Sans CJK SC"/>
              </a:rPr>
              <a:t>与语义表关联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37" name="Rectangle 3"/>
          <p:cNvSpPr/>
          <p:nvPr/>
        </p:nvSpPr>
        <p:spPr>
          <a:xfrm>
            <a:off x="320040" y="6492240"/>
            <a:ext cx="11548440" cy="12600"/>
          </a:xfrm>
          <a:prstGeom prst="rect">
            <a:avLst/>
          </a:prstGeom>
          <a:solidFill>
            <a:srgbClr val="3b4c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8" name="TextBox 4"/>
          <p:cNvSpPr/>
          <p:nvPr/>
        </p:nvSpPr>
        <p:spPr>
          <a:xfrm>
            <a:off x="320040" y="6565320"/>
            <a:ext cx="10972440" cy="1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相机图：新版同次运行，保留原 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</a:rPr>
              <a:t>ID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、类别与估计 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</a:rPr>
              <a:t>map 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坐标；仅裁背景。</a:t>
            </a:r>
            <a:endParaRPr b="0" lang="en-US" sz="1020" spc="-1" strike="noStrike">
              <a:latin typeface="Arial"/>
            </a:endParaRPr>
          </a:p>
        </p:txBody>
      </p:sp>
      <p:sp>
        <p:nvSpPr>
          <p:cNvPr id="139" name="TextBox 5"/>
          <p:cNvSpPr/>
          <p:nvPr/>
        </p:nvSpPr>
        <p:spPr>
          <a:xfrm>
            <a:off x="11421000" y="6537960"/>
            <a:ext cx="41112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1200" spc="-1" strike="noStrike">
                <a:solidFill>
                  <a:srgbClr val="42d5bb"/>
                </a:solidFill>
                <a:latin typeface="Noto Sans CJK SC"/>
              </a:rPr>
              <a:t>11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40" name="TextBox 6"/>
          <p:cNvSpPr/>
          <p:nvPr/>
        </p:nvSpPr>
        <p:spPr>
          <a:xfrm>
            <a:off x="320040" y="1170360"/>
            <a:ext cx="5677920" cy="44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2700" spc="-1" strike="noStrike">
                <a:solidFill>
                  <a:srgbClr val="42d5bb"/>
                </a:solidFill>
                <a:latin typeface="Noto Sans CJK SC"/>
              </a:rPr>
              <a:t>T0 · </a:t>
            </a:r>
            <a:r>
              <a:rPr b="1" lang="zh-CN" sz="2700" spc="-1" strike="noStrike">
                <a:solidFill>
                  <a:srgbClr val="42d5bb"/>
                </a:solidFill>
                <a:latin typeface="Noto Sans CJK SC"/>
              </a:rPr>
              <a:t>坍塌</a:t>
            </a:r>
            <a:endParaRPr b="0" lang="en-US" sz="2700" spc="-1" strike="noStrike">
              <a:latin typeface="Arial"/>
            </a:endParaRPr>
          </a:p>
        </p:txBody>
      </p:sp>
      <p:pic>
        <p:nvPicPr>
          <p:cNvPr id="141" name="Picture 7" descr="tag_0_large.png"/>
          <p:cNvPicPr/>
          <p:nvPr/>
        </p:nvPicPr>
        <p:blipFill>
          <a:blip r:embed="rId1"/>
          <a:stretch/>
        </p:blipFill>
        <p:spPr>
          <a:xfrm>
            <a:off x="667080" y="1774080"/>
            <a:ext cx="4984200" cy="4434480"/>
          </a:xfrm>
          <a:prstGeom prst="rect">
            <a:avLst/>
          </a:prstGeom>
          <a:ln w="0">
            <a:noFill/>
          </a:ln>
        </p:spPr>
      </p:pic>
      <p:sp>
        <p:nvSpPr>
          <p:cNvPr id="142" name="TextBox 8"/>
          <p:cNvSpPr/>
          <p:nvPr/>
        </p:nvSpPr>
        <p:spPr>
          <a:xfrm>
            <a:off x="6190560" y="1170360"/>
            <a:ext cx="5677920" cy="44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2700" spc="-1" strike="noStrike">
                <a:solidFill>
                  <a:srgbClr val="42d5bb"/>
                </a:solidFill>
                <a:latin typeface="Noto Sans CJK SC"/>
              </a:rPr>
              <a:t>T1 · </a:t>
            </a:r>
            <a:r>
              <a:rPr b="1" lang="zh-CN" sz="2700" spc="-1" strike="noStrike">
                <a:solidFill>
                  <a:srgbClr val="42d5bb"/>
                </a:solidFill>
                <a:latin typeface="Noto Sans CJK SC"/>
              </a:rPr>
              <a:t>有毒泄漏</a:t>
            </a:r>
            <a:endParaRPr b="0" lang="en-US" sz="2700" spc="-1" strike="noStrike">
              <a:latin typeface="Arial"/>
            </a:endParaRPr>
          </a:p>
        </p:txBody>
      </p:sp>
      <p:pic>
        <p:nvPicPr>
          <p:cNvPr id="143" name="Picture 9" descr="tag_1_large.png"/>
          <p:cNvPicPr/>
          <p:nvPr/>
        </p:nvPicPr>
        <p:blipFill>
          <a:blip r:embed="rId2"/>
          <a:stretch/>
        </p:blipFill>
        <p:spPr>
          <a:xfrm>
            <a:off x="6788520" y="1774080"/>
            <a:ext cx="4482000" cy="4434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Box 1"/>
          <p:cNvSpPr/>
          <p:nvPr/>
        </p:nvSpPr>
        <p:spPr>
          <a:xfrm>
            <a:off x="311040" y="164520"/>
            <a:ext cx="11566800" cy="50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3100" spc="-1" strike="noStrike">
                <a:solidFill>
                  <a:srgbClr val="f4f7fc"/>
                </a:solidFill>
                <a:latin typeface="Noto Sans CJK SC"/>
              </a:rPr>
              <a:t>核心标识：被困人员与高温</a:t>
            </a:r>
            <a:endParaRPr b="0" lang="en-US" sz="3100" spc="-1" strike="noStrike">
              <a:latin typeface="Arial"/>
            </a:endParaRPr>
          </a:p>
        </p:txBody>
      </p:sp>
      <p:sp>
        <p:nvSpPr>
          <p:cNvPr id="145" name="TextBox 2"/>
          <p:cNvSpPr/>
          <p:nvPr/>
        </p:nvSpPr>
        <p:spPr>
          <a:xfrm>
            <a:off x="320040" y="786240"/>
            <a:ext cx="11521080" cy="29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800" spc="-1" strike="noStrike">
                <a:solidFill>
                  <a:srgbClr val="b8c7dc"/>
                </a:solidFill>
                <a:latin typeface="Noto Sans CJK SC"/>
              </a:rPr>
              <a:t>四种图案各不相同；核心标识附加 </a:t>
            </a:r>
            <a:r>
              <a:rPr b="0" lang="en-US" sz="1800" spc="-1" strike="noStrike">
                <a:solidFill>
                  <a:srgbClr val="b8c7dc"/>
                </a:solidFill>
                <a:latin typeface="Noto Sans CJK SC"/>
              </a:rPr>
              <a:t>AprilTag</a:t>
            </a:r>
            <a:r>
              <a:rPr b="0" lang="zh-CN" sz="1800" spc="-1" strike="noStrike">
                <a:solidFill>
                  <a:srgbClr val="b8c7dc"/>
                </a:solidFill>
                <a:latin typeface="Noto Sans CJK SC"/>
              </a:rPr>
              <a:t>，类别由 </a:t>
            </a:r>
            <a:r>
              <a:rPr b="0" lang="en-US" sz="1800" spc="-1" strike="noStrike">
                <a:solidFill>
                  <a:srgbClr val="b8c7dc"/>
                </a:solidFill>
                <a:latin typeface="Noto Sans CJK SC"/>
              </a:rPr>
              <a:t>ID </a:t>
            </a:r>
            <a:r>
              <a:rPr b="0" lang="zh-CN" sz="1800" spc="-1" strike="noStrike">
                <a:solidFill>
                  <a:srgbClr val="b8c7dc"/>
                </a:solidFill>
                <a:latin typeface="Noto Sans CJK SC"/>
              </a:rPr>
              <a:t>与语义表关联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46" name="Rectangle 3"/>
          <p:cNvSpPr/>
          <p:nvPr/>
        </p:nvSpPr>
        <p:spPr>
          <a:xfrm>
            <a:off x="320040" y="6492240"/>
            <a:ext cx="11548440" cy="12600"/>
          </a:xfrm>
          <a:prstGeom prst="rect">
            <a:avLst/>
          </a:prstGeom>
          <a:solidFill>
            <a:srgbClr val="3b4c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7" name="TextBox 4"/>
          <p:cNvSpPr/>
          <p:nvPr/>
        </p:nvSpPr>
        <p:spPr>
          <a:xfrm>
            <a:off x="320040" y="6565320"/>
            <a:ext cx="10972440" cy="1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相机图：新版同次运行，保留原 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</a:rPr>
              <a:t>ID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、类别与估计 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</a:rPr>
              <a:t>map 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坐标；仅裁背景。</a:t>
            </a:r>
            <a:endParaRPr b="0" lang="en-US" sz="1020" spc="-1" strike="noStrike">
              <a:latin typeface="Arial"/>
            </a:endParaRPr>
          </a:p>
        </p:txBody>
      </p:sp>
      <p:sp>
        <p:nvSpPr>
          <p:cNvPr id="148" name="TextBox 5"/>
          <p:cNvSpPr/>
          <p:nvPr/>
        </p:nvSpPr>
        <p:spPr>
          <a:xfrm>
            <a:off x="11421000" y="6537960"/>
            <a:ext cx="41112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1200" spc="-1" strike="noStrike">
                <a:solidFill>
                  <a:srgbClr val="42d5bb"/>
                </a:solidFill>
                <a:latin typeface="Noto Sans CJK SC"/>
              </a:rPr>
              <a:t>12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49" name="TextBox 6"/>
          <p:cNvSpPr/>
          <p:nvPr/>
        </p:nvSpPr>
        <p:spPr>
          <a:xfrm>
            <a:off x="320040" y="1170360"/>
            <a:ext cx="5677920" cy="44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2700" spc="-1" strike="noStrike">
                <a:solidFill>
                  <a:srgbClr val="42d5bb"/>
                </a:solidFill>
                <a:latin typeface="Noto Sans CJK SC"/>
              </a:rPr>
              <a:t>T2 · </a:t>
            </a:r>
            <a:r>
              <a:rPr b="1" lang="zh-CN" sz="2700" spc="-1" strike="noStrike">
                <a:solidFill>
                  <a:srgbClr val="42d5bb"/>
                </a:solidFill>
                <a:latin typeface="Noto Sans CJK SC"/>
              </a:rPr>
              <a:t>被困人员</a:t>
            </a:r>
            <a:endParaRPr b="0" lang="en-US" sz="2700" spc="-1" strike="noStrike">
              <a:latin typeface="Arial"/>
            </a:endParaRPr>
          </a:p>
        </p:txBody>
      </p:sp>
      <p:pic>
        <p:nvPicPr>
          <p:cNvPr id="150" name="Picture 7" descr="tag_2_large.png"/>
          <p:cNvPicPr/>
          <p:nvPr/>
        </p:nvPicPr>
        <p:blipFill>
          <a:blip r:embed="rId1"/>
          <a:stretch/>
        </p:blipFill>
        <p:spPr>
          <a:xfrm>
            <a:off x="1009440" y="1774080"/>
            <a:ext cx="4299480" cy="4434480"/>
          </a:xfrm>
          <a:prstGeom prst="rect">
            <a:avLst/>
          </a:prstGeom>
          <a:ln w="0">
            <a:noFill/>
          </a:ln>
        </p:spPr>
      </p:pic>
      <p:sp>
        <p:nvSpPr>
          <p:cNvPr id="151" name="TextBox 8"/>
          <p:cNvSpPr/>
          <p:nvPr/>
        </p:nvSpPr>
        <p:spPr>
          <a:xfrm>
            <a:off x="6190560" y="1170360"/>
            <a:ext cx="5677920" cy="44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2700" spc="-1" strike="noStrike">
                <a:solidFill>
                  <a:srgbClr val="42d5bb"/>
                </a:solidFill>
                <a:latin typeface="Noto Sans CJK SC"/>
              </a:rPr>
              <a:t>T3 · </a:t>
            </a:r>
            <a:r>
              <a:rPr b="1" lang="zh-CN" sz="2700" spc="-1" strike="noStrike">
                <a:solidFill>
                  <a:srgbClr val="42d5bb"/>
                </a:solidFill>
                <a:latin typeface="Noto Sans CJK SC"/>
              </a:rPr>
              <a:t>高温</a:t>
            </a:r>
            <a:endParaRPr b="0" lang="en-US" sz="2700" spc="-1" strike="noStrike">
              <a:latin typeface="Arial"/>
            </a:endParaRPr>
          </a:p>
        </p:txBody>
      </p:sp>
      <p:pic>
        <p:nvPicPr>
          <p:cNvPr id="152" name="Picture 9" descr="tag_3_large.png"/>
          <p:cNvPicPr/>
          <p:nvPr/>
        </p:nvPicPr>
        <p:blipFill>
          <a:blip r:embed="rId2"/>
          <a:stretch/>
        </p:blipFill>
        <p:spPr>
          <a:xfrm>
            <a:off x="6190560" y="1914840"/>
            <a:ext cx="5677920" cy="4152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TextBox 1"/>
          <p:cNvSpPr/>
          <p:nvPr/>
        </p:nvSpPr>
        <p:spPr>
          <a:xfrm>
            <a:off x="311040" y="164520"/>
            <a:ext cx="11566800" cy="50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3100" spc="-1" strike="noStrike">
                <a:solidFill>
                  <a:srgbClr val="f4f7fc"/>
                </a:solidFill>
                <a:latin typeface="Noto Sans CJK SC"/>
              </a:rPr>
              <a:t>拍摄时刻 </a:t>
            </a:r>
            <a:r>
              <a:rPr b="1" lang="en-US" sz="3100" spc="-1" strike="noStrike">
                <a:solidFill>
                  <a:srgbClr val="f4f7fc"/>
                </a:solidFill>
                <a:latin typeface="Noto Sans CJK SC"/>
              </a:rPr>
              <a:t>TF</a:t>
            </a:r>
            <a:r>
              <a:rPr b="1" lang="zh-CN" sz="3100" spc="-1" strike="noStrike">
                <a:solidFill>
                  <a:srgbClr val="f4f7fc"/>
                </a:solidFill>
                <a:latin typeface="Noto Sans CJK SC"/>
              </a:rPr>
              <a:t>，让视觉结果对应 </a:t>
            </a:r>
            <a:r>
              <a:rPr b="1" lang="en-US" sz="3100" spc="-1" strike="noStrike">
                <a:solidFill>
                  <a:srgbClr val="f4f7fc"/>
                </a:solidFill>
                <a:latin typeface="Noto Sans CJK SC"/>
              </a:rPr>
              <a:t>RViz </a:t>
            </a:r>
            <a:r>
              <a:rPr b="1" lang="zh-CN" sz="3100" spc="-1" strike="noStrike">
                <a:solidFill>
                  <a:srgbClr val="f4f7fc"/>
                </a:solidFill>
                <a:latin typeface="Noto Sans CJK SC"/>
              </a:rPr>
              <a:t>地图</a:t>
            </a:r>
            <a:endParaRPr b="0" lang="en-US" sz="3100" spc="-1" strike="noStrike">
              <a:latin typeface="Arial"/>
            </a:endParaRPr>
          </a:p>
        </p:txBody>
      </p:sp>
      <p:sp>
        <p:nvSpPr>
          <p:cNvPr id="154" name="TextBox 2"/>
          <p:cNvSpPr/>
          <p:nvPr/>
        </p:nvSpPr>
        <p:spPr>
          <a:xfrm>
            <a:off x="320040" y="786240"/>
            <a:ext cx="11521080" cy="29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800" spc="-1" strike="noStrike">
                <a:solidFill>
                  <a:srgbClr val="b8c7dc"/>
                </a:solidFill>
                <a:latin typeface="Noto Sans CJK SC"/>
              </a:rPr>
              <a:t>实际云台关节角 → 图像拍摄时刻坐标变换 → 多次有效观测融合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55" name="Rectangle 3"/>
          <p:cNvSpPr/>
          <p:nvPr/>
        </p:nvSpPr>
        <p:spPr>
          <a:xfrm>
            <a:off x="320040" y="6492240"/>
            <a:ext cx="11548440" cy="12600"/>
          </a:xfrm>
          <a:prstGeom prst="rect">
            <a:avLst/>
          </a:prstGeom>
          <a:solidFill>
            <a:srgbClr val="3b4c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6" name="TextBox 4"/>
          <p:cNvSpPr/>
          <p:nvPr/>
        </p:nvSpPr>
        <p:spPr>
          <a:xfrm>
            <a:off x="320040" y="6565320"/>
            <a:ext cx="10972440" cy="1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地图：新版同次录屏 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</a:rPr>
              <a:t>01:26 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的 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</a:rPr>
              <a:t>RViz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；源码机制来自 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</a:rPr>
              <a:t>vision_node.py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，非纯 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</a:rPr>
              <a:t>PnP 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误差。</a:t>
            </a:r>
            <a:endParaRPr b="0" lang="en-US" sz="1020" spc="-1" strike="noStrike">
              <a:latin typeface="Arial"/>
            </a:endParaRPr>
          </a:p>
        </p:txBody>
      </p:sp>
      <p:sp>
        <p:nvSpPr>
          <p:cNvPr id="157" name="TextBox 5"/>
          <p:cNvSpPr/>
          <p:nvPr/>
        </p:nvSpPr>
        <p:spPr>
          <a:xfrm>
            <a:off x="11421000" y="6537960"/>
            <a:ext cx="41112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1200" spc="-1" strike="noStrike">
                <a:solidFill>
                  <a:srgbClr val="42d5bb"/>
                </a:solidFill>
                <a:latin typeface="Noto Sans CJK SC"/>
              </a:rPr>
              <a:t>13</a:t>
            </a:r>
            <a:endParaRPr b="0" lang="en-US" sz="1200" spc="-1" strike="noStrike">
              <a:latin typeface="Arial"/>
            </a:endParaRPr>
          </a:p>
        </p:txBody>
      </p:sp>
      <p:pic>
        <p:nvPicPr>
          <p:cNvPr id="158" name="Picture 6" descr="core_markers.png"/>
          <p:cNvPicPr/>
          <p:nvPr/>
        </p:nvPicPr>
        <p:blipFill>
          <a:blip r:embed="rId1"/>
          <a:stretch/>
        </p:blipFill>
        <p:spPr>
          <a:xfrm>
            <a:off x="703440" y="1179720"/>
            <a:ext cx="7517520" cy="5202720"/>
          </a:xfrm>
          <a:prstGeom prst="rect">
            <a:avLst/>
          </a:prstGeom>
          <a:ln w="0">
            <a:noFill/>
          </a:ln>
        </p:spPr>
      </p:pic>
      <p:sp>
        <p:nvSpPr>
          <p:cNvPr id="159" name="Rectangle 7"/>
          <p:cNvSpPr/>
          <p:nvPr/>
        </p:nvSpPr>
        <p:spPr>
          <a:xfrm>
            <a:off x="8897040" y="1572840"/>
            <a:ext cx="2962440" cy="1206720"/>
          </a:xfrm>
          <a:prstGeom prst="rect">
            <a:avLst/>
          </a:prstGeom>
          <a:solidFill>
            <a:srgbClr val="1d2c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0" name="TextBox 8"/>
          <p:cNvSpPr/>
          <p:nvPr/>
        </p:nvSpPr>
        <p:spPr>
          <a:xfrm>
            <a:off x="9052560" y="1682640"/>
            <a:ext cx="2651400" cy="42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2600" spc="-1" strike="noStrike">
                <a:solidFill>
                  <a:srgbClr val="42d5bb"/>
                </a:solidFill>
                <a:latin typeface="Noto Sans CJK SC"/>
              </a:rPr>
              <a:t>拍摄时刻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161" name="TextBox 9"/>
          <p:cNvSpPr/>
          <p:nvPr/>
        </p:nvSpPr>
        <p:spPr>
          <a:xfrm>
            <a:off x="9052560" y="2286000"/>
            <a:ext cx="265140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900" spc="-1" strike="noStrike">
                <a:solidFill>
                  <a:srgbClr val="f4f7fc"/>
                </a:solidFill>
                <a:latin typeface="Noto Sans CJK SC"/>
              </a:rPr>
              <a:t>匹配实际关节姿态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162" name="Rectangle 10"/>
          <p:cNvSpPr/>
          <p:nvPr/>
        </p:nvSpPr>
        <p:spPr>
          <a:xfrm>
            <a:off x="8897040" y="3108960"/>
            <a:ext cx="2962440" cy="1206720"/>
          </a:xfrm>
          <a:prstGeom prst="rect">
            <a:avLst/>
          </a:prstGeom>
          <a:solidFill>
            <a:srgbClr val="1d2c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3" name="TextBox 11"/>
          <p:cNvSpPr/>
          <p:nvPr/>
        </p:nvSpPr>
        <p:spPr>
          <a:xfrm>
            <a:off x="9052560" y="3218760"/>
            <a:ext cx="2651400" cy="42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2600" spc="-1" strike="noStrike">
                <a:solidFill>
                  <a:srgbClr val="42d5bb"/>
                </a:solidFill>
                <a:latin typeface="Noto Sans CJK SC"/>
              </a:rPr>
              <a:t>质量筛选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164" name="TextBox 12"/>
          <p:cNvSpPr/>
          <p:nvPr/>
        </p:nvSpPr>
        <p:spPr>
          <a:xfrm>
            <a:off x="9052560" y="3822120"/>
            <a:ext cx="265140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900" spc="-1" strike="noStrike">
                <a:solidFill>
                  <a:srgbClr val="f4f7fc"/>
                </a:solidFill>
                <a:latin typeface="Noto Sans CJK SC"/>
              </a:rPr>
              <a:t>重投影 ≤</a:t>
            </a:r>
            <a:r>
              <a:rPr b="0" lang="en-US" sz="1900" spc="-1" strike="noStrike">
                <a:solidFill>
                  <a:srgbClr val="f4f7fc"/>
                </a:solidFill>
                <a:latin typeface="Noto Sans CJK SC"/>
              </a:rPr>
              <a:t>2.5 px</a:t>
            </a:r>
            <a:endParaRPr b="0" lang="en-US" sz="1900" spc="-1" strike="noStrike">
              <a:latin typeface="Arial"/>
            </a:endParaRPr>
          </a:p>
        </p:txBody>
      </p:sp>
      <p:sp>
        <p:nvSpPr>
          <p:cNvPr id="165" name="Rectangle 13"/>
          <p:cNvSpPr/>
          <p:nvPr/>
        </p:nvSpPr>
        <p:spPr>
          <a:xfrm>
            <a:off x="8897040" y="4645080"/>
            <a:ext cx="2962440" cy="1206720"/>
          </a:xfrm>
          <a:prstGeom prst="rect">
            <a:avLst/>
          </a:prstGeom>
          <a:solidFill>
            <a:srgbClr val="1d2c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6" name="TextBox 14"/>
          <p:cNvSpPr/>
          <p:nvPr/>
        </p:nvSpPr>
        <p:spPr>
          <a:xfrm>
            <a:off x="9052560" y="4754880"/>
            <a:ext cx="2651400" cy="42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2600" spc="-1" strike="noStrike">
                <a:solidFill>
                  <a:srgbClr val="42d5bb"/>
                </a:solidFill>
                <a:latin typeface="Noto Sans CJK SC"/>
              </a:rPr>
              <a:t>融合确认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167" name="TextBox 15"/>
          <p:cNvSpPr/>
          <p:nvPr/>
        </p:nvSpPr>
        <p:spPr>
          <a:xfrm>
            <a:off x="9052560" y="5358240"/>
            <a:ext cx="2651400" cy="30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900" spc="-1" strike="noStrike">
                <a:solidFill>
                  <a:srgbClr val="f4f7fc"/>
                </a:solidFill>
                <a:latin typeface="Noto Sans CJK SC"/>
              </a:rPr>
              <a:t>至少 </a:t>
            </a:r>
            <a:r>
              <a:rPr b="0" lang="en-US" sz="1900" spc="-1" strike="noStrike">
                <a:solidFill>
                  <a:srgbClr val="f4f7fc"/>
                </a:solidFill>
                <a:latin typeface="Noto Sans CJK SC"/>
              </a:rPr>
              <a:t>4 </a:t>
            </a:r>
            <a:r>
              <a:rPr b="0" lang="zh-CN" sz="1900" spc="-1" strike="noStrike">
                <a:solidFill>
                  <a:srgbClr val="f4f7fc"/>
                </a:solidFill>
                <a:latin typeface="Noto Sans CJK SC"/>
              </a:rPr>
              <a:t>次有效观测</a:t>
            </a:r>
            <a:endParaRPr b="0" lang="en-US" sz="1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TextBox 1"/>
          <p:cNvSpPr/>
          <p:nvPr/>
        </p:nvSpPr>
        <p:spPr>
          <a:xfrm>
            <a:off x="311040" y="164520"/>
            <a:ext cx="11566800" cy="50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3100" spc="-1" strike="noStrike">
                <a:solidFill>
                  <a:srgbClr val="f4f7fc"/>
                </a:solidFill>
                <a:latin typeface="Noto Sans CJK SC"/>
              </a:rPr>
              <a:t>门洞残留栅格清理区：让旧占用不再堵路</a:t>
            </a:r>
            <a:endParaRPr b="0" lang="en-US" sz="3100" spc="-1" strike="noStrike">
              <a:latin typeface="Arial"/>
            </a:endParaRPr>
          </a:p>
        </p:txBody>
      </p:sp>
      <p:sp>
        <p:nvSpPr>
          <p:cNvPr id="169" name="TextBox 2"/>
          <p:cNvSpPr/>
          <p:nvPr/>
        </p:nvSpPr>
        <p:spPr>
          <a:xfrm>
            <a:off x="320040" y="786240"/>
            <a:ext cx="11521080" cy="29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800" spc="-1" strike="noStrike">
                <a:solidFill>
                  <a:srgbClr val="b8c7dc"/>
                </a:solidFill>
                <a:latin typeface="Noto Sans CJK SC"/>
              </a:rPr>
              <a:t>限定区域内，三次不同时间戳的激光自由证据才清理派生导航图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70" name="Rectangle 3"/>
          <p:cNvSpPr/>
          <p:nvPr/>
        </p:nvSpPr>
        <p:spPr>
          <a:xfrm>
            <a:off x="320040" y="6492240"/>
            <a:ext cx="11548440" cy="12600"/>
          </a:xfrm>
          <a:prstGeom prst="rect">
            <a:avLst/>
          </a:prstGeom>
          <a:solidFill>
            <a:srgbClr val="3b4c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1" name="TextBox 4"/>
          <p:cNvSpPr/>
          <p:nvPr/>
        </p:nvSpPr>
        <p:spPr>
          <a:xfrm>
            <a:off x="320040" y="6565320"/>
            <a:ext cx="10972440" cy="1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图：实际 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</a:rPr>
              <a:t>rescue_map.pgm + navigation_map.yaml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；配置叠加原理图，未录制逐格清理前后对照。</a:t>
            </a:r>
            <a:endParaRPr b="0" lang="en-US" sz="1020" spc="-1" strike="noStrike">
              <a:latin typeface="Arial"/>
            </a:endParaRPr>
          </a:p>
        </p:txBody>
      </p:sp>
      <p:sp>
        <p:nvSpPr>
          <p:cNvPr id="172" name="TextBox 5"/>
          <p:cNvSpPr/>
          <p:nvPr/>
        </p:nvSpPr>
        <p:spPr>
          <a:xfrm>
            <a:off x="11421000" y="6537960"/>
            <a:ext cx="41112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1200" spc="-1" strike="noStrike">
                <a:solidFill>
                  <a:srgbClr val="42d5bb"/>
                </a:solidFill>
                <a:latin typeface="Noto Sans CJK SC"/>
              </a:rPr>
              <a:t>14</a:t>
            </a:r>
            <a:endParaRPr b="0" lang="en-US" sz="1200" spc="-1" strike="noStrike">
              <a:latin typeface="Arial"/>
            </a:endParaRPr>
          </a:p>
        </p:txBody>
      </p:sp>
      <p:pic>
        <p:nvPicPr>
          <p:cNvPr id="173" name="Picture 6" descr="navigation_map_regions.png"/>
          <p:cNvPicPr/>
          <p:nvPr/>
        </p:nvPicPr>
        <p:blipFill>
          <a:blip r:embed="rId1"/>
          <a:stretch/>
        </p:blipFill>
        <p:spPr>
          <a:xfrm>
            <a:off x="407160" y="1152000"/>
            <a:ext cx="5101560" cy="5211720"/>
          </a:xfrm>
          <a:prstGeom prst="rect">
            <a:avLst/>
          </a:prstGeom>
          <a:ln w="0">
            <a:noFill/>
          </a:ln>
        </p:spPr>
      </p:pic>
      <p:pic>
        <p:nvPicPr>
          <p:cNvPr id="174" name="Picture 7" descr="地图门洞放大.png"/>
          <p:cNvPicPr/>
          <p:nvPr/>
        </p:nvPicPr>
        <p:blipFill>
          <a:blip r:embed="rId2"/>
          <a:stretch/>
        </p:blipFill>
        <p:spPr>
          <a:xfrm>
            <a:off x="5824800" y="1226160"/>
            <a:ext cx="6043680" cy="3966120"/>
          </a:xfrm>
          <a:prstGeom prst="rect">
            <a:avLst/>
          </a:prstGeom>
          <a:ln w="0">
            <a:noFill/>
          </a:ln>
        </p:spPr>
      </p:pic>
      <p:sp>
        <p:nvSpPr>
          <p:cNvPr id="175" name="TextBox 8"/>
          <p:cNvSpPr/>
          <p:nvPr/>
        </p:nvSpPr>
        <p:spPr>
          <a:xfrm>
            <a:off x="5989320" y="5495400"/>
            <a:ext cx="5723640" cy="86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2500" spc="-1" strike="noStrike">
                <a:solidFill>
                  <a:srgbClr val="42d5bb"/>
                </a:solidFill>
                <a:latin typeface="Noto Sans CJK SC"/>
              </a:rPr>
              <a:t>原始 </a:t>
            </a:r>
            <a:r>
              <a:rPr b="1" lang="en-US" sz="2500" spc="-1" strike="noStrike">
                <a:solidFill>
                  <a:srgbClr val="42d5bb"/>
                </a:solidFill>
                <a:latin typeface="Noto Sans CJK SC"/>
              </a:rPr>
              <a:t>PGM </a:t>
            </a:r>
            <a:r>
              <a:rPr b="1" lang="zh-CN" sz="2500" spc="-1" strike="noStrike">
                <a:solidFill>
                  <a:srgbClr val="42d5bb"/>
                </a:solidFill>
                <a:latin typeface="Noto Sans CJK SC"/>
              </a:rPr>
              <a:t>保留</a:t>
            </a:r>
            <a:endParaRPr b="0" lang="en-US" sz="2500" spc="-1" strike="noStrike">
              <a:latin typeface="Arial"/>
            </a:endParaRPr>
          </a:p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2500" spc="-1" strike="noStrike">
                <a:solidFill>
                  <a:srgbClr val="42d5bb"/>
                </a:solidFill>
                <a:latin typeface="Noto Sans CJK SC"/>
              </a:rPr>
              <a:t>新障碍由实时激光层标记</a:t>
            </a:r>
            <a:endParaRPr b="0" lang="en-US" sz="2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TextBox 1"/>
          <p:cNvSpPr/>
          <p:nvPr/>
        </p:nvSpPr>
        <p:spPr>
          <a:xfrm>
            <a:off x="311040" y="164520"/>
            <a:ext cx="11566800" cy="50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3100" spc="-1" strike="noStrike">
                <a:solidFill>
                  <a:srgbClr val="f4f7fc"/>
                </a:solidFill>
                <a:latin typeface="Noto Sans CJK SC"/>
              </a:rPr>
              <a:t>按任务阶段选速度：完整任务平均缩短 </a:t>
            </a:r>
            <a:r>
              <a:rPr b="1" lang="en-US" sz="3100" spc="-1" strike="noStrike">
                <a:solidFill>
                  <a:srgbClr val="f4f7fc"/>
                </a:solidFill>
                <a:latin typeface="Noto Sans CJK SC"/>
              </a:rPr>
              <a:t>7.6%</a:t>
            </a:r>
            <a:endParaRPr b="0" lang="en-US" sz="3100" spc="-1" strike="noStrike">
              <a:latin typeface="Arial"/>
            </a:endParaRPr>
          </a:p>
        </p:txBody>
      </p:sp>
      <p:sp>
        <p:nvSpPr>
          <p:cNvPr id="177" name="TextBox 2"/>
          <p:cNvSpPr/>
          <p:nvPr/>
        </p:nvSpPr>
        <p:spPr>
          <a:xfrm>
            <a:off x="320040" y="786240"/>
            <a:ext cx="11521080" cy="29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800" spc="-1" strike="noStrike">
                <a:solidFill>
                  <a:srgbClr val="b8c7dc"/>
                </a:solidFill>
                <a:latin typeface="Noto Sans CJK SC"/>
              </a:rPr>
              <a:t>普通 </a:t>
            </a:r>
            <a:r>
              <a:rPr b="0" lang="en-US" sz="1800" spc="-1" strike="noStrike">
                <a:solidFill>
                  <a:srgbClr val="b8c7dc"/>
                </a:solidFill>
                <a:latin typeface="Noto Sans CJK SC"/>
              </a:rPr>
              <a:t>0.20 m/s · </a:t>
            </a:r>
            <a:r>
              <a:rPr b="0" lang="zh-CN" sz="1800" spc="-1" strike="noStrike">
                <a:solidFill>
                  <a:srgbClr val="b8c7dc"/>
                </a:solidFill>
                <a:latin typeface="Noto Sans CJK SC"/>
              </a:rPr>
              <a:t>精细 </a:t>
            </a:r>
            <a:r>
              <a:rPr b="0" lang="en-US" sz="1800" spc="-1" strike="noStrike">
                <a:solidFill>
                  <a:srgbClr val="b8c7dc"/>
                </a:solidFill>
                <a:latin typeface="Noto Sans CJK SC"/>
              </a:rPr>
              <a:t>0.12 m/s · </a:t>
            </a:r>
            <a:r>
              <a:rPr b="0" lang="zh-CN" sz="1800" spc="-1" strike="noStrike">
                <a:solidFill>
                  <a:srgbClr val="b8c7dc"/>
                </a:solidFill>
                <a:latin typeface="Noto Sans CJK SC"/>
              </a:rPr>
              <a:t>推障 </a:t>
            </a:r>
            <a:r>
              <a:rPr b="0" lang="en-US" sz="1800" spc="-1" strike="noStrike">
                <a:solidFill>
                  <a:srgbClr val="b8c7dc"/>
                </a:solidFill>
                <a:latin typeface="Noto Sans CJK SC"/>
              </a:rPr>
              <a:t>0.10 m/s</a:t>
            </a:r>
            <a:r>
              <a:rPr b="0" lang="zh-CN" sz="1800" spc="-1" strike="noStrike">
                <a:solidFill>
                  <a:srgbClr val="b8c7dc"/>
                </a:solidFill>
                <a:latin typeface="Noto Sans CJK SC"/>
              </a:rPr>
              <a:t>；到位置后单独对正朝向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78" name="Rectangle 3"/>
          <p:cNvSpPr/>
          <p:nvPr/>
        </p:nvSpPr>
        <p:spPr>
          <a:xfrm>
            <a:off x="320040" y="6492240"/>
            <a:ext cx="11548440" cy="12600"/>
          </a:xfrm>
          <a:prstGeom prst="rect">
            <a:avLst/>
          </a:prstGeom>
          <a:solidFill>
            <a:srgbClr val="3b4c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9" name="TextBox 4"/>
          <p:cNvSpPr/>
          <p:nvPr/>
        </p:nvSpPr>
        <p:spPr>
          <a:xfrm>
            <a:off x="320040" y="6565320"/>
            <a:ext cx="10972440" cy="1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数据：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</a:rPr>
              <a:t>2026-10-12 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独立无界面速度实验；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</a:rPr>
              <a:t>1 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次基准、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</a:rPr>
              <a:t>2 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次最终配置，与本次 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</a:rPr>
              <a:t>GUI 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录屏分别统计。</a:t>
            </a:r>
            <a:endParaRPr b="0" lang="en-US" sz="1020" spc="-1" strike="noStrike">
              <a:latin typeface="Arial"/>
            </a:endParaRPr>
          </a:p>
        </p:txBody>
      </p:sp>
      <p:sp>
        <p:nvSpPr>
          <p:cNvPr id="180" name="TextBox 5"/>
          <p:cNvSpPr/>
          <p:nvPr/>
        </p:nvSpPr>
        <p:spPr>
          <a:xfrm>
            <a:off x="11421000" y="6537960"/>
            <a:ext cx="41112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1200" spc="-1" strike="noStrike">
                <a:solidFill>
                  <a:srgbClr val="42d5bb"/>
                </a:solidFill>
                <a:latin typeface="Noto Sans CJK SC"/>
              </a:rPr>
              <a:t>15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181" name="TextBox 6"/>
          <p:cNvSpPr/>
          <p:nvPr/>
        </p:nvSpPr>
        <p:spPr>
          <a:xfrm>
            <a:off x="502920" y="1280160"/>
            <a:ext cx="8503560" cy="44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2700" spc="-1" strike="noStrike">
                <a:solidFill>
                  <a:srgbClr val="f4f7fc"/>
                </a:solidFill>
                <a:latin typeface="Noto Sans CJK SC"/>
              </a:rPr>
              <a:t>首次导航 → 完整任务完成</a:t>
            </a:r>
            <a:endParaRPr b="0" lang="en-US" sz="2700" spc="-1" strike="noStrike">
              <a:latin typeface="Arial"/>
            </a:endParaRPr>
          </a:p>
        </p:txBody>
      </p:sp>
      <p:sp>
        <p:nvSpPr>
          <p:cNvPr id="182" name="TextBox 7"/>
          <p:cNvSpPr/>
          <p:nvPr/>
        </p:nvSpPr>
        <p:spPr>
          <a:xfrm>
            <a:off x="548640" y="2368440"/>
            <a:ext cx="2971440" cy="42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2600" spc="-1" strike="noStrike">
                <a:solidFill>
                  <a:srgbClr val="f4f7fc"/>
                </a:solidFill>
                <a:latin typeface="Noto Sans CJK SC"/>
              </a:rPr>
              <a:t>原速（</a:t>
            </a:r>
            <a:r>
              <a:rPr b="1" lang="en-US" sz="2600" spc="-1" strike="noStrike">
                <a:solidFill>
                  <a:srgbClr val="f4f7fc"/>
                </a:solidFill>
                <a:latin typeface="Noto Sans CJK SC"/>
              </a:rPr>
              <a:t>1 </a:t>
            </a:r>
            <a:r>
              <a:rPr b="1" lang="zh-CN" sz="2600" spc="-1" strike="noStrike">
                <a:solidFill>
                  <a:srgbClr val="f4f7fc"/>
                </a:solidFill>
                <a:latin typeface="Noto Sans CJK SC"/>
              </a:rPr>
              <a:t>次）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183" name="Rectangle 8"/>
          <p:cNvSpPr/>
          <p:nvPr/>
        </p:nvSpPr>
        <p:spPr>
          <a:xfrm>
            <a:off x="3703320" y="2176200"/>
            <a:ext cx="5934600" cy="877320"/>
          </a:xfrm>
          <a:prstGeom prst="rect">
            <a:avLst/>
          </a:prstGeom>
          <a:solidFill>
            <a:srgbClr val="b8c7d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4" name="TextBox 9"/>
          <p:cNvSpPr/>
          <p:nvPr/>
        </p:nvSpPr>
        <p:spPr>
          <a:xfrm>
            <a:off x="9812160" y="2350080"/>
            <a:ext cx="1919880" cy="50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3100" spc="-1" strike="noStrike">
                <a:solidFill>
                  <a:srgbClr val="b8c7dc"/>
                </a:solidFill>
                <a:latin typeface="Noto Sans CJK SC"/>
              </a:rPr>
              <a:t>310.82 s</a:t>
            </a:r>
            <a:endParaRPr b="0" lang="en-US" sz="3100" spc="-1" strike="noStrike">
              <a:latin typeface="Arial"/>
            </a:endParaRPr>
          </a:p>
        </p:txBody>
      </p:sp>
      <p:sp>
        <p:nvSpPr>
          <p:cNvPr id="185" name="TextBox 10"/>
          <p:cNvSpPr/>
          <p:nvPr/>
        </p:nvSpPr>
        <p:spPr>
          <a:xfrm>
            <a:off x="548640" y="3895200"/>
            <a:ext cx="2971440" cy="42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2600" spc="-1" strike="noStrike">
                <a:solidFill>
                  <a:srgbClr val="f4f7fc"/>
                </a:solidFill>
                <a:latin typeface="Noto Sans CJK SC"/>
              </a:rPr>
              <a:t>最终（</a:t>
            </a:r>
            <a:r>
              <a:rPr b="1" lang="en-US" sz="2600" spc="-1" strike="noStrike">
                <a:solidFill>
                  <a:srgbClr val="f4f7fc"/>
                </a:solidFill>
                <a:latin typeface="Noto Sans CJK SC"/>
              </a:rPr>
              <a:t>2 </a:t>
            </a:r>
            <a:r>
              <a:rPr b="1" lang="zh-CN" sz="2600" spc="-1" strike="noStrike">
                <a:solidFill>
                  <a:srgbClr val="f4f7fc"/>
                </a:solidFill>
                <a:latin typeface="Noto Sans CJK SC"/>
              </a:rPr>
              <a:t>次均值）</a:t>
            </a:r>
            <a:endParaRPr b="0" lang="en-US" sz="2600" spc="-1" strike="noStrike">
              <a:latin typeface="Arial"/>
            </a:endParaRPr>
          </a:p>
        </p:txBody>
      </p:sp>
      <p:sp>
        <p:nvSpPr>
          <p:cNvPr id="186" name="Rectangle 11"/>
          <p:cNvSpPr/>
          <p:nvPr/>
        </p:nvSpPr>
        <p:spPr>
          <a:xfrm>
            <a:off x="3703320" y="3703320"/>
            <a:ext cx="5483520" cy="877320"/>
          </a:xfrm>
          <a:prstGeom prst="rect">
            <a:avLst/>
          </a:prstGeom>
          <a:solidFill>
            <a:srgbClr val="42d5b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7" name="TextBox 12"/>
          <p:cNvSpPr/>
          <p:nvPr/>
        </p:nvSpPr>
        <p:spPr>
          <a:xfrm>
            <a:off x="9361080" y="3877200"/>
            <a:ext cx="1919880" cy="50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3100" spc="-1" strike="noStrike">
                <a:solidFill>
                  <a:srgbClr val="42d5bb"/>
                </a:solidFill>
                <a:latin typeface="Noto Sans CJK SC"/>
              </a:rPr>
              <a:t>287.20 s</a:t>
            </a:r>
            <a:endParaRPr b="0" lang="en-US" sz="3100" spc="-1" strike="noStrike">
              <a:latin typeface="Arial"/>
            </a:endParaRPr>
          </a:p>
        </p:txBody>
      </p:sp>
      <p:sp>
        <p:nvSpPr>
          <p:cNvPr id="188" name="TextBox 13"/>
          <p:cNvSpPr/>
          <p:nvPr/>
        </p:nvSpPr>
        <p:spPr>
          <a:xfrm>
            <a:off x="640080" y="5294520"/>
            <a:ext cx="4388760" cy="60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3700" spc="-1" strike="noStrike">
                <a:solidFill>
                  <a:srgbClr val="ffc466"/>
                </a:solidFill>
                <a:latin typeface="Noto Sans CJK SC"/>
              </a:rPr>
              <a:t>节省 </a:t>
            </a:r>
            <a:r>
              <a:rPr b="1" lang="en-US" sz="3700" spc="-1" strike="noStrike">
                <a:solidFill>
                  <a:srgbClr val="ffc466"/>
                </a:solidFill>
                <a:latin typeface="Noto Sans CJK SC"/>
              </a:rPr>
              <a:t>23.62 s</a:t>
            </a:r>
            <a:endParaRPr b="0" lang="en-US" sz="3700" spc="-1" strike="noStrike">
              <a:latin typeface="Arial"/>
            </a:endParaRPr>
          </a:p>
        </p:txBody>
      </p:sp>
      <p:sp>
        <p:nvSpPr>
          <p:cNvPr id="189" name="TextBox 14"/>
          <p:cNvSpPr/>
          <p:nvPr/>
        </p:nvSpPr>
        <p:spPr>
          <a:xfrm>
            <a:off x="5513760" y="5221080"/>
            <a:ext cx="6126120" cy="96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2800" spc="-1" strike="noStrike">
                <a:solidFill>
                  <a:srgbClr val="42d5bb"/>
                </a:solidFill>
                <a:latin typeface="Noto Sans CJK SC"/>
              </a:rPr>
              <a:t>5 </a:t>
            </a:r>
            <a:r>
              <a:rPr b="1" lang="zh-CN" sz="2800" spc="-1" strike="noStrike">
                <a:solidFill>
                  <a:srgbClr val="42d5bb"/>
                </a:solidFill>
                <a:latin typeface="Noto Sans CJK SC"/>
              </a:rPr>
              <a:t>类 </a:t>
            </a:r>
            <a:r>
              <a:rPr b="1" lang="en-US" sz="2800" spc="-1" strike="noStrike">
                <a:solidFill>
                  <a:srgbClr val="42d5bb"/>
                </a:solidFill>
                <a:latin typeface="Noto Sans CJK SC"/>
              </a:rPr>
              <a:t>+ 4 </a:t>
            </a:r>
            <a:r>
              <a:rPr b="1" lang="zh-CN" sz="2800" spc="-1" strike="noStrike">
                <a:solidFill>
                  <a:srgbClr val="42d5bb"/>
                </a:solidFill>
                <a:latin typeface="Noto Sans CJK SC"/>
              </a:rPr>
              <a:t>标签</a:t>
            </a:r>
            <a:endParaRPr b="0" lang="en-US" sz="2800" spc="-1" strike="noStrike">
              <a:latin typeface="Arial"/>
            </a:endParaRPr>
          </a:p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2800" spc="-1" strike="noStrike">
                <a:solidFill>
                  <a:srgbClr val="42d5bb"/>
                </a:solidFill>
                <a:latin typeface="Noto Sans CJK SC"/>
              </a:rPr>
              <a:t>两次均完成全部目标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TextBox 1"/>
          <p:cNvSpPr/>
          <p:nvPr/>
        </p:nvSpPr>
        <p:spPr>
          <a:xfrm>
            <a:off x="311040" y="164520"/>
            <a:ext cx="11566800" cy="50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3100" spc="-1" strike="noStrike">
                <a:solidFill>
                  <a:srgbClr val="f4f7fc"/>
                </a:solidFill>
                <a:latin typeface="Noto Sans CJK SC"/>
              </a:rPr>
              <a:t>当前视频的同次验收结果</a:t>
            </a:r>
            <a:endParaRPr b="0" lang="en-US" sz="3100" spc="-1" strike="noStrike">
              <a:latin typeface="Arial"/>
            </a:endParaRPr>
          </a:p>
        </p:txBody>
      </p:sp>
      <p:sp>
        <p:nvSpPr>
          <p:cNvPr id="191" name="TextBox 2"/>
          <p:cNvSpPr/>
          <p:nvPr/>
        </p:nvSpPr>
        <p:spPr>
          <a:xfrm>
            <a:off x="320040" y="786240"/>
            <a:ext cx="11521080" cy="29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800" spc="-1" strike="noStrike">
                <a:solidFill>
                  <a:srgbClr val="b8c7dc"/>
                </a:solidFill>
                <a:latin typeface="Noto Sans CJK SC"/>
              </a:rPr>
              <a:t>完整任务、相机画面、日志、轨迹和源码哈希对应同一运行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92" name="Rectangle 3"/>
          <p:cNvSpPr/>
          <p:nvPr/>
        </p:nvSpPr>
        <p:spPr>
          <a:xfrm>
            <a:off x="320040" y="6492240"/>
            <a:ext cx="11548440" cy="12600"/>
          </a:xfrm>
          <a:prstGeom prst="rect">
            <a:avLst/>
          </a:prstGeom>
          <a:solidFill>
            <a:srgbClr val="3b4c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93" name="TextBox 4"/>
          <p:cNvSpPr/>
          <p:nvPr/>
        </p:nvSpPr>
        <p:spPr>
          <a:xfrm>
            <a:off x="320040" y="6565320"/>
            <a:ext cx="10972440" cy="1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同次 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</a:rPr>
              <a:t>evidence/evaluation.json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；墙体轮廓离散采样为空，不等于连续接触测量。</a:t>
            </a:r>
            <a:endParaRPr b="0" lang="en-US" sz="1020" spc="-1" strike="noStrike">
              <a:latin typeface="Arial"/>
            </a:endParaRPr>
          </a:p>
        </p:txBody>
      </p:sp>
      <p:sp>
        <p:nvSpPr>
          <p:cNvPr id="194" name="TextBox 5"/>
          <p:cNvSpPr/>
          <p:nvPr/>
        </p:nvSpPr>
        <p:spPr>
          <a:xfrm>
            <a:off x="11421000" y="6537960"/>
            <a:ext cx="41112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1200" spc="-1" strike="noStrike">
                <a:solidFill>
                  <a:srgbClr val="42d5bb"/>
                </a:solidFill>
                <a:latin typeface="Noto Sans CJK SC"/>
              </a:rPr>
              <a:t>16</a:t>
            </a:r>
            <a:endParaRPr b="0" lang="en-US" sz="1200" spc="-1" strike="noStrike">
              <a:latin typeface="Arial"/>
            </a:endParaRPr>
          </a:p>
        </p:txBody>
      </p:sp>
      <p:pic>
        <p:nvPicPr>
          <p:cNvPr id="195" name="Picture 6" descr="trajectory.png"/>
          <p:cNvPicPr/>
          <p:nvPr/>
        </p:nvPicPr>
        <p:blipFill>
          <a:blip r:embed="rId1"/>
          <a:stretch/>
        </p:blipFill>
        <p:spPr>
          <a:xfrm>
            <a:off x="329760" y="1188720"/>
            <a:ext cx="4890240" cy="5147640"/>
          </a:xfrm>
          <a:prstGeom prst="rect">
            <a:avLst/>
          </a:prstGeom>
          <a:ln w="0">
            <a:noFill/>
          </a:ln>
        </p:spPr>
      </p:pic>
      <p:sp>
        <p:nvSpPr>
          <p:cNvPr id="196" name="Rectangle 7"/>
          <p:cNvSpPr/>
          <p:nvPr/>
        </p:nvSpPr>
        <p:spPr>
          <a:xfrm>
            <a:off x="5440680" y="1325880"/>
            <a:ext cx="3181680" cy="1142640"/>
          </a:xfrm>
          <a:prstGeom prst="rect">
            <a:avLst/>
          </a:prstGeom>
          <a:solidFill>
            <a:srgbClr val="1d2c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97" name="TextBox 8"/>
          <p:cNvSpPr/>
          <p:nvPr/>
        </p:nvSpPr>
        <p:spPr>
          <a:xfrm>
            <a:off x="5596200" y="1417320"/>
            <a:ext cx="287100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3200" spc="-1" strike="noStrike">
                <a:solidFill>
                  <a:srgbClr val="42d5bb"/>
                </a:solidFill>
                <a:latin typeface="Noto Sans CJK SC"/>
              </a:rPr>
              <a:t>5 / 5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198" name="TextBox 9"/>
          <p:cNvSpPr/>
          <p:nvPr/>
        </p:nvSpPr>
        <p:spPr>
          <a:xfrm>
            <a:off x="5596200" y="1984320"/>
            <a:ext cx="2871000" cy="29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800" spc="-1" strike="noStrike">
                <a:solidFill>
                  <a:srgbClr val="b8c7dc"/>
                </a:solidFill>
                <a:latin typeface="Noto Sans CJK SC"/>
              </a:rPr>
              <a:t>走廊类别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199" name="Rectangle 10"/>
          <p:cNvSpPr/>
          <p:nvPr/>
        </p:nvSpPr>
        <p:spPr>
          <a:xfrm>
            <a:off x="8686800" y="1325880"/>
            <a:ext cx="3181680" cy="1142640"/>
          </a:xfrm>
          <a:prstGeom prst="rect">
            <a:avLst/>
          </a:prstGeom>
          <a:solidFill>
            <a:srgbClr val="1d2c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00" name="TextBox 11"/>
          <p:cNvSpPr/>
          <p:nvPr/>
        </p:nvSpPr>
        <p:spPr>
          <a:xfrm>
            <a:off x="8842320" y="1417320"/>
            <a:ext cx="287100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3200" spc="-1" strike="noStrike">
                <a:solidFill>
                  <a:srgbClr val="42d5bb"/>
                </a:solidFill>
                <a:latin typeface="Noto Sans CJK SC"/>
              </a:rPr>
              <a:t>4 / 4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201" name="TextBox 12"/>
          <p:cNvSpPr/>
          <p:nvPr/>
        </p:nvSpPr>
        <p:spPr>
          <a:xfrm>
            <a:off x="8842320" y="1984320"/>
            <a:ext cx="2871000" cy="29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800" spc="-1" strike="noStrike">
                <a:solidFill>
                  <a:srgbClr val="b8c7dc"/>
                </a:solidFill>
                <a:latin typeface="Noto Sans CJK SC"/>
              </a:rPr>
              <a:t>核心 </a:t>
            </a:r>
            <a:r>
              <a:rPr b="0" lang="en-US" sz="1800" spc="-1" strike="noStrike">
                <a:solidFill>
                  <a:srgbClr val="b8c7dc"/>
                </a:solidFill>
                <a:latin typeface="Noto Sans CJK SC"/>
              </a:rPr>
              <a:t>Marker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02" name="Rectangle 13"/>
          <p:cNvSpPr/>
          <p:nvPr/>
        </p:nvSpPr>
        <p:spPr>
          <a:xfrm>
            <a:off x="5440680" y="2788920"/>
            <a:ext cx="3181680" cy="1142640"/>
          </a:xfrm>
          <a:prstGeom prst="rect">
            <a:avLst/>
          </a:prstGeom>
          <a:solidFill>
            <a:srgbClr val="1d2c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03" name="TextBox 14"/>
          <p:cNvSpPr/>
          <p:nvPr/>
        </p:nvSpPr>
        <p:spPr>
          <a:xfrm>
            <a:off x="5596200" y="2880360"/>
            <a:ext cx="287100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3200" spc="-1" strike="noStrike">
                <a:solidFill>
                  <a:srgbClr val="42d5bb"/>
                </a:solidFill>
                <a:latin typeface="Noto Sans CJK SC"/>
              </a:rPr>
              <a:t>0.9960 m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204" name="TextBox 15"/>
          <p:cNvSpPr/>
          <p:nvPr/>
        </p:nvSpPr>
        <p:spPr>
          <a:xfrm>
            <a:off x="5596200" y="3447360"/>
            <a:ext cx="2871000" cy="29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800" spc="-1" strike="noStrike">
                <a:solidFill>
                  <a:srgbClr val="b8c7dc"/>
                </a:solidFill>
                <a:latin typeface="Noto Sans CJK SC"/>
              </a:rPr>
              <a:t>箱体实际位移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05" name="Rectangle 16"/>
          <p:cNvSpPr/>
          <p:nvPr/>
        </p:nvSpPr>
        <p:spPr>
          <a:xfrm>
            <a:off x="8686800" y="2788920"/>
            <a:ext cx="3181680" cy="1142640"/>
          </a:xfrm>
          <a:prstGeom prst="rect">
            <a:avLst/>
          </a:prstGeom>
          <a:solidFill>
            <a:srgbClr val="1d2c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06" name="TextBox 17"/>
          <p:cNvSpPr/>
          <p:nvPr/>
        </p:nvSpPr>
        <p:spPr>
          <a:xfrm>
            <a:off x="8842320" y="2880360"/>
            <a:ext cx="2871000" cy="52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3200" spc="-1" strike="noStrike">
                <a:solidFill>
                  <a:srgbClr val="42d5bb"/>
                </a:solidFill>
                <a:latin typeface="Noto Sans CJK SC"/>
              </a:rPr>
              <a:t>4.26 cm</a:t>
            </a:r>
            <a:endParaRPr b="0" lang="en-US" sz="3200" spc="-1" strike="noStrike">
              <a:latin typeface="Arial"/>
            </a:endParaRPr>
          </a:p>
        </p:txBody>
      </p:sp>
      <p:sp>
        <p:nvSpPr>
          <p:cNvPr id="207" name="TextBox 18"/>
          <p:cNvSpPr/>
          <p:nvPr/>
        </p:nvSpPr>
        <p:spPr>
          <a:xfrm>
            <a:off x="8842320" y="3447360"/>
            <a:ext cx="2871000" cy="29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800" spc="-1" strike="noStrike">
                <a:solidFill>
                  <a:srgbClr val="b8c7dc"/>
                </a:solidFill>
                <a:latin typeface="Noto Sans CJK SC"/>
              </a:rPr>
              <a:t>返航位置误差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08" name="TextBox 19"/>
          <p:cNvSpPr/>
          <p:nvPr/>
        </p:nvSpPr>
        <p:spPr>
          <a:xfrm>
            <a:off x="5614560" y="4389120"/>
            <a:ext cx="5943240" cy="40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2500" spc="-1" strike="noStrike">
                <a:solidFill>
                  <a:srgbClr val="f4f7fc"/>
                </a:solidFill>
                <a:latin typeface="Noto Sans CJK SC"/>
              </a:rPr>
              <a:t>四标记 </a:t>
            </a:r>
            <a:r>
              <a:rPr b="1" lang="en-US" sz="2500" spc="-1" strike="noStrike">
                <a:solidFill>
                  <a:srgbClr val="f4f7fc"/>
                </a:solidFill>
                <a:latin typeface="Noto Sans CJK SC"/>
              </a:rPr>
              <a:t>map </a:t>
            </a:r>
            <a:r>
              <a:rPr b="1" lang="zh-CN" sz="2500" spc="-1" strike="noStrike">
                <a:solidFill>
                  <a:srgbClr val="f4f7fc"/>
                </a:solidFill>
                <a:latin typeface="Noto Sans CJK SC"/>
              </a:rPr>
              <a:t>平面误差</a:t>
            </a:r>
            <a:endParaRPr b="0" lang="en-US" sz="2500" spc="-1" strike="noStrike">
              <a:latin typeface="Arial"/>
            </a:endParaRPr>
          </a:p>
        </p:txBody>
      </p:sp>
      <p:sp>
        <p:nvSpPr>
          <p:cNvPr id="209" name="TextBox 20"/>
          <p:cNvSpPr/>
          <p:nvPr/>
        </p:nvSpPr>
        <p:spPr>
          <a:xfrm>
            <a:off x="5614560" y="5001840"/>
            <a:ext cx="5943240" cy="60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3700" spc="-1" strike="noStrike">
                <a:solidFill>
                  <a:srgbClr val="42d5bb"/>
                </a:solidFill>
                <a:latin typeface="Noto Sans CJK SC"/>
              </a:rPr>
              <a:t>7.52–13.94 cm</a:t>
            </a:r>
            <a:endParaRPr b="0" lang="en-US" sz="3700" spc="-1" strike="noStrike">
              <a:latin typeface="Arial"/>
            </a:endParaRPr>
          </a:p>
        </p:txBody>
      </p:sp>
      <p:sp>
        <p:nvSpPr>
          <p:cNvPr id="210" name="TextBox 21"/>
          <p:cNvSpPr/>
          <p:nvPr/>
        </p:nvSpPr>
        <p:spPr>
          <a:xfrm>
            <a:off x="5605200" y="5852160"/>
            <a:ext cx="608040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2200" spc="-1" strike="noStrike">
                <a:solidFill>
                  <a:srgbClr val="b8c7dc"/>
                </a:solidFill>
                <a:latin typeface="Noto Sans CJK SC"/>
              </a:rPr>
              <a:t>在线 </a:t>
            </a:r>
            <a:r>
              <a:rPr b="0" lang="en-US" sz="2200" spc="-1" strike="noStrike">
                <a:solidFill>
                  <a:srgbClr val="b8c7dc"/>
                </a:solidFill>
                <a:latin typeface="Noto Sans CJK SC"/>
              </a:rPr>
              <a:t>SLAM </a:t>
            </a:r>
            <a:r>
              <a:rPr b="0" lang="zh-CN" sz="2200" spc="-1" strike="noStrike">
                <a:solidFill>
                  <a:srgbClr val="b8c7dc"/>
                </a:solidFill>
                <a:latin typeface="Noto Sans CJK SC"/>
              </a:rPr>
              <a:t>已留档 </a:t>
            </a:r>
            <a:r>
              <a:rPr b="0" lang="en-US" sz="2200" spc="-1" strike="noStrike">
                <a:solidFill>
                  <a:srgbClr val="b8c7dc"/>
                </a:solidFill>
                <a:latin typeface="Noto Sans CJK SC"/>
              </a:rPr>
              <a:t>· </a:t>
            </a:r>
            <a:r>
              <a:rPr b="0" lang="zh-CN" sz="2200" spc="-1" strike="noStrike">
                <a:solidFill>
                  <a:srgbClr val="b8c7dc"/>
                </a:solidFill>
                <a:latin typeface="Noto Sans CJK SC"/>
              </a:rPr>
              <a:t>项目验收通过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Box 1"/>
          <p:cNvSpPr/>
          <p:nvPr/>
        </p:nvSpPr>
        <p:spPr>
          <a:xfrm>
            <a:off x="311040" y="164520"/>
            <a:ext cx="11566800" cy="50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3100" spc="-1" strike="noStrike">
                <a:solidFill>
                  <a:srgbClr val="f4f7fc"/>
                </a:solidFill>
                <a:latin typeface="Noto Sans CJK SC"/>
              </a:rPr>
              <a:t>团队贡献：结构、感知与导航协同实现</a:t>
            </a:r>
            <a:endParaRPr b="0" lang="en-US" sz="3100" spc="-1" strike="noStrike">
              <a:latin typeface="Arial"/>
            </a:endParaRPr>
          </a:p>
        </p:txBody>
      </p:sp>
      <p:sp>
        <p:nvSpPr>
          <p:cNvPr id="212" name="TextBox 2"/>
          <p:cNvSpPr/>
          <p:nvPr/>
        </p:nvSpPr>
        <p:spPr>
          <a:xfrm>
            <a:off x="320040" y="786240"/>
            <a:ext cx="11521080" cy="29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800" spc="-1" strike="noStrike">
                <a:solidFill>
                  <a:srgbClr val="b8c7dc"/>
                </a:solidFill>
                <a:latin typeface="Noto Sans CJK SC"/>
              </a:rPr>
              <a:t>面向本场地验证；下一步做随机初始条件、逐帧评估与接触力检测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13" name="Rectangle 3"/>
          <p:cNvSpPr/>
          <p:nvPr/>
        </p:nvSpPr>
        <p:spPr>
          <a:xfrm>
            <a:off x="320040" y="6492240"/>
            <a:ext cx="11548440" cy="12600"/>
          </a:xfrm>
          <a:prstGeom prst="rect">
            <a:avLst/>
          </a:prstGeom>
          <a:solidFill>
            <a:srgbClr val="3b4c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14" name="TextBox 4"/>
          <p:cNvSpPr/>
          <p:nvPr/>
        </p:nvSpPr>
        <p:spPr>
          <a:xfrm>
            <a:off x="320040" y="6565320"/>
            <a:ext cx="10972440" cy="1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基础算法与框架明确第三方归属，团队贡献可追溯到机构设计、源码及实测。</a:t>
            </a:r>
            <a:endParaRPr b="0" lang="en-US" sz="1020" spc="-1" strike="noStrike">
              <a:latin typeface="Arial"/>
            </a:endParaRPr>
          </a:p>
        </p:txBody>
      </p:sp>
      <p:sp>
        <p:nvSpPr>
          <p:cNvPr id="215" name="TextBox 5"/>
          <p:cNvSpPr/>
          <p:nvPr/>
        </p:nvSpPr>
        <p:spPr>
          <a:xfrm>
            <a:off x="11421000" y="6537960"/>
            <a:ext cx="41112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1200" spc="-1" strike="noStrike">
                <a:solidFill>
                  <a:srgbClr val="42d5bb"/>
                </a:solidFill>
                <a:latin typeface="Noto Sans CJK SC"/>
              </a:rPr>
              <a:t>17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16" name="Rectangle 6"/>
          <p:cNvSpPr/>
          <p:nvPr/>
        </p:nvSpPr>
        <p:spPr>
          <a:xfrm>
            <a:off x="320040" y="1517760"/>
            <a:ext cx="3721320" cy="3062880"/>
          </a:xfrm>
          <a:prstGeom prst="rect">
            <a:avLst/>
          </a:prstGeom>
          <a:solidFill>
            <a:srgbClr val="1d2c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17" name="TextBox 7"/>
          <p:cNvSpPr/>
          <p:nvPr/>
        </p:nvSpPr>
        <p:spPr>
          <a:xfrm>
            <a:off x="530280" y="1710000"/>
            <a:ext cx="3291480" cy="50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3100" spc="-1" strike="noStrike">
                <a:solidFill>
                  <a:srgbClr val="42d5bb"/>
                </a:solidFill>
                <a:latin typeface="Noto Sans CJK SC"/>
              </a:rPr>
              <a:t>01</a:t>
            </a:r>
            <a:endParaRPr b="0" lang="en-US" sz="3100" spc="-1" strike="noStrike">
              <a:latin typeface="Arial"/>
            </a:endParaRPr>
          </a:p>
        </p:txBody>
      </p:sp>
      <p:sp>
        <p:nvSpPr>
          <p:cNvPr id="218" name="TextBox 8"/>
          <p:cNvSpPr/>
          <p:nvPr/>
        </p:nvSpPr>
        <p:spPr>
          <a:xfrm>
            <a:off x="530280" y="2386440"/>
            <a:ext cx="3291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2800" spc="-1" strike="noStrike">
                <a:solidFill>
                  <a:srgbClr val="f4f7fc"/>
                </a:solidFill>
                <a:latin typeface="Noto Sans CJK SC"/>
              </a:rPr>
              <a:t>结构与接触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19" name="TextBox 9"/>
          <p:cNvSpPr/>
          <p:nvPr/>
        </p:nvSpPr>
        <p:spPr>
          <a:xfrm>
            <a:off x="530280" y="3163680"/>
            <a:ext cx="3291480" cy="73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2100" spc="-1" strike="noStrike">
                <a:solidFill>
                  <a:srgbClr val="f4f7fc"/>
                </a:solidFill>
                <a:latin typeface="Noto Sans CJK SC"/>
              </a:rPr>
              <a:t>新版云台 </a:t>
            </a:r>
            <a:r>
              <a:rPr b="0" lang="en-US" sz="2100" spc="-1" strike="noStrike">
                <a:solidFill>
                  <a:srgbClr val="f4f7fc"/>
                </a:solidFill>
                <a:latin typeface="Noto Sans CJK SC"/>
              </a:rPr>
              <a:t>· </a:t>
            </a:r>
            <a:r>
              <a:rPr b="0" lang="zh-CN" sz="2100" spc="-1" strike="noStrike">
                <a:solidFill>
                  <a:srgbClr val="f4f7fc"/>
                </a:solidFill>
                <a:latin typeface="Noto Sans CJK SC"/>
              </a:rPr>
              <a:t>被动推板</a:t>
            </a:r>
            <a:endParaRPr b="0" lang="en-US" sz="2100" spc="-1" strike="noStrike">
              <a:latin typeface="Arial"/>
            </a:endParaRPr>
          </a:p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2100" spc="-1" strike="noStrike">
                <a:solidFill>
                  <a:srgbClr val="f4f7fc"/>
                </a:solidFill>
                <a:latin typeface="Noto Sans CJK SC"/>
              </a:rPr>
              <a:t>完整轮廓 </a:t>
            </a:r>
            <a:r>
              <a:rPr b="0" lang="en-US" sz="2100" spc="-1" strike="noStrike">
                <a:solidFill>
                  <a:srgbClr val="f4f7fc"/>
                </a:solidFill>
                <a:latin typeface="Noto Sans CJK SC"/>
              </a:rPr>
              <a:t>· </a:t>
            </a:r>
            <a:r>
              <a:rPr b="0" lang="zh-CN" sz="2100" spc="-1" strike="noStrike">
                <a:solidFill>
                  <a:srgbClr val="f4f7fc"/>
                </a:solidFill>
                <a:latin typeface="Noto Sans CJK SC"/>
              </a:rPr>
              <a:t>有界接触</a:t>
            </a:r>
            <a:endParaRPr b="0" lang="en-US" sz="2100" spc="-1" strike="noStrike">
              <a:latin typeface="Arial"/>
            </a:endParaRPr>
          </a:p>
        </p:txBody>
      </p:sp>
      <p:sp>
        <p:nvSpPr>
          <p:cNvPr id="220" name="Rectangle 10"/>
          <p:cNvSpPr/>
          <p:nvPr/>
        </p:nvSpPr>
        <p:spPr>
          <a:xfrm>
            <a:off x="4233600" y="1517760"/>
            <a:ext cx="3721320" cy="3062880"/>
          </a:xfrm>
          <a:prstGeom prst="rect">
            <a:avLst/>
          </a:prstGeom>
          <a:solidFill>
            <a:srgbClr val="1d2c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1" name="TextBox 11"/>
          <p:cNvSpPr/>
          <p:nvPr/>
        </p:nvSpPr>
        <p:spPr>
          <a:xfrm>
            <a:off x="4443840" y="1710000"/>
            <a:ext cx="3291480" cy="50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3100" spc="-1" strike="noStrike">
                <a:solidFill>
                  <a:srgbClr val="42d5bb"/>
                </a:solidFill>
                <a:latin typeface="Noto Sans CJK SC"/>
              </a:rPr>
              <a:t>02</a:t>
            </a:r>
            <a:endParaRPr b="0" lang="en-US" sz="3100" spc="-1" strike="noStrike">
              <a:latin typeface="Arial"/>
            </a:endParaRPr>
          </a:p>
        </p:txBody>
      </p:sp>
      <p:sp>
        <p:nvSpPr>
          <p:cNvPr id="222" name="TextBox 12"/>
          <p:cNvSpPr/>
          <p:nvPr/>
        </p:nvSpPr>
        <p:spPr>
          <a:xfrm>
            <a:off x="4443840" y="2386440"/>
            <a:ext cx="3291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2800" spc="-1" strike="noStrike">
                <a:solidFill>
                  <a:srgbClr val="f4f7fc"/>
                </a:solidFill>
                <a:latin typeface="Noto Sans CJK SC"/>
              </a:rPr>
              <a:t>感知与标定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23" name="TextBox 13"/>
          <p:cNvSpPr/>
          <p:nvPr/>
        </p:nvSpPr>
        <p:spPr>
          <a:xfrm>
            <a:off x="4443840" y="3163680"/>
            <a:ext cx="3291480" cy="73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2100" spc="-1" strike="noStrike">
                <a:solidFill>
                  <a:srgbClr val="f4f7fc"/>
                </a:solidFill>
                <a:latin typeface="Noto Sans CJK SC"/>
              </a:rPr>
              <a:t>图案 </a:t>
            </a:r>
            <a:r>
              <a:rPr b="0" lang="en-US" sz="2100" spc="-1" strike="noStrike">
                <a:solidFill>
                  <a:srgbClr val="f4f7fc"/>
                </a:solidFill>
                <a:latin typeface="Noto Sans CJK SC"/>
              </a:rPr>
              <a:t>· </a:t>
            </a:r>
            <a:r>
              <a:rPr b="0" lang="zh-CN" sz="2100" spc="-1" strike="noStrike">
                <a:solidFill>
                  <a:srgbClr val="f4f7fc"/>
                </a:solidFill>
                <a:latin typeface="Noto Sans CJK SC"/>
              </a:rPr>
              <a:t>几何 </a:t>
            </a:r>
            <a:r>
              <a:rPr b="0" lang="en-US" sz="2100" spc="-1" strike="noStrike">
                <a:solidFill>
                  <a:srgbClr val="f4f7fc"/>
                </a:solidFill>
                <a:latin typeface="Noto Sans CJK SC"/>
              </a:rPr>
              <a:t>· </a:t>
            </a:r>
            <a:r>
              <a:rPr b="0" lang="zh-CN" sz="2100" spc="-1" strike="noStrike">
                <a:solidFill>
                  <a:srgbClr val="f4f7fc"/>
                </a:solidFill>
                <a:latin typeface="Noto Sans CJK SC"/>
              </a:rPr>
              <a:t>时序核验</a:t>
            </a:r>
            <a:endParaRPr b="0" lang="en-US" sz="2100" spc="-1" strike="noStrike">
              <a:latin typeface="Arial"/>
            </a:endParaRPr>
          </a:p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2100" spc="-1" strike="noStrike">
                <a:solidFill>
                  <a:srgbClr val="f4f7fc"/>
                </a:solidFill>
                <a:latin typeface="Noto Sans CJK SC"/>
              </a:rPr>
              <a:t>拍摄时刻 </a:t>
            </a:r>
            <a:r>
              <a:rPr b="0" lang="en-US" sz="2100" spc="-1" strike="noStrike">
                <a:solidFill>
                  <a:srgbClr val="f4f7fc"/>
                </a:solidFill>
                <a:latin typeface="Noto Sans CJK SC"/>
              </a:rPr>
              <a:t>TF · </a:t>
            </a:r>
            <a:r>
              <a:rPr b="0" lang="zh-CN" sz="2100" spc="-1" strike="noStrike">
                <a:solidFill>
                  <a:srgbClr val="f4f7fc"/>
                </a:solidFill>
                <a:latin typeface="Noto Sans CJK SC"/>
              </a:rPr>
              <a:t>位置融合</a:t>
            </a:r>
            <a:endParaRPr b="0" lang="en-US" sz="2100" spc="-1" strike="noStrike">
              <a:latin typeface="Arial"/>
            </a:endParaRPr>
          </a:p>
        </p:txBody>
      </p:sp>
      <p:sp>
        <p:nvSpPr>
          <p:cNvPr id="224" name="Rectangle 14"/>
          <p:cNvSpPr/>
          <p:nvPr/>
        </p:nvSpPr>
        <p:spPr>
          <a:xfrm>
            <a:off x="8147160" y="1517760"/>
            <a:ext cx="3721320" cy="3062880"/>
          </a:xfrm>
          <a:prstGeom prst="rect">
            <a:avLst/>
          </a:prstGeom>
          <a:solidFill>
            <a:srgbClr val="1d2c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5" name="TextBox 15"/>
          <p:cNvSpPr/>
          <p:nvPr/>
        </p:nvSpPr>
        <p:spPr>
          <a:xfrm>
            <a:off x="8357760" y="1710000"/>
            <a:ext cx="3291480" cy="50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3100" spc="-1" strike="noStrike">
                <a:solidFill>
                  <a:srgbClr val="42d5bb"/>
                </a:solidFill>
                <a:latin typeface="Noto Sans CJK SC"/>
              </a:rPr>
              <a:t>03</a:t>
            </a:r>
            <a:endParaRPr b="0" lang="en-US" sz="3100" spc="-1" strike="noStrike">
              <a:latin typeface="Arial"/>
            </a:endParaRPr>
          </a:p>
        </p:txBody>
      </p:sp>
      <p:sp>
        <p:nvSpPr>
          <p:cNvPr id="226" name="TextBox 16"/>
          <p:cNvSpPr/>
          <p:nvPr/>
        </p:nvSpPr>
        <p:spPr>
          <a:xfrm>
            <a:off x="8357760" y="2386440"/>
            <a:ext cx="32914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2800" spc="-1" strike="noStrike">
                <a:solidFill>
                  <a:srgbClr val="f4f7fc"/>
                </a:solidFill>
                <a:latin typeface="Noto Sans CJK SC"/>
              </a:rPr>
              <a:t>导航与复现</a:t>
            </a:r>
            <a:endParaRPr b="0" lang="en-US" sz="2800" spc="-1" strike="noStrike">
              <a:latin typeface="Arial"/>
            </a:endParaRPr>
          </a:p>
        </p:txBody>
      </p:sp>
      <p:sp>
        <p:nvSpPr>
          <p:cNvPr id="227" name="TextBox 17"/>
          <p:cNvSpPr/>
          <p:nvPr/>
        </p:nvSpPr>
        <p:spPr>
          <a:xfrm>
            <a:off x="8357760" y="3163680"/>
            <a:ext cx="3291480" cy="73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2100" spc="-1" strike="noStrike">
                <a:solidFill>
                  <a:srgbClr val="f4f7fc"/>
                </a:solidFill>
                <a:latin typeface="Noto Sans CJK SC"/>
              </a:rPr>
              <a:t>激光自由证据地图处理</a:t>
            </a:r>
            <a:endParaRPr b="0" lang="en-US" sz="2100" spc="-1" strike="noStrike">
              <a:latin typeface="Arial"/>
            </a:endParaRPr>
          </a:p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2100" spc="-1" strike="noStrike">
                <a:solidFill>
                  <a:srgbClr val="f4f7fc"/>
                </a:solidFill>
                <a:latin typeface="Noto Sans CJK SC"/>
              </a:rPr>
              <a:t>阶段控制 </a:t>
            </a:r>
            <a:r>
              <a:rPr b="0" lang="en-US" sz="2100" spc="-1" strike="noStrike">
                <a:solidFill>
                  <a:srgbClr val="f4f7fc"/>
                </a:solidFill>
                <a:latin typeface="Noto Sans CJK SC"/>
              </a:rPr>
              <a:t>· </a:t>
            </a:r>
            <a:r>
              <a:rPr b="0" lang="zh-CN" sz="2100" spc="-1" strike="noStrike">
                <a:solidFill>
                  <a:srgbClr val="f4f7fc"/>
                </a:solidFill>
                <a:latin typeface="Noto Sans CJK SC"/>
              </a:rPr>
              <a:t>独立验收</a:t>
            </a:r>
            <a:endParaRPr b="0" lang="en-US" sz="2100" spc="-1" strike="noStrike">
              <a:latin typeface="Arial"/>
            </a:endParaRPr>
          </a:p>
        </p:txBody>
      </p:sp>
      <p:sp>
        <p:nvSpPr>
          <p:cNvPr id="228" name="TextBox 18"/>
          <p:cNvSpPr/>
          <p:nvPr/>
        </p:nvSpPr>
        <p:spPr>
          <a:xfrm>
            <a:off x="411480" y="5083920"/>
            <a:ext cx="11383920" cy="76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2200" spc="-1" strike="noStrike">
                <a:solidFill>
                  <a:srgbClr val="b8c7dc"/>
                </a:solidFill>
                <a:latin typeface="Noto Sans CJK SC"/>
              </a:rPr>
              <a:t>第三方基础：</a:t>
            </a:r>
            <a:r>
              <a:rPr b="0" lang="en-US" sz="2200" spc="-1" strike="noStrike">
                <a:solidFill>
                  <a:srgbClr val="b8c7dc"/>
                </a:solidFill>
                <a:latin typeface="Noto Sans CJK SC"/>
              </a:rPr>
              <a:t>ROS 2 · Gazebo · Nav2 · slam_toolbox</a:t>
            </a:r>
            <a:endParaRPr b="0" lang="en-US" sz="2200" spc="-1" strike="noStrike">
              <a:latin typeface="Arial"/>
            </a:endParaRPr>
          </a:p>
          <a:p>
            <a:pPr algn="ctr">
              <a:lnSpc>
                <a:spcPct val="107000"/>
              </a:lnSpc>
              <a:spcAft>
                <a:spcPts val="400"/>
              </a:spcAft>
              <a:buNone/>
            </a:pPr>
            <a:r>
              <a:rPr b="0" lang="en-US" sz="2200" spc="-1" strike="noStrike">
                <a:solidFill>
                  <a:srgbClr val="b8c7dc"/>
                </a:solidFill>
                <a:latin typeface="Noto Sans CJK SC"/>
              </a:rPr>
              <a:t>YOLOv5 · OpenCV · AprilTag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29" name="TextBox 19"/>
          <p:cNvSpPr/>
          <p:nvPr/>
        </p:nvSpPr>
        <p:spPr>
          <a:xfrm>
            <a:off x="411480" y="5943600"/>
            <a:ext cx="113839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2800" spc="-1" strike="noStrike">
                <a:solidFill>
                  <a:srgbClr val="42d5bb"/>
                </a:solidFill>
                <a:latin typeface="Noto Sans CJK SC"/>
              </a:rPr>
              <a:t>谢谢各位老师</a:t>
            </a:r>
            <a:endParaRPr b="0" lang="en-US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10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TextBox 1"/>
          <p:cNvSpPr/>
          <p:nvPr/>
        </p:nvSpPr>
        <p:spPr>
          <a:xfrm>
            <a:off x="311040" y="164520"/>
            <a:ext cx="11566800" cy="50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3100" spc="-1" strike="noStrike">
                <a:solidFill>
                  <a:srgbClr val="f4f7fc"/>
                </a:solidFill>
                <a:latin typeface="Noto Sans CJK SC"/>
              </a:rPr>
              <a:t>备份 </a:t>
            </a:r>
            <a:r>
              <a:rPr b="1" lang="en-US" sz="3100" spc="-1" strike="noStrike">
                <a:solidFill>
                  <a:srgbClr val="f4f7fc"/>
                </a:solidFill>
                <a:latin typeface="Noto Sans CJK SC"/>
              </a:rPr>
              <a:t>A</a:t>
            </a:r>
            <a:r>
              <a:rPr b="1" lang="zh-CN" sz="3100" spc="-1" strike="noStrike">
                <a:solidFill>
                  <a:srgbClr val="f4f7fc"/>
                </a:solidFill>
                <a:latin typeface="Noto Sans CJK SC"/>
              </a:rPr>
              <a:t>｜比赛评分与现场证据</a:t>
            </a:r>
            <a:endParaRPr b="0" lang="en-US" sz="3100" spc="-1" strike="noStrike">
              <a:latin typeface="Arial"/>
            </a:endParaRPr>
          </a:p>
        </p:txBody>
      </p:sp>
      <p:sp>
        <p:nvSpPr>
          <p:cNvPr id="231" name="TextBox 2"/>
          <p:cNvSpPr/>
          <p:nvPr/>
        </p:nvSpPr>
        <p:spPr>
          <a:xfrm>
            <a:off x="320040" y="786240"/>
            <a:ext cx="11521080" cy="29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800" spc="-1" strike="noStrike">
                <a:solidFill>
                  <a:srgbClr val="b8c7dc"/>
                </a:solidFill>
                <a:latin typeface="Noto Sans CJK SC"/>
              </a:rPr>
              <a:t>国赛 </a:t>
            </a:r>
            <a:r>
              <a:rPr b="0" lang="en-US" sz="1800" spc="-1" strike="noStrike">
                <a:solidFill>
                  <a:srgbClr val="b8c7dc"/>
                </a:solidFill>
                <a:latin typeface="Noto Sans CJK SC"/>
              </a:rPr>
              <a:t>8 </a:t>
            </a:r>
            <a:r>
              <a:rPr b="0" lang="zh-CN" sz="1800" spc="-1" strike="noStrike">
                <a:solidFill>
                  <a:srgbClr val="b8c7dc"/>
                </a:solidFill>
                <a:latin typeface="Noto Sans CJK SC"/>
              </a:rPr>
              <a:t>分钟包含视频；展示结束后按需回答提问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32" name="Rectangle 3"/>
          <p:cNvSpPr/>
          <p:nvPr/>
        </p:nvSpPr>
        <p:spPr>
          <a:xfrm>
            <a:off x="320040" y="6492240"/>
            <a:ext cx="11548440" cy="12600"/>
          </a:xfrm>
          <a:prstGeom prst="rect">
            <a:avLst/>
          </a:prstGeom>
          <a:solidFill>
            <a:srgbClr val="3b4c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3" name="TextBox 4"/>
          <p:cNvSpPr/>
          <p:nvPr/>
        </p:nvSpPr>
        <p:spPr>
          <a:xfrm>
            <a:off x="320040" y="6565320"/>
            <a:ext cx="10972440" cy="1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依据：本地 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</a:rPr>
              <a:t>B09 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比赛规则（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</a:rPr>
              <a:t>2026 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年 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</a:rPr>
              <a:t>7 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月）；项目验收门限不等同官方评分阈值。</a:t>
            </a:r>
            <a:endParaRPr b="0" lang="en-US" sz="1020" spc="-1" strike="noStrike">
              <a:latin typeface="Arial"/>
            </a:endParaRPr>
          </a:p>
        </p:txBody>
      </p:sp>
      <p:sp>
        <p:nvSpPr>
          <p:cNvPr id="234" name="TextBox 5"/>
          <p:cNvSpPr/>
          <p:nvPr/>
        </p:nvSpPr>
        <p:spPr>
          <a:xfrm>
            <a:off x="11421000" y="6537960"/>
            <a:ext cx="41112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1200" spc="-1" strike="noStrike">
                <a:solidFill>
                  <a:srgbClr val="42d5bb"/>
                </a:solidFill>
                <a:latin typeface="Noto Sans CJK SC"/>
              </a:rPr>
              <a:t>18</a:t>
            </a:r>
            <a:endParaRPr b="0" lang="en-US" sz="1200" spc="-1" strike="noStrike">
              <a:latin typeface="Arial"/>
            </a:endParaRPr>
          </a:p>
        </p:txBody>
      </p:sp>
      <p:graphicFrame>
        <p:nvGraphicFramePr>
          <p:cNvPr id="235" name="Table 6"/>
          <p:cNvGraphicFramePr/>
          <p:nvPr/>
        </p:nvGraphicFramePr>
        <p:xfrm>
          <a:off x="365760" y="1325880"/>
          <a:ext cx="11429640" cy="4672080"/>
        </p:xfrm>
        <a:graphic>
          <a:graphicData uri="http://schemas.openxmlformats.org/drawingml/2006/table">
            <a:tbl>
              <a:tblPr/>
              <a:tblGrid>
                <a:gridCol w="3200400"/>
                <a:gridCol w="1005840"/>
                <a:gridCol w="7223760"/>
              </a:tblGrid>
              <a:tr h="667440"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2200" spc="-1" strike="noStrike">
                          <a:solidFill>
                            <a:srgbClr val="42d5bb"/>
                          </a:solidFill>
                          <a:latin typeface="Noto Sans CJK SC"/>
                        </a:rPr>
                        <a:t>评分项</a:t>
                      </a:r>
                      <a:endParaRPr b="0" lang="en-US" sz="22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263d58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2200" spc="-1" strike="noStrike">
                          <a:solidFill>
                            <a:srgbClr val="42d5bb"/>
                          </a:solidFill>
                          <a:latin typeface="Noto Sans CJK SC"/>
                        </a:rPr>
                        <a:t>分值</a:t>
                      </a:r>
                      <a:endParaRPr b="0" lang="en-US" sz="22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263d58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2200" spc="-1" strike="noStrike">
                          <a:solidFill>
                            <a:srgbClr val="42d5bb"/>
                          </a:solidFill>
                          <a:latin typeface="Noto Sans CJK SC"/>
                        </a:rPr>
                        <a:t>现场证据</a:t>
                      </a:r>
                      <a:endParaRPr b="0" lang="en-US" sz="22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263d58"/>
                    </a:solidFill>
                  </a:tcPr>
                </a:tc>
              </a:tr>
              <a:tr h="667440"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2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自建环境与单车建图</a:t>
                      </a:r>
                      <a:endParaRPr b="0" lang="en-US" sz="22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d2c42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2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15</a:t>
                      </a:r>
                      <a:endParaRPr b="0" lang="en-US" sz="22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d2c42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2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Gazebo </a:t>
                      </a:r>
                      <a:r>
                        <a:rPr b="0" lang="zh-CN" sz="22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场景与清晰占据栅格地图</a:t>
                      </a:r>
                      <a:endParaRPr b="0" lang="en-US" sz="22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d2c42"/>
                    </a:solidFill>
                  </a:tcPr>
                </a:tc>
              </a:tr>
              <a:tr h="667440"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2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五类走廊识别</a:t>
                      </a:r>
                      <a:endParaRPr b="0" lang="en-US" sz="22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7253a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2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20</a:t>
                      </a:r>
                      <a:endParaRPr b="0" lang="en-US" sz="22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7253a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2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入室前 </a:t>
                      </a:r>
                      <a:r>
                        <a:rPr b="0" lang="en-US" sz="22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5 </a:t>
                      </a:r>
                      <a:r>
                        <a:rPr b="0" lang="zh-CN" sz="22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类分类 </a:t>
                      </a:r>
                      <a:r>
                        <a:rPr b="0" lang="en-US" sz="22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+ </a:t>
                      </a:r>
                      <a:r>
                        <a:rPr b="0" lang="zh-CN" sz="22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终端打印</a:t>
                      </a:r>
                      <a:endParaRPr b="0" lang="en-US" sz="22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7253a"/>
                    </a:solidFill>
                  </a:tcPr>
                </a:tc>
              </a:tr>
              <a:tr h="667440"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2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入口清障交互</a:t>
                      </a:r>
                      <a:endParaRPr b="0" lang="en-US" sz="22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d2c42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2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20</a:t>
                      </a:r>
                      <a:endParaRPr b="0" lang="en-US" sz="22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d2c42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2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真实推箱 </a:t>
                      </a:r>
                      <a:r>
                        <a:rPr b="0" lang="en-US" sz="22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+ </a:t>
                      </a:r>
                      <a:r>
                        <a:rPr b="0" lang="zh-CN" sz="22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平稳驶入核心区</a:t>
                      </a:r>
                      <a:endParaRPr b="0" lang="en-US" sz="22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d2c42"/>
                    </a:solidFill>
                  </a:tcPr>
                </a:tc>
              </a:tr>
              <a:tr h="667440"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2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核心识别与标定</a:t>
                      </a:r>
                      <a:endParaRPr b="0" lang="en-US" sz="22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7253a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2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20</a:t>
                      </a:r>
                      <a:endParaRPr b="0" lang="en-US" sz="22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7253a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2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四 </a:t>
                      </a:r>
                      <a:r>
                        <a:rPr b="0" lang="en-US" sz="22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AprilTag + RViz Marker </a:t>
                      </a:r>
                      <a:r>
                        <a:rPr b="0" lang="zh-CN" sz="22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与布局吻合</a:t>
                      </a:r>
                      <a:endParaRPr b="0" lang="en-US" sz="22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7253a"/>
                    </a:solidFill>
                  </a:tcPr>
                </a:tc>
              </a:tr>
              <a:tr h="667440"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2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返回起点</a:t>
                      </a:r>
                      <a:endParaRPr b="0" lang="en-US" sz="22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d2c42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2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5</a:t>
                      </a:r>
                      <a:endParaRPr b="0" lang="en-US" sz="22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d2c42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2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完整返航画面与 </a:t>
                      </a:r>
                      <a:r>
                        <a:rPr b="0" lang="en-US" sz="22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complete </a:t>
                      </a:r>
                      <a:r>
                        <a:rPr b="0" lang="zh-CN" sz="22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事件</a:t>
                      </a:r>
                      <a:endParaRPr b="0" lang="en-US" sz="22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d2c42"/>
                    </a:solidFill>
                  </a:tcPr>
                </a:tc>
              </a:tr>
              <a:tr h="667440"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2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方案创新性答辩</a:t>
                      </a:r>
                      <a:endParaRPr b="0" lang="en-US" sz="22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7253a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2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20</a:t>
                      </a:r>
                      <a:endParaRPr b="0" lang="en-US" sz="22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7253a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2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场景、机构、视觉与导航的团队改进</a:t>
                      </a:r>
                      <a:endParaRPr b="0" lang="en-US" sz="22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7253a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10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TextBox 1"/>
          <p:cNvSpPr/>
          <p:nvPr/>
        </p:nvSpPr>
        <p:spPr>
          <a:xfrm>
            <a:off x="311040" y="164520"/>
            <a:ext cx="11566800" cy="50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3100" spc="-1" strike="noStrike">
                <a:solidFill>
                  <a:srgbClr val="f4f7fc"/>
                </a:solidFill>
                <a:latin typeface="Noto Sans CJK SC"/>
              </a:rPr>
              <a:t>备份 </a:t>
            </a:r>
            <a:r>
              <a:rPr b="1" lang="en-US" sz="3100" spc="-1" strike="noStrike">
                <a:solidFill>
                  <a:srgbClr val="f4f7fc"/>
                </a:solidFill>
                <a:latin typeface="Noto Sans CJK SC"/>
              </a:rPr>
              <a:t>B</a:t>
            </a:r>
            <a:r>
              <a:rPr b="1" lang="zh-CN" sz="3100" spc="-1" strike="noStrike">
                <a:solidFill>
                  <a:srgbClr val="f4f7fc"/>
                </a:solidFill>
                <a:latin typeface="Noto Sans CJK SC"/>
              </a:rPr>
              <a:t>｜传感器、任务与执行闭环</a:t>
            </a:r>
            <a:endParaRPr b="0" lang="en-US" sz="3100" spc="-1" strike="noStrike">
              <a:latin typeface="Arial"/>
            </a:endParaRPr>
          </a:p>
        </p:txBody>
      </p:sp>
      <p:sp>
        <p:nvSpPr>
          <p:cNvPr id="237" name="TextBox 2"/>
          <p:cNvSpPr/>
          <p:nvPr/>
        </p:nvSpPr>
        <p:spPr>
          <a:xfrm>
            <a:off x="320040" y="786240"/>
            <a:ext cx="11521080" cy="29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en-US" sz="1800" spc="-1" strike="noStrike">
                <a:solidFill>
                  <a:srgbClr val="b8c7dc"/>
                </a:solidFill>
                <a:latin typeface="Noto Sans CJK SC"/>
              </a:rPr>
              <a:t>YAML </a:t>
            </a:r>
            <a:r>
              <a:rPr b="0" lang="zh-CN" sz="1800" spc="-1" strike="noStrike">
                <a:solidFill>
                  <a:srgbClr val="b8c7dc"/>
                </a:solidFill>
                <a:latin typeface="Noto Sans CJK SC"/>
              </a:rPr>
              <a:t>给任务目标，</a:t>
            </a:r>
            <a:r>
              <a:rPr b="0" lang="en-US" sz="1800" spc="-1" strike="noStrike">
                <a:solidFill>
                  <a:srgbClr val="b8c7dc"/>
                </a:solidFill>
                <a:latin typeface="Noto Sans CJK SC"/>
              </a:rPr>
              <a:t>Nav2 </a:t>
            </a:r>
            <a:r>
              <a:rPr b="0" lang="zh-CN" sz="1800" spc="-1" strike="noStrike">
                <a:solidFill>
                  <a:srgbClr val="b8c7dc"/>
                </a:solidFill>
                <a:latin typeface="Noto Sans CJK SC"/>
              </a:rPr>
              <a:t>根据地图规划路径；</a:t>
            </a:r>
            <a:r>
              <a:rPr b="0" lang="en-US" sz="1800" spc="-1" strike="noStrike">
                <a:solidFill>
                  <a:srgbClr val="b8c7dc"/>
                </a:solidFill>
                <a:latin typeface="Noto Sans CJK SC"/>
              </a:rPr>
              <a:t>23 </a:t>
            </a:r>
            <a:r>
              <a:rPr b="0" lang="zh-CN" sz="1800" spc="-1" strike="noStrike">
                <a:solidFill>
                  <a:srgbClr val="b8c7dc"/>
                </a:solidFill>
                <a:latin typeface="Noto Sans CJK SC"/>
              </a:rPr>
              <a:t>步任务由事件推进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38" name="Rectangle 3"/>
          <p:cNvSpPr/>
          <p:nvPr/>
        </p:nvSpPr>
        <p:spPr>
          <a:xfrm>
            <a:off x="320040" y="6492240"/>
            <a:ext cx="11548440" cy="12600"/>
          </a:xfrm>
          <a:prstGeom prst="rect">
            <a:avLst/>
          </a:prstGeom>
          <a:solidFill>
            <a:srgbClr val="3b4c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9" name="TextBox 4"/>
          <p:cNvSpPr/>
          <p:nvPr/>
        </p:nvSpPr>
        <p:spPr>
          <a:xfrm>
            <a:off x="320040" y="6565320"/>
            <a:ext cx="10972440" cy="1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来源：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</a:rPr>
              <a:t>launch/sim_launch.py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、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</a:rPr>
              <a:t>mission_node.py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、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</a:rPr>
              <a:t>vision_node.py 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与 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</a:rPr>
              <a:t>safety_node.py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。</a:t>
            </a:r>
            <a:endParaRPr b="0" lang="en-US" sz="1020" spc="-1" strike="noStrike">
              <a:latin typeface="Arial"/>
            </a:endParaRPr>
          </a:p>
        </p:txBody>
      </p:sp>
      <p:sp>
        <p:nvSpPr>
          <p:cNvPr id="240" name="TextBox 5"/>
          <p:cNvSpPr/>
          <p:nvPr/>
        </p:nvSpPr>
        <p:spPr>
          <a:xfrm>
            <a:off x="11421000" y="6537960"/>
            <a:ext cx="41112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1200" spc="-1" strike="noStrike">
                <a:solidFill>
                  <a:srgbClr val="42d5bb"/>
                </a:solidFill>
                <a:latin typeface="Noto Sans CJK SC"/>
              </a:rPr>
              <a:t>19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41" name="Rectangle 6"/>
          <p:cNvSpPr/>
          <p:nvPr/>
        </p:nvSpPr>
        <p:spPr>
          <a:xfrm>
            <a:off x="502920" y="1920240"/>
            <a:ext cx="3200040" cy="2788560"/>
          </a:xfrm>
          <a:prstGeom prst="rect">
            <a:avLst/>
          </a:prstGeom>
          <a:solidFill>
            <a:srgbClr val="1d2c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42" name="TextBox 7"/>
          <p:cNvSpPr/>
          <p:nvPr/>
        </p:nvSpPr>
        <p:spPr>
          <a:xfrm>
            <a:off x="667440" y="2121480"/>
            <a:ext cx="2880000" cy="44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2700" spc="-1" strike="noStrike">
                <a:solidFill>
                  <a:srgbClr val="42d5bb"/>
                </a:solidFill>
                <a:latin typeface="Noto Sans CJK SC"/>
              </a:rPr>
              <a:t>感知与定位</a:t>
            </a:r>
            <a:endParaRPr b="0" lang="en-US" sz="2700" spc="-1" strike="noStrike">
              <a:latin typeface="Arial"/>
            </a:endParaRPr>
          </a:p>
        </p:txBody>
      </p:sp>
      <p:sp>
        <p:nvSpPr>
          <p:cNvPr id="243" name="TextBox 8"/>
          <p:cNvSpPr/>
          <p:nvPr/>
        </p:nvSpPr>
        <p:spPr>
          <a:xfrm>
            <a:off x="667440" y="2871360"/>
            <a:ext cx="2880000" cy="148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2200" spc="-1" strike="noStrike">
                <a:solidFill>
                  <a:srgbClr val="f4f7fc"/>
                </a:solidFill>
                <a:latin typeface="Noto Sans CJK SC"/>
              </a:rPr>
              <a:t>激光 </a:t>
            </a:r>
            <a:r>
              <a:rPr b="0" lang="en-US" sz="2200" spc="-1" strike="noStrike">
                <a:solidFill>
                  <a:srgbClr val="f4f7fc"/>
                </a:solidFill>
                <a:latin typeface="Noto Sans CJK SC"/>
              </a:rPr>
              <a:t>+ </a:t>
            </a:r>
            <a:r>
              <a:rPr b="0" lang="zh-CN" sz="2200" spc="-1" strike="noStrike">
                <a:solidFill>
                  <a:srgbClr val="f4f7fc"/>
                </a:solidFill>
                <a:latin typeface="Noto Sans CJK SC"/>
              </a:rPr>
              <a:t>里程计 → </a:t>
            </a:r>
            <a:r>
              <a:rPr b="0" lang="en-US" sz="2200" spc="-1" strike="noStrike">
                <a:solidFill>
                  <a:srgbClr val="f4f7fc"/>
                </a:solidFill>
                <a:latin typeface="Noto Sans CJK SC"/>
              </a:rPr>
              <a:t>AMCL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2200" spc="-1" strike="noStrike">
                <a:solidFill>
                  <a:srgbClr val="f4f7fc"/>
                </a:solidFill>
                <a:latin typeface="Noto Sans CJK SC"/>
              </a:rPr>
              <a:t>图像 </a:t>
            </a:r>
            <a:r>
              <a:rPr b="0" lang="en-US" sz="2200" spc="-1" strike="noStrike">
                <a:solidFill>
                  <a:srgbClr val="f4f7fc"/>
                </a:solidFill>
                <a:latin typeface="Noto Sans CJK SC"/>
              </a:rPr>
              <a:t>+ </a:t>
            </a:r>
            <a:r>
              <a:rPr b="0" lang="zh-CN" sz="2200" spc="-1" strike="noStrike">
                <a:solidFill>
                  <a:srgbClr val="f4f7fc"/>
                </a:solidFill>
                <a:latin typeface="Noto Sans CJK SC"/>
              </a:rPr>
              <a:t>云台关节角 → 识别 </a:t>
            </a:r>
            <a:r>
              <a:rPr b="0" lang="en-US" sz="2200" spc="-1" strike="noStrike">
                <a:solidFill>
                  <a:srgbClr val="f4f7fc"/>
                </a:solidFill>
                <a:latin typeface="Noto Sans CJK SC"/>
              </a:rPr>
              <a:t>/ TF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44" name="Rectangle 9"/>
          <p:cNvSpPr/>
          <p:nvPr/>
        </p:nvSpPr>
        <p:spPr>
          <a:xfrm>
            <a:off x="4507920" y="1920240"/>
            <a:ext cx="3200040" cy="2788560"/>
          </a:xfrm>
          <a:prstGeom prst="rect">
            <a:avLst/>
          </a:prstGeom>
          <a:solidFill>
            <a:srgbClr val="1d2c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45" name="TextBox 10"/>
          <p:cNvSpPr/>
          <p:nvPr/>
        </p:nvSpPr>
        <p:spPr>
          <a:xfrm>
            <a:off x="4672440" y="2121480"/>
            <a:ext cx="2880000" cy="44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2700" spc="-1" strike="noStrike">
                <a:solidFill>
                  <a:srgbClr val="42d5bb"/>
                </a:solidFill>
                <a:latin typeface="Noto Sans CJK SC"/>
              </a:rPr>
              <a:t>任务与导航</a:t>
            </a:r>
            <a:endParaRPr b="0" lang="en-US" sz="2700" spc="-1" strike="noStrike">
              <a:latin typeface="Arial"/>
            </a:endParaRPr>
          </a:p>
        </p:txBody>
      </p:sp>
      <p:sp>
        <p:nvSpPr>
          <p:cNvPr id="246" name="TextBox 11"/>
          <p:cNvSpPr/>
          <p:nvPr/>
        </p:nvSpPr>
        <p:spPr>
          <a:xfrm>
            <a:off x="4672440" y="2871360"/>
            <a:ext cx="2880000" cy="148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2200" spc="-1" strike="noStrike">
                <a:solidFill>
                  <a:srgbClr val="f4f7fc"/>
                </a:solidFill>
                <a:latin typeface="Noto Sans CJK SC"/>
              </a:rPr>
              <a:t>确认事件 → 任务状态机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en-US" sz="2200" spc="-1" strike="noStrike">
                <a:solidFill>
                  <a:srgbClr val="f4f7fc"/>
                </a:solidFill>
                <a:latin typeface="Noto Sans CJK SC"/>
              </a:rPr>
              <a:t>Smac2D </a:t>
            </a:r>
            <a:r>
              <a:rPr b="0" lang="zh-CN" sz="2200" spc="-1" strike="noStrike">
                <a:solidFill>
                  <a:srgbClr val="f4f7fc"/>
                </a:solidFill>
                <a:latin typeface="Noto Sans CJK SC"/>
              </a:rPr>
              <a:t>栅格 </a:t>
            </a:r>
            <a:r>
              <a:rPr b="0" lang="en-US" sz="2200" spc="-1" strike="noStrike">
                <a:solidFill>
                  <a:srgbClr val="f4f7fc"/>
                </a:solidFill>
                <a:latin typeface="Noto Sans CJK SC"/>
              </a:rPr>
              <a:t>A* → RPP </a:t>
            </a:r>
            <a:r>
              <a:rPr b="0" lang="zh-CN" sz="2200" spc="-1" strike="noStrike">
                <a:solidFill>
                  <a:srgbClr val="f4f7fc"/>
                </a:solidFill>
                <a:latin typeface="Noto Sans CJK SC"/>
              </a:rPr>
              <a:t>跟踪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47" name="Rectangle 12"/>
          <p:cNvSpPr/>
          <p:nvPr/>
        </p:nvSpPr>
        <p:spPr>
          <a:xfrm>
            <a:off x="8503920" y="1920240"/>
            <a:ext cx="3200040" cy="2788560"/>
          </a:xfrm>
          <a:prstGeom prst="rect">
            <a:avLst/>
          </a:prstGeom>
          <a:solidFill>
            <a:srgbClr val="1d2c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48" name="TextBox 13"/>
          <p:cNvSpPr/>
          <p:nvPr/>
        </p:nvSpPr>
        <p:spPr>
          <a:xfrm>
            <a:off x="8668440" y="2121480"/>
            <a:ext cx="2880000" cy="44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2700" spc="-1" strike="noStrike">
                <a:solidFill>
                  <a:srgbClr val="42d5bb"/>
                </a:solidFill>
                <a:latin typeface="Noto Sans CJK SC"/>
              </a:rPr>
              <a:t>安全与执行</a:t>
            </a:r>
            <a:endParaRPr b="0" lang="en-US" sz="2700" spc="-1" strike="noStrike">
              <a:latin typeface="Arial"/>
            </a:endParaRPr>
          </a:p>
        </p:txBody>
      </p:sp>
      <p:sp>
        <p:nvSpPr>
          <p:cNvPr id="249" name="TextBox 14"/>
          <p:cNvSpPr/>
          <p:nvPr/>
        </p:nvSpPr>
        <p:spPr>
          <a:xfrm>
            <a:off x="8668440" y="2871360"/>
            <a:ext cx="2880000" cy="112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2200" spc="-1" strike="noStrike">
                <a:solidFill>
                  <a:srgbClr val="f4f7fc"/>
                </a:solidFill>
                <a:latin typeface="Noto Sans CJK SC"/>
              </a:rPr>
              <a:t>速度平滑 → 安全检查</a:t>
            </a:r>
            <a:endParaRPr b="0" lang="en-US" sz="2200" spc="-1" strike="noStrike">
              <a:latin typeface="Arial"/>
            </a:endParaRPr>
          </a:p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2200" spc="-1" strike="noStrike">
                <a:solidFill>
                  <a:srgbClr val="f4f7fc"/>
                </a:solidFill>
                <a:latin typeface="Noto Sans CJK SC"/>
              </a:rPr>
              <a:t>完整车体停车扫掠 → 车轮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50" name="Connector 15"/>
          <p:cNvSpPr/>
          <p:nvPr/>
        </p:nvSpPr>
        <p:spPr>
          <a:xfrm>
            <a:off x="3748680" y="3383280"/>
            <a:ext cx="622080" cy="360"/>
          </a:xfrm>
          <a:prstGeom prst="line">
            <a:avLst/>
          </a:prstGeom>
          <a:ln>
            <a:solidFill>
              <a:srgbClr val="42d5bb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251" name="Connector 16"/>
          <p:cNvSpPr/>
          <p:nvPr/>
        </p:nvSpPr>
        <p:spPr>
          <a:xfrm>
            <a:off x="7772400" y="3383280"/>
            <a:ext cx="585000" cy="360"/>
          </a:xfrm>
          <a:prstGeom prst="line">
            <a:avLst/>
          </a:prstGeom>
          <a:ln>
            <a:solidFill>
              <a:srgbClr val="42d5bb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252" name="Rectangle 17"/>
          <p:cNvSpPr/>
          <p:nvPr/>
        </p:nvSpPr>
        <p:spPr>
          <a:xfrm>
            <a:off x="320040" y="5596200"/>
            <a:ext cx="11548440" cy="438480"/>
          </a:xfrm>
          <a:prstGeom prst="rect">
            <a:avLst/>
          </a:prstGeom>
          <a:solidFill>
            <a:srgbClr val="1d2c42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53" name="TextBox 18"/>
          <p:cNvSpPr/>
          <p:nvPr/>
        </p:nvSpPr>
        <p:spPr>
          <a:xfrm>
            <a:off x="466200" y="5646600"/>
            <a:ext cx="11246760" cy="39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2400" spc="-1" strike="noStrike">
                <a:solidFill>
                  <a:srgbClr val="42d5bb"/>
                </a:solidFill>
                <a:latin typeface="Noto Sans CJK SC"/>
              </a:rPr>
              <a:t>任务与视觉不读世界真值；独立验收工具旁路记录</a:t>
            </a:r>
            <a:endParaRPr b="0" lang="en-US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10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TextBox 1"/>
          <p:cNvSpPr/>
          <p:nvPr/>
        </p:nvSpPr>
        <p:spPr>
          <a:xfrm>
            <a:off x="311040" y="164520"/>
            <a:ext cx="11566800" cy="50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3100" spc="-1" strike="noStrike">
                <a:solidFill>
                  <a:srgbClr val="f4f7fc"/>
                </a:solidFill>
                <a:latin typeface="Noto Sans CJK SC"/>
              </a:rPr>
              <a:t>备份 </a:t>
            </a:r>
            <a:r>
              <a:rPr b="1" lang="en-US" sz="3100" spc="-1" strike="noStrike">
                <a:solidFill>
                  <a:srgbClr val="f4f7fc"/>
                </a:solidFill>
                <a:latin typeface="Noto Sans CJK SC"/>
              </a:rPr>
              <a:t>C</a:t>
            </a:r>
            <a:r>
              <a:rPr b="1" lang="zh-CN" sz="3100" spc="-1" strike="noStrike">
                <a:solidFill>
                  <a:srgbClr val="f4f7fc"/>
                </a:solidFill>
                <a:latin typeface="Noto Sans CJK SC"/>
              </a:rPr>
              <a:t>｜定位误差先统一坐标系</a:t>
            </a:r>
            <a:endParaRPr b="0" lang="en-US" sz="3100" spc="-1" strike="noStrike">
              <a:latin typeface="Arial"/>
            </a:endParaRPr>
          </a:p>
        </p:txBody>
      </p:sp>
      <p:sp>
        <p:nvSpPr>
          <p:cNvPr id="255" name="TextBox 2"/>
          <p:cNvSpPr/>
          <p:nvPr/>
        </p:nvSpPr>
        <p:spPr>
          <a:xfrm>
            <a:off x="320040" y="786240"/>
            <a:ext cx="11521080" cy="29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en-US" sz="1800" spc="-1" strike="noStrike">
                <a:solidFill>
                  <a:srgbClr val="b8c7dc"/>
                </a:solidFill>
                <a:latin typeface="Noto Sans CJK SC"/>
              </a:rPr>
              <a:t>map←odom </a:t>
            </a:r>
            <a:r>
              <a:rPr b="0" lang="zh-CN" sz="1800" spc="-1" strike="noStrike">
                <a:solidFill>
                  <a:srgbClr val="b8c7dc"/>
                </a:solidFill>
                <a:latin typeface="Noto Sans CJK SC"/>
              </a:rPr>
              <a:t>变换统一真实位置与估计位置；误差含测距与定位漂移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56" name="Rectangle 3"/>
          <p:cNvSpPr/>
          <p:nvPr/>
        </p:nvSpPr>
        <p:spPr>
          <a:xfrm>
            <a:off x="320040" y="6492240"/>
            <a:ext cx="11548440" cy="12600"/>
          </a:xfrm>
          <a:prstGeom prst="rect">
            <a:avLst/>
          </a:prstGeom>
          <a:solidFill>
            <a:srgbClr val="3b4c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57" name="TextBox 4"/>
          <p:cNvSpPr/>
          <p:nvPr/>
        </p:nvSpPr>
        <p:spPr>
          <a:xfrm>
            <a:off x="320040" y="6565320"/>
            <a:ext cx="10972440" cy="1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本次录屏同次 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</a:rPr>
              <a:t>evaluation.json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；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</a:rPr>
              <a:t>raw world/map 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差不可直接作为定位误差。</a:t>
            </a:r>
            <a:endParaRPr b="0" lang="en-US" sz="1020" spc="-1" strike="noStrike">
              <a:latin typeface="Arial"/>
            </a:endParaRPr>
          </a:p>
        </p:txBody>
      </p:sp>
      <p:sp>
        <p:nvSpPr>
          <p:cNvPr id="258" name="TextBox 5"/>
          <p:cNvSpPr/>
          <p:nvPr/>
        </p:nvSpPr>
        <p:spPr>
          <a:xfrm>
            <a:off x="11421000" y="6537960"/>
            <a:ext cx="41112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1200" spc="-1" strike="noStrike">
                <a:solidFill>
                  <a:srgbClr val="42d5bb"/>
                </a:solidFill>
                <a:latin typeface="Noto Sans CJK SC"/>
              </a:rPr>
              <a:t>20</a:t>
            </a:r>
            <a:endParaRPr b="0" lang="en-US" sz="1200" spc="-1" strike="noStrike">
              <a:latin typeface="Arial"/>
            </a:endParaRPr>
          </a:p>
        </p:txBody>
      </p:sp>
      <p:graphicFrame>
        <p:nvGraphicFramePr>
          <p:cNvPr id="259" name="Table 6"/>
          <p:cNvGraphicFramePr/>
          <p:nvPr/>
        </p:nvGraphicFramePr>
        <p:xfrm>
          <a:off x="365760" y="1554480"/>
          <a:ext cx="11429640" cy="3931560"/>
        </p:xfrm>
        <a:graphic>
          <a:graphicData uri="http://schemas.openxmlformats.org/drawingml/2006/table">
            <a:tbl>
              <a:tblPr/>
              <a:tblGrid>
                <a:gridCol w="914400"/>
                <a:gridCol w="4343400"/>
                <a:gridCol w="2880360"/>
                <a:gridCol w="3291840"/>
              </a:tblGrid>
              <a:tr h="786240"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en-US" sz="2300" spc="-1" strike="noStrike">
                          <a:solidFill>
                            <a:srgbClr val="42d5bb"/>
                          </a:solidFill>
                          <a:latin typeface="Noto Sans CJK SC"/>
                        </a:rPr>
                        <a:t>ID</a:t>
                      </a:r>
                      <a:endParaRPr b="0" lang="en-US" sz="23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263d58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2300" spc="-1" strike="noStrike">
                          <a:solidFill>
                            <a:srgbClr val="42d5bb"/>
                          </a:solidFill>
                          <a:latin typeface="Noto Sans CJK SC"/>
                        </a:rPr>
                        <a:t>类别</a:t>
                      </a:r>
                      <a:endParaRPr b="0" lang="en-US" sz="23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263d58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2300" spc="-1" strike="noStrike">
                          <a:solidFill>
                            <a:srgbClr val="42d5bb"/>
                          </a:solidFill>
                          <a:latin typeface="Noto Sans CJK SC"/>
                        </a:rPr>
                        <a:t>统一 </a:t>
                      </a:r>
                      <a:r>
                        <a:rPr b="1" lang="en-US" sz="2300" spc="-1" strike="noStrike">
                          <a:solidFill>
                            <a:srgbClr val="42d5bb"/>
                          </a:solidFill>
                          <a:latin typeface="Noto Sans CJK SC"/>
                        </a:rPr>
                        <a:t>map / cm</a:t>
                      </a:r>
                      <a:endParaRPr b="0" lang="en-US" sz="23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263d58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2300" spc="-1" strike="noStrike">
                          <a:solidFill>
                            <a:srgbClr val="42d5bb"/>
                          </a:solidFill>
                          <a:latin typeface="Noto Sans CJK SC"/>
                        </a:rPr>
                        <a:t>原始坐标差 </a:t>
                      </a:r>
                      <a:r>
                        <a:rPr b="1" lang="en-US" sz="2300" spc="-1" strike="noStrike">
                          <a:solidFill>
                            <a:srgbClr val="42d5bb"/>
                          </a:solidFill>
                          <a:latin typeface="Noto Sans CJK SC"/>
                        </a:rPr>
                        <a:t>/ cm</a:t>
                      </a:r>
                      <a:endParaRPr b="0" lang="en-US" sz="23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263d58"/>
                    </a:solidFill>
                  </a:tcPr>
                </a:tc>
              </a:tr>
              <a:tr h="786240"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3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T0</a:t>
                      </a:r>
                      <a:endParaRPr b="0" lang="en-US" sz="23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d2c42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3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COLLAPSE</a:t>
                      </a:r>
                      <a:endParaRPr b="0" lang="en-US" sz="23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d2c42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3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13.94</a:t>
                      </a:r>
                      <a:endParaRPr b="0" lang="en-US" sz="23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d2c42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3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15.76</a:t>
                      </a:r>
                      <a:endParaRPr b="0" lang="en-US" sz="23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d2c42"/>
                    </a:solidFill>
                  </a:tcPr>
                </a:tc>
              </a:tr>
              <a:tr h="786240"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3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T1</a:t>
                      </a:r>
                      <a:endParaRPr b="0" lang="en-US" sz="23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7253a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3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TOXIC_LEAK</a:t>
                      </a:r>
                      <a:endParaRPr b="0" lang="en-US" sz="23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7253a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3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11.88</a:t>
                      </a:r>
                      <a:endParaRPr b="0" lang="en-US" sz="23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7253a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3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14.57</a:t>
                      </a:r>
                      <a:endParaRPr b="0" lang="en-US" sz="23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7253a"/>
                    </a:solidFill>
                  </a:tcPr>
                </a:tc>
              </a:tr>
              <a:tr h="786240"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3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T2</a:t>
                      </a:r>
                      <a:endParaRPr b="0" lang="en-US" sz="23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d2c42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3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TRAPPED_PERSON</a:t>
                      </a:r>
                      <a:endParaRPr b="0" lang="en-US" sz="23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d2c42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3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10.20</a:t>
                      </a:r>
                      <a:endParaRPr b="0" lang="en-US" sz="23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d2c42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3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13.88</a:t>
                      </a:r>
                      <a:endParaRPr b="0" lang="en-US" sz="23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d2c42"/>
                    </a:solidFill>
                  </a:tcPr>
                </a:tc>
              </a:tr>
              <a:tr h="786600"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3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T3</a:t>
                      </a:r>
                      <a:endParaRPr b="0" lang="en-US" sz="23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7253a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3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HIGH_TEMPERATURE</a:t>
                      </a:r>
                      <a:endParaRPr b="0" lang="en-US" sz="23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7253a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3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7.52</a:t>
                      </a:r>
                      <a:endParaRPr b="0" lang="en-US" sz="23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7253a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3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12.26</a:t>
                      </a:r>
                      <a:endParaRPr b="0" lang="en-US" sz="23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7253a"/>
                    </a:solidFill>
                  </a:tcPr>
                </a:tc>
              </a:tr>
            </a:tbl>
          </a:graphicData>
        </a:graphic>
      </p:graphicFrame>
      <p:sp>
        <p:nvSpPr>
          <p:cNvPr id="260" name="TextBox 7"/>
          <p:cNvSpPr/>
          <p:nvPr/>
        </p:nvSpPr>
        <p:spPr>
          <a:xfrm>
            <a:off x="548640" y="5824800"/>
            <a:ext cx="11063880" cy="37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2300" spc="-1" strike="noStrike">
                <a:solidFill>
                  <a:srgbClr val="42d5bb"/>
                </a:solidFill>
                <a:latin typeface="Noto Sans CJK SC"/>
              </a:rPr>
              <a:t>上述数值全部属于新版录屏；</a:t>
            </a:r>
            <a:r>
              <a:rPr b="1" lang="en-US" sz="2300" spc="-1" strike="noStrike">
                <a:solidFill>
                  <a:srgbClr val="42d5bb"/>
                </a:solidFill>
                <a:latin typeface="Noto Sans CJK SC"/>
              </a:rPr>
              <a:t>15 cm </a:t>
            </a:r>
            <a:r>
              <a:rPr b="1" lang="zh-CN" sz="2300" spc="-1" strike="noStrike">
                <a:solidFill>
                  <a:srgbClr val="42d5bb"/>
                </a:solidFill>
                <a:latin typeface="Noto Sans CJK SC"/>
              </a:rPr>
              <a:t>是项目自定验收门限。</a:t>
            </a:r>
            <a:endParaRPr b="0" lang="en-US" sz="2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10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TextBox 1"/>
          <p:cNvSpPr/>
          <p:nvPr/>
        </p:nvSpPr>
        <p:spPr>
          <a:xfrm>
            <a:off x="311040" y="164520"/>
            <a:ext cx="11566800" cy="50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3100" spc="-1" strike="noStrike">
                <a:solidFill>
                  <a:srgbClr val="f4f7fc"/>
                </a:solidFill>
                <a:latin typeface="Noto Sans CJK SC"/>
              </a:rPr>
              <a:t>备份 </a:t>
            </a:r>
            <a:r>
              <a:rPr b="1" lang="en-US" sz="3100" spc="-1" strike="noStrike">
                <a:solidFill>
                  <a:srgbClr val="f4f7fc"/>
                </a:solidFill>
                <a:latin typeface="Noto Sans CJK SC"/>
              </a:rPr>
              <a:t>D</a:t>
            </a:r>
            <a:r>
              <a:rPr b="1" lang="zh-CN" sz="3100" spc="-1" strike="noStrike">
                <a:solidFill>
                  <a:srgbClr val="f4f7fc"/>
                </a:solidFill>
                <a:latin typeface="Noto Sans CJK SC"/>
              </a:rPr>
              <a:t>｜更快的候选不一定更快完成任务</a:t>
            </a:r>
            <a:endParaRPr b="0" lang="en-US" sz="3100" spc="-1" strike="noStrike">
              <a:latin typeface="Arial"/>
            </a:endParaRPr>
          </a:p>
        </p:txBody>
      </p:sp>
      <p:sp>
        <p:nvSpPr>
          <p:cNvPr id="262" name="TextBox 2"/>
          <p:cNvSpPr/>
          <p:nvPr/>
        </p:nvSpPr>
        <p:spPr>
          <a:xfrm>
            <a:off x="320040" y="786240"/>
            <a:ext cx="11521080" cy="29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800" spc="-1" strike="noStrike">
                <a:solidFill>
                  <a:srgbClr val="b8c7dc"/>
                </a:solidFill>
                <a:latin typeface="Noto Sans CJK SC"/>
              </a:rPr>
              <a:t>评价从首次导航到完整任务完成；保留失败候选与完整日志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63" name="Rectangle 3"/>
          <p:cNvSpPr/>
          <p:nvPr/>
        </p:nvSpPr>
        <p:spPr>
          <a:xfrm>
            <a:off x="320040" y="6492240"/>
            <a:ext cx="11548440" cy="12600"/>
          </a:xfrm>
          <a:prstGeom prst="rect">
            <a:avLst/>
          </a:prstGeom>
          <a:solidFill>
            <a:srgbClr val="3b4c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64" name="TextBox 4"/>
          <p:cNvSpPr/>
          <p:nvPr/>
        </p:nvSpPr>
        <p:spPr>
          <a:xfrm>
            <a:off x="320040" y="6565320"/>
            <a:ext cx="10972440" cy="1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历史速度实验：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</a:rPr>
              <a:t>speed_tuning_validation.json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，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</a:rPr>
              <a:t>1 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次基准、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</a:rPr>
              <a:t>2 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次最终配置。</a:t>
            </a:r>
            <a:endParaRPr b="0" lang="en-US" sz="1020" spc="-1" strike="noStrike">
              <a:latin typeface="Arial"/>
            </a:endParaRPr>
          </a:p>
        </p:txBody>
      </p:sp>
      <p:sp>
        <p:nvSpPr>
          <p:cNvPr id="265" name="TextBox 5"/>
          <p:cNvSpPr/>
          <p:nvPr/>
        </p:nvSpPr>
        <p:spPr>
          <a:xfrm>
            <a:off x="11421000" y="6537960"/>
            <a:ext cx="41112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1200" spc="-1" strike="noStrike">
                <a:solidFill>
                  <a:srgbClr val="42d5bb"/>
                </a:solidFill>
                <a:latin typeface="Noto Sans CJK SC"/>
              </a:rPr>
              <a:t>21</a:t>
            </a:r>
            <a:endParaRPr b="0" lang="en-US" sz="1200" spc="-1" strike="noStrike">
              <a:latin typeface="Arial"/>
            </a:endParaRPr>
          </a:p>
        </p:txBody>
      </p:sp>
      <p:graphicFrame>
        <p:nvGraphicFramePr>
          <p:cNvPr id="266" name="Table 6"/>
          <p:cNvGraphicFramePr/>
          <p:nvPr/>
        </p:nvGraphicFramePr>
        <p:xfrm>
          <a:off x="365760" y="1325880"/>
          <a:ext cx="11429640" cy="4800240"/>
        </p:xfrm>
        <a:graphic>
          <a:graphicData uri="http://schemas.openxmlformats.org/drawingml/2006/table">
            <a:tbl>
              <a:tblPr/>
              <a:tblGrid>
                <a:gridCol w="3337560"/>
                <a:gridCol w="2240280"/>
                <a:gridCol w="1188720"/>
                <a:gridCol w="4663440"/>
              </a:tblGrid>
              <a:tr h="685800"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2100" spc="-1" strike="noStrike">
                          <a:solidFill>
                            <a:srgbClr val="42d5bb"/>
                          </a:solidFill>
                          <a:latin typeface="Noto Sans CJK SC"/>
                        </a:rPr>
                        <a:t>配置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263d58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2100" spc="-1" strike="noStrike">
                          <a:solidFill>
                            <a:srgbClr val="42d5bb"/>
                          </a:solidFill>
                          <a:latin typeface="Noto Sans CJK SC"/>
                        </a:rPr>
                        <a:t>任务耗时 </a:t>
                      </a:r>
                      <a:r>
                        <a:rPr b="1" lang="en-US" sz="2100" spc="-1" strike="noStrike">
                          <a:solidFill>
                            <a:srgbClr val="42d5bb"/>
                          </a:solidFill>
                          <a:latin typeface="Noto Sans CJK SC"/>
                        </a:rPr>
                        <a:t>/ s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263d58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2100" spc="-1" strike="noStrike">
                          <a:solidFill>
                            <a:srgbClr val="42d5bb"/>
                          </a:solidFill>
                          <a:latin typeface="Noto Sans CJK SC"/>
                        </a:rPr>
                        <a:t>结果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263d58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2100" spc="-1" strike="noStrike">
                          <a:solidFill>
                            <a:srgbClr val="42d5bb"/>
                          </a:solidFill>
                          <a:latin typeface="Noto Sans CJK SC"/>
                        </a:rPr>
                        <a:t>说明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263d58"/>
                    </a:solidFill>
                  </a:tcPr>
                </a:tc>
              </a:tr>
              <a:tr h="685800"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原速基准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d2c42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310.82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d2c42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通过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d2c42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1 </a:t>
                      </a: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次基准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d2c42"/>
                    </a:solidFill>
                  </a:tcPr>
                </a:tc>
              </a:tr>
              <a:tr h="685800"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最终 </a:t>
                      </a:r>
                      <a:r>
                        <a:rPr b="0" lang="en-US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0.20 / </a:t>
                      </a: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第 </a:t>
                      </a:r>
                      <a:r>
                        <a:rPr b="0" lang="en-US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1 </a:t>
                      </a: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次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7253a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286.07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7253a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通过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7253a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Marker 7.67–12.83 cm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7253a"/>
                    </a:solidFill>
                  </a:tcPr>
                </a:tc>
              </a:tr>
              <a:tr h="685800"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最终 </a:t>
                      </a:r>
                      <a:r>
                        <a:rPr b="0" lang="en-US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0.20 / </a:t>
                      </a: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第 </a:t>
                      </a:r>
                      <a:r>
                        <a:rPr b="0" lang="en-US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2 </a:t>
                      </a: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次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d2c42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288.32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d2c42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通过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d2c42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Marker 4.41–6.83 cm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d2c42"/>
                    </a:solidFill>
                  </a:tcPr>
                </a:tc>
              </a:tr>
              <a:tr h="685800"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分档 </a:t>
                      </a:r>
                      <a:r>
                        <a:rPr b="0" lang="en-US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0.24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7253a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296.84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7253a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通过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7253a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末端对正耗时更长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7253a"/>
                    </a:solidFill>
                  </a:tcPr>
                </a:tc>
              </a:tr>
              <a:tr h="685800"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全程 </a:t>
                      </a:r>
                      <a:r>
                        <a:rPr b="0" lang="en-US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0.24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d2c42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不计成绩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d2c42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失败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d2c42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门洞触发激光保护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d2c42"/>
                    </a:solidFill>
                  </a:tcPr>
                </a:tc>
              </a:tr>
              <a:tr h="685800"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分档 </a:t>
                      </a:r>
                      <a:r>
                        <a:rPr b="0" lang="en-US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0.30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7253a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不计成绩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7253a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失败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7253a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横偏与异常转向停车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7253a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10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TextBox 1"/>
          <p:cNvSpPr/>
          <p:nvPr/>
        </p:nvSpPr>
        <p:spPr>
          <a:xfrm>
            <a:off x="311040" y="164520"/>
            <a:ext cx="11566800" cy="50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3100" spc="-1" strike="noStrike">
                <a:solidFill>
                  <a:srgbClr val="f4f7fc"/>
                </a:solidFill>
                <a:latin typeface="Noto Sans CJK SC"/>
              </a:rPr>
              <a:t>备份 </a:t>
            </a:r>
            <a:r>
              <a:rPr b="1" lang="en-US" sz="3100" spc="-1" strike="noStrike">
                <a:solidFill>
                  <a:srgbClr val="f4f7fc"/>
                </a:solidFill>
                <a:latin typeface="Noto Sans CJK SC"/>
              </a:rPr>
              <a:t>E</a:t>
            </a:r>
            <a:r>
              <a:rPr b="1" lang="zh-CN" sz="3100" spc="-1" strike="noStrike">
                <a:solidFill>
                  <a:srgbClr val="f4f7fc"/>
                </a:solidFill>
                <a:latin typeface="Noto Sans CJK SC"/>
              </a:rPr>
              <a:t>｜视觉指标与工程确认条件</a:t>
            </a:r>
            <a:endParaRPr b="0" lang="en-US" sz="3100" spc="-1" strike="noStrike">
              <a:latin typeface="Arial"/>
            </a:endParaRPr>
          </a:p>
        </p:txBody>
      </p:sp>
      <p:sp>
        <p:nvSpPr>
          <p:cNvPr id="268" name="TextBox 2"/>
          <p:cNvSpPr/>
          <p:nvPr/>
        </p:nvSpPr>
        <p:spPr>
          <a:xfrm>
            <a:off x="320040" y="786240"/>
            <a:ext cx="11521080" cy="29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800" spc="-1" strike="noStrike">
                <a:solidFill>
                  <a:srgbClr val="b8c7dc"/>
                </a:solidFill>
                <a:latin typeface="Noto Sans CJK SC"/>
              </a:rPr>
              <a:t>单帧显示框、历史确认列表、任务确认事件是不同信息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69" name="Rectangle 3"/>
          <p:cNvSpPr/>
          <p:nvPr/>
        </p:nvSpPr>
        <p:spPr>
          <a:xfrm>
            <a:off x="320040" y="6492240"/>
            <a:ext cx="11548440" cy="12600"/>
          </a:xfrm>
          <a:prstGeom prst="rect">
            <a:avLst/>
          </a:prstGeom>
          <a:solidFill>
            <a:srgbClr val="3b4c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70" name="TextBox 4"/>
          <p:cNvSpPr/>
          <p:nvPr/>
        </p:nvSpPr>
        <p:spPr>
          <a:xfrm>
            <a:off x="320040" y="6565320"/>
            <a:ext cx="10972440" cy="1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模型合成集指标：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</a:rPr>
              <a:t>yolov5/hazard_yolov5.json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；时序规则见 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</a:rPr>
              <a:t>tracker 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与 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</a:rPr>
              <a:t>vision_node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。</a:t>
            </a:r>
            <a:endParaRPr b="0" lang="en-US" sz="1020" spc="-1" strike="noStrike">
              <a:latin typeface="Arial"/>
            </a:endParaRPr>
          </a:p>
        </p:txBody>
      </p:sp>
      <p:sp>
        <p:nvSpPr>
          <p:cNvPr id="271" name="TextBox 5"/>
          <p:cNvSpPr/>
          <p:nvPr/>
        </p:nvSpPr>
        <p:spPr>
          <a:xfrm>
            <a:off x="11421000" y="6537960"/>
            <a:ext cx="41112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1200" spc="-1" strike="noStrike">
                <a:solidFill>
                  <a:srgbClr val="42d5bb"/>
                </a:solidFill>
                <a:latin typeface="Noto Sans CJK SC"/>
              </a:rPr>
              <a:t>22</a:t>
            </a:r>
            <a:endParaRPr b="0" lang="en-US" sz="1200" spc="-1" strike="noStrike">
              <a:latin typeface="Arial"/>
            </a:endParaRPr>
          </a:p>
        </p:txBody>
      </p:sp>
      <p:graphicFrame>
        <p:nvGraphicFramePr>
          <p:cNvPr id="272" name="Table 6"/>
          <p:cNvGraphicFramePr/>
          <p:nvPr/>
        </p:nvGraphicFramePr>
        <p:xfrm>
          <a:off x="365760" y="1325880"/>
          <a:ext cx="11429640" cy="4800240"/>
        </p:xfrm>
        <a:graphic>
          <a:graphicData uri="http://schemas.openxmlformats.org/drawingml/2006/table">
            <a:tbl>
              <a:tblPr/>
              <a:tblGrid>
                <a:gridCol w="2834640"/>
                <a:gridCol w="3977280"/>
                <a:gridCol w="4617720"/>
              </a:tblGrid>
              <a:tr h="685800"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2100" spc="-1" strike="noStrike">
                          <a:solidFill>
                            <a:srgbClr val="42d5bb"/>
                          </a:solidFill>
                          <a:latin typeface="Noto Sans CJK SC"/>
                        </a:rPr>
                        <a:t>项目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263d58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2100" spc="-1" strike="noStrike">
                          <a:solidFill>
                            <a:srgbClr val="42d5bb"/>
                          </a:solidFill>
                          <a:latin typeface="Noto Sans CJK SC"/>
                        </a:rPr>
                        <a:t>指标 </a:t>
                      </a:r>
                      <a:r>
                        <a:rPr b="1" lang="en-US" sz="2100" spc="-1" strike="noStrike">
                          <a:solidFill>
                            <a:srgbClr val="42d5bb"/>
                          </a:solidFill>
                          <a:latin typeface="Noto Sans CJK SC"/>
                        </a:rPr>
                        <a:t>/ </a:t>
                      </a:r>
                      <a:r>
                        <a:rPr b="1" lang="zh-CN" sz="2100" spc="-1" strike="noStrike">
                          <a:solidFill>
                            <a:srgbClr val="42d5bb"/>
                          </a:solidFill>
                          <a:latin typeface="Noto Sans CJK SC"/>
                        </a:rPr>
                        <a:t>条件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263d58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1" lang="zh-CN" sz="2100" spc="-1" strike="noStrike">
                          <a:solidFill>
                            <a:srgbClr val="42d5bb"/>
                          </a:solidFill>
                          <a:latin typeface="Noto Sans CJK SC"/>
                        </a:rPr>
                        <a:t>解释范围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263d58"/>
                    </a:solidFill>
                  </a:tcPr>
                </a:tc>
              </a:tr>
              <a:tr h="685800"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合成模型验证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d2c42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P 85.62% / R 70.81%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d2c42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160 </a:t>
                      </a: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张、</a:t>
                      </a:r>
                      <a:r>
                        <a:rPr b="0" lang="en-US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IoU≥0.50</a:t>
                      </a: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、</a:t>
                      </a:r>
                      <a:r>
                        <a:rPr b="0" lang="en-US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conf 0.45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d2c42"/>
                    </a:solidFill>
                  </a:tcPr>
                </a:tc>
              </a:tr>
              <a:tr h="685800"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无目标合成图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7253a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2 / 59 </a:t>
                      </a: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有误报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7253a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图像级误报率 </a:t>
                      </a:r>
                      <a:r>
                        <a:rPr b="0" lang="en-US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3.39%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7253a"/>
                    </a:solidFill>
                  </a:tcPr>
                </a:tc>
              </a:tr>
              <a:tr h="685800"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走廊事件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d2c42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连续 </a:t>
                      </a:r>
                      <a:r>
                        <a:rPr b="0" lang="en-US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3 </a:t>
                      </a: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个关联处理帧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d2c42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不等于一帧看到框就确认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d2c42"/>
                    </a:solidFill>
                  </a:tcPr>
                </a:tc>
              </a:tr>
              <a:tr h="685800"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核心定位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7253a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至少 </a:t>
                      </a:r>
                      <a:r>
                        <a:rPr b="0" lang="en-US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4 </a:t>
                      </a: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次有效观测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7253a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不要求连续 </a:t>
                      </a:r>
                      <a:r>
                        <a:rPr b="0" lang="en-US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4 </a:t>
                      </a: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帧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7253a"/>
                    </a:solidFill>
                  </a:tcPr>
                </a:tc>
              </a:tr>
              <a:tr h="685800"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完整任务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d2c42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en-US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5 </a:t>
                      </a: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类 </a:t>
                      </a:r>
                      <a:r>
                        <a:rPr b="0" lang="en-US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+ 4 </a:t>
                      </a: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标签全部确认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d2c42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不等于逐帧零误报或零漏报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d2c42"/>
                    </a:solidFill>
                  </a:tcPr>
                </a:tc>
              </a:tr>
              <a:tr h="685800"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红箱像素框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7253a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仅作显示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7253a"/>
                    </a:solidFill>
                  </a:tcPr>
                </a:tc>
                <a:tc>
                  <a:txBody>
                    <a:bodyPr lIns="118800" rIns="118800" tIns="73080" bIns="3636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b="0" lang="zh-CN" sz="2100" spc="-1" strike="noStrike">
                          <a:solidFill>
                            <a:srgbClr val="f4f7fc"/>
                          </a:solidFill>
                          <a:latin typeface="Noto Sans CJK SC"/>
                        </a:rPr>
                        <a:t>不参与导航与推障授权</a:t>
                      </a:r>
                      <a:endParaRPr b="0" lang="en-US" sz="2100" spc="-1" strike="noStrike">
                        <a:latin typeface="Arial"/>
                      </a:endParaRPr>
                    </a:p>
                  </a:txBody>
                  <a:tcPr anchor="ctr" marL="118800" marR="118800">
                    <a:lnL w="12240">
                      <a:solidFill>
                        <a:srgbClr val="ffffff"/>
                      </a:solidFill>
                    </a:lnL>
                    <a:lnR w="12240">
                      <a:solidFill>
                        <a:srgbClr val="ffffff"/>
                      </a:solidFill>
                    </a:lnR>
                    <a:lnT w="12240">
                      <a:solidFill>
                        <a:srgbClr val="ffffff"/>
                      </a:solidFill>
                    </a:lnT>
                    <a:lnB w="12240">
                      <a:solidFill>
                        <a:srgbClr val="ffffff"/>
                      </a:solidFill>
                    </a:lnB>
                    <a:solidFill>
                      <a:srgbClr val="17253a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10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TextBox 1"/>
          <p:cNvSpPr/>
          <p:nvPr/>
        </p:nvSpPr>
        <p:spPr>
          <a:xfrm>
            <a:off x="311040" y="164520"/>
            <a:ext cx="11566800" cy="50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3100" spc="-1" strike="noStrike">
                <a:solidFill>
                  <a:srgbClr val="f4f7fc"/>
                </a:solidFill>
                <a:latin typeface="Noto Sans CJK SC"/>
              </a:rPr>
              <a:t>备份 </a:t>
            </a:r>
            <a:r>
              <a:rPr b="1" lang="en-US" sz="3100" spc="-1" strike="noStrike">
                <a:solidFill>
                  <a:srgbClr val="f4f7fc"/>
                </a:solidFill>
                <a:latin typeface="Noto Sans CJK SC"/>
              </a:rPr>
              <a:t>F</a:t>
            </a:r>
            <a:r>
              <a:rPr b="1" lang="zh-CN" sz="3100" spc="-1" strike="noStrike">
                <a:solidFill>
                  <a:srgbClr val="f4f7fc"/>
                </a:solidFill>
                <a:latin typeface="Noto Sans CJK SC"/>
              </a:rPr>
              <a:t>｜评委常见追问</a:t>
            </a:r>
            <a:endParaRPr b="0" lang="en-US" sz="3100" spc="-1" strike="noStrike">
              <a:latin typeface="Arial"/>
            </a:endParaRPr>
          </a:p>
        </p:txBody>
      </p:sp>
      <p:sp>
        <p:nvSpPr>
          <p:cNvPr id="274" name="TextBox 2"/>
          <p:cNvSpPr/>
          <p:nvPr/>
        </p:nvSpPr>
        <p:spPr>
          <a:xfrm>
            <a:off x="320040" y="786240"/>
            <a:ext cx="11521080" cy="29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800" spc="-1" strike="noStrike">
                <a:solidFill>
                  <a:srgbClr val="b8c7dc"/>
                </a:solidFill>
                <a:latin typeface="Noto Sans CJK SC"/>
              </a:rPr>
              <a:t>用源码、原始日志和同次录屏说明机制与验证范围</a:t>
            </a:r>
            <a:endParaRPr b="0" lang="en-US" sz="1800" spc="-1" strike="noStrike">
              <a:latin typeface="Arial"/>
            </a:endParaRPr>
          </a:p>
        </p:txBody>
      </p:sp>
      <p:sp>
        <p:nvSpPr>
          <p:cNvPr id="275" name="Rectangle 3"/>
          <p:cNvSpPr/>
          <p:nvPr/>
        </p:nvSpPr>
        <p:spPr>
          <a:xfrm>
            <a:off x="320040" y="6492240"/>
            <a:ext cx="11548440" cy="12600"/>
          </a:xfrm>
          <a:prstGeom prst="rect">
            <a:avLst/>
          </a:prstGeom>
          <a:solidFill>
            <a:srgbClr val="3b4c6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76" name="TextBox 4"/>
          <p:cNvSpPr/>
          <p:nvPr/>
        </p:nvSpPr>
        <p:spPr>
          <a:xfrm>
            <a:off x="320040" y="6565320"/>
            <a:ext cx="10972440" cy="16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复现环境：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</a:rPr>
              <a:t>Ubuntu 22.04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、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</a:rPr>
              <a:t>ROS 2 Humble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、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</a:rPr>
              <a:t>Gazebo Classic 11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；一键 </a:t>
            </a:r>
            <a:r>
              <a:rPr b="0" lang="en-US" sz="1020" spc="-1" strike="noStrike">
                <a:solidFill>
                  <a:srgbClr val="b8c7dc"/>
                </a:solidFill>
                <a:latin typeface="Noto Sans CJK SC"/>
              </a:rPr>
              <a:t>start.sh</a:t>
            </a:r>
            <a:r>
              <a:rPr b="0" lang="zh-CN" sz="1020" spc="-1" strike="noStrike">
                <a:solidFill>
                  <a:srgbClr val="b8c7dc"/>
                </a:solidFill>
                <a:latin typeface="Noto Sans CJK SC"/>
              </a:rPr>
              <a:t>。</a:t>
            </a:r>
            <a:endParaRPr b="0" lang="en-US" sz="1020" spc="-1" strike="noStrike">
              <a:latin typeface="Arial"/>
            </a:endParaRPr>
          </a:p>
        </p:txBody>
      </p:sp>
      <p:sp>
        <p:nvSpPr>
          <p:cNvPr id="277" name="TextBox 5"/>
          <p:cNvSpPr/>
          <p:nvPr/>
        </p:nvSpPr>
        <p:spPr>
          <a:xfrm>
            <a:off x="11421000" y="6537960"/>
            <a:ext cx="411120" cy="19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7000"/>
              </a:lnSpc>
              <a:spcAft>
                <a:spcPts val="400"/>
              </a:spcAft>
              <a:buNone/>
            </a:pPr>
            <a:r>
              <a:rPr b="1" lang="en-US" sz="1200" spc="-1" strike="noStrike">
                <a:solidFill>
                  <a:srgbClr val="42d5bb"/>
                </a:solidFill>
                <a:latin typeface="Noto Sans CJK SC"/>
              </a:rPr>
              <a:t>23</a:t>
            </a:r>
            <a:endParaRPr b="0" lang="en-US" sz="1200" spc="-1" strike="noStrike">
              <a:latin typeface="Arial"/>
            </a:endParaRPr>
          </a:p>
        </p:txBody>
      </p:sp>
      <p:sp>
        <p:nvSpPr>
          <p:cNvPr id="278" name="TextBox 6"/>
          <p:cNvSpPr/>
          <p:nvPr/>
        </p:nvSpPr>
        <p:spPr>
          <a:xfrm>
            <a:off x="484560" y="1353240"/>
            <a:ext cx="4708800" cy="37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2300" spc="-1" strike="noStrike">
                <a:solidFill>
                  <a:srgbClr val="42d5bb"/>
                </a:solidFill>
                <a:latin typeface="Noto Sans CJK SC"/>
              </a:rPr>
              <a:t>如何证明真实推障？</a:t>
            </a:r>
            <a:endParaRPr b="0" lang="en-US" sz="2300" spc="-1" strike="noStrike">
              <a:latin typeface="Arial"/>
            </a:endParaRPr>
          </a:p>
        </p:txBody>
      </p:sp>
      <p:sp>
        <p:nvSpPr>
          <p:cNvPr id="279" name="TextBox 7"/>
          <p:cNvSpPr/>
          <p:nvPr/>
        </p:nvSpPr>
        <p:spPr>
          <a:xfrm>
            <a:off x="5422320" y="1353240"/>
            <a:ext cx="629064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en-US" sz="2200" spc="-1" strike="noStrike">
                <a:solidFill>
                  <a:srgbClr val="f4f7fc"/>
                </a:solidFill>
                <a:latin typeface="Noto Sans CJK SC"/>
              </a:rPr>
              <a:t>2 kg </a:t>
            </a:r>
            <a:r>
              <a:rPr b="0" lang="zh-CN" sz="2200" spc="-1" strike="noStrike">
                <a:solidFill>
                  <a:srgbClr val="f4f7fc"/>
                </a:solidFill>
                <a:latin typeface="Noto Sans CJK SC"/>
              </a:rPr>
              <a:t>动态箱体、物理碰撞与摩擦、独立位移记录。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80" name="TextBox 8"/>
          <p:cNvSpPr/>
          <p:nvPr/>
        </p:nvSpPr>
        <p:spPr>
          <a:xfrm>
            <a:off x="484560" y="2304360"/>
            <a:ext cx="4708800" cy="37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2300" spc="-1" strike="noStrike">
                <a:solidFill>
                  <a:srgbClr val="42d5bb"/>
                </a:solidFill>
                <a:latin typeface="Noto Sans CJK SC"/>
              </a:rPr>
              <a:t>是否按固定速度硬走路线？</a:t>
            </a:r>
            <a:endParaRPr b="0" lang="en-US" sz="2300" spc="-1" strike="noStrike">
              <a:latin typeface="Arial"/>
            </a:endParaRPr>
          </a:p>
        </p:txBody>
      </p:sp>
      <p:sp>
        <p:nvSpPr>
          <p:cNvPr id="281" name="TextBox 9"/>
          <p:cNvSpPr/>
          <p:nvPr/>
        </p:nvSpPr>
        <p:spPr>
          <a:xfrm>
            <a:off x="5422320" y="2304360"/>
            <a:ext cx="629064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en-US" sz="2200" spc="-1" strike="noStrike">
                <a:solidFill>
                  <a:srgbClr val="f4f7fc"/>
                </a:solidFill>
                <a:latin typeface="Noto Sans CJK SC"/>
              </a:rPr>
              <a:t>YAML </a:t>
            </a:r>
            <a:r>
              <a:rPr b="0" lang="zh-CN" sz="2200" spc="-1" strike="noStrike">
                <a:solidFill>
                  <a:srgbClr val="f4f7fc"/>
                </a:solidFill>
                <a:latin typeface="Noto Sans CJK SC"/>
              </a:rPr>
              <a:t>只给任务目标，路径与跟踪由 </a:t>
            </a:r>
            <a:r>
              <a:rPr b="0" lang="en-US" sz="2200" spc="-1" strike="noStrike">
                <a:solidFill>
                  <a:srgbClr val="f4f7fc"/>
                </a:solidFill>
                <a:latin typeface="Noto Sans CJK SC"/>
              </a:rPr>
              <a:t>Nav2 </a:t>
            </a:r>
            <a:r>
              <a:rPr b="0" lang="zh-CN" sz="2200" spc="-1" strike="noStrike">
                <a:solidFill>
                  <a:srgbClr val="f4f7fc"/>
                </a:solidFill>
                <a:latin typeface="Noto Sans CJK SC"/>
              </a:rPr>
              <a:t>完成。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82" name="TextBox 10"/>
          <p:cNvSpPr/>
          <p:nvPr/>
        </p:nvSpPr>
        <p:spPr>
          <a:xfrm>
            <a:off x="484560" y="3255120"/>
            <a:ext cx="4708800" cy="37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2300" spc="-1" strike="noStrike">
                <a:solidFill>
                  <a:srgbClr val="42d5bb"/>
                </a:solidFill>
                <a:latin typeface="Noto Sans CJK SC"/>
              </a:rPr>
              <a:t>地图清理会忽略真实障碍吗？</a:t>
            </a:r>
            <a:endParaRPr b="0" lang="en-US" sz="2300" spc="-1" strike="noStrike">
              <a:latin typeface="Arial"/>
            </a:endParaRPr>
          </a:p>
        </p:txBody>
      </p:sp>
      <p:sp>
        <p:nvSpPr>
          <p:cNvPr id="283" name="TextBox 11"/>
          <p:cNvSpPr/>
          <p:nvPr/>
        </p:nvSpPr>
        <p:spPr>
          <a:xfrm>
            <a:off x="5422320" y="3255120"/>
            <a:ext cx="629064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2200" spc="-1" strike="noStrike">
                <a:solidFill>
                  <a:srgbClr val="f4f7fc"/>
                </a:solidFill>
                <a:latin typeface="Noto Sans CJK SC"/>
              </a:rPr>
              <a:t>限定区域、三次自由证据，实时激光层继续标记。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84" name="TextBox 12"/>
          <p:cNvSpPr/>
          <p:nvPr/>
        </p:nvSpPr>
        <p:spPr>
          <a:xfrm>
            <a:off x="484560" y="4206240"/>
            <a:ext cx="4708800" cy="37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2300" spc="-1" strike="noStrike">
                <a:solidFill>
                  <a:srgbClr val="42d5bb"/>
                </a:solidFill>
                <a:latin typeface="Noto Sans CJK SC"/>
              </a:rPr>
              <a:t>团队创新体现在哪里？</a:t>
            </a:r>
            <a:endParaRPr b="0" lang="en-US" sz="2300" spc="-1" strike="noStrike">
              <a:latin typeface="Arial"/>
            </a:endParaRPr>
          </a:p>
        </p:txBody>
      </p:sp>
      <p:sp>
        <p:nvSpPr>
          <p:cNvPr id="285" name="TextBox 13"/>
          <p:cNvSpPr/>
          <p:nvPr/>
        </p:nvSpPr>
        <p:spPr>
          <a:xfrm>
            <a:off x="5422320" y="4206240"/>
            <a:ext cx="6290640" cy="71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2200" spc="-1" strike="noStrike">
                <a:solidFill>
                  <a:srgbClr val="f4f7fc"/>
                </a:solidFill>
                <a:latin typeface="Noto Sans CJK SC"/>
              </a:rPr>
              <a:t>基础算法明确归属，团队实现结构、核验、控制与集成。</a:t>
            </a:r>
            <a:endParaRPr b="0" lang="en-US" sz="2200" spc="-1" strike="noStrike">
              <a:latin typeface="Arial"/>
            </a:endParaRPr>
          </a:p>
        </p:txBody>
      </p:sp>
      <p:sp>
        <p:nvSpPr>
          <p:cNvPr id="286" name="TextBox 14"/>
          <p:cNvSpPr/>
          <p:nvPr/>
        </p:nvSpPr>
        <p:spPr>
          <a:xfrm>
            <a:off x="484560" y="5157360"/>
            <a:ext cx="4708800" cy="37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1" lang="zh-CN" sz="2300" spc="-1" strike="noStrike">
                <a:solidFill>
                  <a:srgbClr val="42d5bb"/>
                </a:solidFill>
                <a:latin typeface="Noto Sans CJK SC"/>
              </a:rPr>
              <a:t>已经证明全程绝对无碰撞吗？</a:t>
            </a:r>
            <a:endParaRPr b="0" lang="en-US" sz="2300" spc="-1" strike="noStrike">
              <a:latin typeface="Arial"/>
            </a:endParaRPr>
          </a:p>
        </p:txBody>
      </p:sp>
      <p:sp>
        <p:nvSpPr>
          <p:cNvPr id="287" name="TextBox 15"/>
          <p:cNvSpPr/>
          <p:nvPr/>
        </p:nvSpPr>
        <p:spPr>
          <a:xfrm>
            <a:off x="5422320" y="5157360"/>
            <a:ext cx="6290640" cy="35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7000"/>
              </a:lnSpc>
              <a:spcAft>
                <a:spcPts val="400"/>
              </a:spcAft>
              <a:buNone/>
            </a:pPr>
            <a:r>
              <a:rPr b="0" lang="zh-CN" sz="2200" spc="-1" strike="noStrike">
                <a:solidFill>
                  <a:srgbClr val="f4f7fc"/>
                </a:solidFill>
                <a:latin typeface="Noto Sans CJK SC"/>
              </a:rPr>
              <a:t>墙体检查是离散采样；尚无连续接触传感器证明。</a:t>
            </a:r>
            <a:endParaRPr b="0" lang="en-US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Simulator · B09018834</dc:creator>
  <dc:description>generated using python-pptx</dc:description>
  <dc:language>en-US</dc:language>
  <cp:lastModifiedBy/>
  <dcterms:modified xsi:type="dcterms:W3CDTF">2026-10-13T20:34:46Z</dcterms:modified>
  <cp:revision>2</cp:revision>
  <dc:subject/>
  <dc:title>救援无人车仿真系统｜国赛答辩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