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六项贡献围绕实际救援流程组织。ROS 2、Gazebo、Nav2、YOLOv5、AprilTag和PnP属于采用的既有技术。场景图来自v19历史成功录像，符合当前world布局，不称最新提速截图。</a:t>
            </a:r>
          </a:p>
          <a:p/>
          <a:p>
            <a:r>
              <a:t>图片与证据来源：</a:t>
            </a:r>
          </a:p>
          <a:p>
            <a:r>
              <a:t>- 灰走廊、蓝起点、黄核心区、红箱的真实Gazebo全景｜真实 Gazebo 录屏裁剪｜avs_ws/acceptance/recording_yolov5_smac_v19/continuous_raw.mp4</a:t>
            </a:r>
          </a:p>
          <a:p/>
          <a:p>
            <a:r>
              <a:t>图：v19 原始连续录屏 90 s；内容核对当前源码及 2026-10-12 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秒固定正弦扫描由真实物理关节驱动，未实现按置信度自动选视角。两图属于同一停车点不同扫视时刻，位置差约2.9mm、偏航差约1.6°，不能作为连续三个处理帧证据。危险标识空间关联后连续三个处理帧才发布确认；缺帧重置计数。停车先检查至少0.8秒且实际速度足够低，确认后观察至少1秒；28秒超时停车。</a:t>
            </a:r>
          </a:p>
          <a:p/>
          <a:p>
            <a:r>
              <a:t>图片与证据来源：</a:t>
            </a:r>
          </a:p>
          <a:p>
            <a:r>
              <a:t>- 同一停车点 · 扫视时刻 A｜实际图片｜['avs_ws/acceptance/speed_mixed_020_20261012_run2/image_0380.png']</a:t>
            </a:r>
          </a:p>
          <a:p>
            <a:r>
              <a:t>- 同一停车点 · 扫视时刻 B｜实际图片｜['avs_ws/acceptance/speed_mixed_020_20261012_run2/image_0395.png']</a:t>
            </a:r>
          </a:p>
          <a:p/>
          <a:p>
            <a:r>
              <a:t>图：最终 run2 / image_0380、0395；代码：camera_scan_node、hazard_tracker、mission_node。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图按当前SDF实际几何、位置、配色渲染，明确是模型示意，不称Gazebo截图。真实整车小图原始98×65像素，仅作来源参照。横梁宽0.28m、轮缘最大宽0.285m、门宽0.50m。斜翼对小偏差提供引导趋势，不是任意偏移自定心或力控制。里程计闭环限制横偏4cm、航向0.12rad；超限中止。</a:t>
            </a:r>
          </a:p>
          <a:p/>
          <a:p>
            <a:r>
              <a:t>图片与证据来源：</a:t>
            </a:r>
          </a:p>
          <a:p>
            <a:r>
              <a:t>- 完整车辆、驱动轮、V形推板、雷达和云台相机｜按实际 SDF 渲染示意｜avs_ws/src/avs_rescue_sim/models/rescue_rover/model.sdf</a:t>
            </a:r>
          </a:p>
          <a:p>
            <a:r>
              <a:t>- 真实完整整车裁剪，原始98×65像素｜真实 Gazebo 整车裁剪｜avs_ws/acceptance/recording_yolov5_smac_v19/continuous_raw.mp4</a:t>
            </a:r>
          </a:p>
          <a:p/>
          <a:p>
            <a:r>
              <a:t>主图：当前 model.sdf 等比例渲染；小图：v19 原始录屏 175 s 的真实完整车辆。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图仅展示v19同一次历史成功运行机械动作，不与最新提速数据混为同次。1.08m是车辆沿初始航向的里程计推进目标，不是箱体实际位移。推箱上限0.10m/s、24秒超时，检查侧偏、航向及推进距离。推完执行有界转向脱离，红箱不被瞬移或删除。</a:t>
            </a:r>
          </a:p>
          <a:p/>
          <a:p>
            <a:r>
              <a:t>图片与证据来源：</a:t>
            </a:r>
          </a:p>
          <a:p>
            <a:r>
              <a:t>- 同一次历史成功运行的推前、推中、推后真实场景｜真实连续录屏三帧拼图｜avs_ws/acceptance/recording_yolov5_smac_v19/continuous_raw.mp4</a:t>
            </a:r>
          </a:p>
          <a:p/>
          <a:p>
            <a:r>
              <a:t>图：同一次 v19 原始连续录屏 128 / 135 / 160 s；参数读取当前 mission_params.yaml。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凸多边形车体按反应时间和保守制动时长扫掠，图中未绘3.5cm外侧余量。安全检查位于速度平滑后、驱动前，指令与未裁剪实测速度分别检查。普通阶段完整保护；推障仅放行低速前方窄窗口；脱离例外固定在原箱体区域，最长12秒、平移6cm且近零线速。失效即停，不宣称连续安全证明或目标视觉身份验证。</a:t>
            </a:r>
          </a:p>
          <a:p/>
          <a:p>
            <a:r>
              <a:t>图片与证据来源：</a:t>
            </a:r>
          </a:p>
          <a:p>
            <a:r>
              <a:t>- 真实footprint直行与转弯扫掠原理｜源码参数示意｜['avs_ws/src/avs_rescue_sim/config/nav_params.yaml', 'avs_ws/src/avs_rescue_sim/avs_rescue_sim/motion_safety.py']</a:t>
            </a:r>
          </a:p>
          <a:p/>
          <a:p>
            <a:r>
              <a:t>图：当前 footprint 与 motion_safety.py 参数绘制的原理示意；非实测扫掠轨迹。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图为实际PGM依据YAML原点和分辨率显示，叠加两个配置区域。没有/map与/navigation_map真实同区域前后记录，因此仅解释原理，不称实测前后。限定区域内累计三次不同时间戳扫描的自由证据，射线停在量测障碍前8cm；原PGM不改，派生图用于导航，实时障碍层标记箱体新位置。这不是通用动态SLAM。</a:t>
            </a:r>
          </a:p>
          <a:p/>
          <a:p>
            <a:r>
              <a:t>图片与证据来源：</a:t>
            </a:r>
          </a:p>
          <a:p>
            <a:r>
              <a:t>- 实际保存地图叠加允许清理区域｜实际PGM叠加配置｜['avs_ws/src/avs_rescue_sim/maps/rescue_map.pgm', 'avs_ws/src/avs_rescue_sim/maps/rescue_map.yaml', 'avs_ws/src/avs_rescue_sim/config/navigation_map.yaml']</a:t>
            </a:r>
          </a:p>
          <a:p/>
          <a:p>
            <a:r>
              <a:t>图：实际 rescue_map.pgm + navigation_map.yaml 允许区域；右侧为处理原理。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旧权重曾把黄色车身、蓝起点、红箱误报为辐射、电气、火灾。当前训练加入正确同色物体与空场景负例，候选核验白色图案、颜色和几何后拟合牌边，再空间关联与连续三帧确认。此图左半与v19 image_0462逐像素对应，右半为同输入回放；记录before=[]、after=[ELECTRICAL]。全图阈值0.45，已核验区域局部重检下限0.25。仍有截断/斜视瞬时漏框，不以此单例宣称全视频准确率。</a:t>
            </a:r>
          </a:p>
          <a:p/>
          <a:p>
            <a:r>
              <a:t>图片与证据来源：</a:t>
            </a:r>
          </a:p>
          <a:p>
            <a:r>
              <a:t>- ELECTRICAL同一输入帧的区域恢复回放｜同帧离线算法回放｜['avs_ws/docs/vision_recovery_example.png', 'avs_ws/acceptance/recording_yolov5_smac_v19/evidence/image_0462.png', 'avs_ws/docs/vision_recovery_replay.json']</a:t>
            </a:r>
          </a:p>
          <a:p/>
          <a:p>
            <a:r>
              <a:t>图：同帧 v19 / image_0462 算法回放；结果记录 vision_recovery_replay.json。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五类来自同一次最终成功运行且实际有绿色分类框。第六图0775紫框对应真实红箱，非YOLO FIRE分类。相机图像不重画框、不改坐标；仅展示样例，不证明逐帧零误报或连续确认。</a:t>
            </a:r>
          </a:p>
          <a:p/>
          <a:p>
            <a:r>
              <a:t>图片与证据来源：</a:t>
            </a:r>
          </a:p>
          <a:p>
            <a:r>
              <a:t>- FIRE · 火灾标识真实框原图｜实际图片｜['avs_ws/acceptance/speed_mixed_020_20261012_run2/image_0092.png']</a:t>
            </a:r>
          </a:p>
          <a:p>
            <a:r>
              <a:t>- CHEMICAL · 化学标识真实框原图｜实际图片｜['avs_ws/acceptance/speed_mixed_020_20261012_run2/image_0077.png']</a:t>
            </a:r>
          </a:p>
          <a:p>
            <a:r>
              <a:t>- RADIATION · 辐射标识真实框原图｜实际图片｜['avs_ws/acceptance/speed_mixed_020_20261012_run2/image_0213.png']</a:t>
            </a:r>
          </a:p>
          <a:p>
            <a:r>
              <a:t>- ELECTRICAL · 电气标识真实框原图｜实际图片｜['avs_ws/acceptance/speed_mixed_020_20261012_run2/image_0335.png']</a:t>
            </a:r>
          </a:p>
          <a:p>
            <a:r>
              <a:t>- BIOHAZARD · 生物危害真实框原图｜实际图片｜['avs_ws/acceptance/speed_mixed_020_20261012_run2/image_0320.png']</a:t>
            </a:r>
          </a:p>
          <a:p>
            <a:r>
              <a:t>- 真实红箱 · PUSH BARRIER真实框原图｜实际图片｜['avs_ws/acceptance/speed_mixed_020_20261012_run2/image_0775.png']</a:t>
            </a:r>
          </a:p>
          <a:p/>
          <a:p>
            <a:r>
              <a:t>图：最终 run2 / image_0092、0077、0213、0335、0320、0775；完整原图拼排。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轨迹由run2独立验收车辆位置和当前world墙体绘制，控制不读真值。颜色表示阶段参数，实际会减速、停车和转向。普通0.20m/s、5cm到点容差、0.20m减速距离；精细0.12m/s、2.5cm、0.40m。推障0.10m/s。精细步骤包含推障对正、返航门洞接近/转向/穿门、最终起点。到位置后读当前TF坐标再对正，减少AMCL微调引发的追旧终点。按预设任务阶段切换，不称在线最优速度。</a:t>
            </a:r>
          </a:p>
          <a:p/>
          <a:p>
            <a:r>
              <a:t>图片与证据来源：</a:t>
            </a:r>
          </a:p>
          <a:p>
            <a:r>
              <a:t>- 同一次成功运行的实际轨迹，按任务阶段染色｜实测数据可视化｜['avs_ws/acceptance/speed_mixed_020_20261012_run2/result.json', 'avs_ws/src/avs_rescue_sim/worlds/rescue_world.world', 'avs_ws/src/avs_rescue_sim/config/mission_params.yaml']</a:t>
            </a:r>
          </a:p>
          <a:p/>
          <a:p>
            <a:r>
              <a:t>图：最终 run2 实际位置采样 + 当前阶段配置；颜色是阶段速度上限，不是实测速率。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次导航至完成310.8198→287.1957秒，省23.6241秒即7.6006%；含启动317.3463→292.5701秒，不混采集总时长。两次均5类+4标签齐全，22视觉文件哈希与基准一致。图像视角不同，参数一致和任务成功不证明逐帧精确率/召回率完全不变。0.24分档候选296.84秒更慢，两个更高速度失败候选不计成绩。两次定位最高误差12.83和6.83cm，不宣称精度不变或全场景最优。</a:t>
            </a:r>
          </a:p>
          <a:p/>
          <a:p>
            <a:r>
              <a:t>图片与证据来源：</a:t>
            </a:r>
          </a:p>
          <a:p>
            <a:r>
              <a:t>- 同口径310.82→287.20秒，减少7.6%｜实测统计图｜['avs_ws/docs/speed_tuning_validation.json']</a:t>
            </a:r>
          </a:p>
          <a:p/>
          <a:p>
            <a:r>
              <a:t>数据：speed_tuning_validation.json；1 次原速基准，2 次相同最终配置完整成功运行。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图像非阻塞等待拍摄时间戳TF，过期丢弃，实际云台关节角经joint_states进TF。标签已知0.1875m边长及四角用IPPE Square PnP估计位置，重投影门限2.5px；同图时间戳转map。至少4次有效观测，最近20样本中值、离群拒绝及0.35指数平滑；缺帧不重置，不称连续四帧。标签灾情名由预设ID映射，不称独立识别真实毒气/人员险情。不读取标签模型真值。裁剪保留原算法ID、坐标和框，不重写。</a:t>
            </a:r>
          </a:p>
          <a:p/>
          <a:p>
            <a:r>
              <a:t>图片与证据来源：</a:t>
            </a:r>
          </a:p>
          <a:p>
            <a:r>
              <a:t>- T0实际ID和地图坐标｜原图局部裁剪｜['avs_ws/acceptance/speed_mixed_020_20261012_run2/image_0639.png']</a:t>
            </a:r>
          </a:p>
          <a:p>
            <a:r>
              <a:t>- T1实际ID和地图坐标｜原图局部裁剪｜['avs_ws/acceptance/speed_mixed_020_20261012_run2/image_0745.png']</a:t>
            </a:r>
          </a:p>
          <a:p>
            <a:r>
              <a:t>- T2实际ID和地图坐标｜原图局部裁剪｜['avs_ws/acceptance/speed_mixed_020_20261012_run2/image_0761.png']</a:t>
            </a:r>
          </a:p>
          <a:p>
            <a:r>
              <a:t>- T3实际ID和地图坐标｜原图局部裁剪｜['avs_ws/acceptance/speed_mixed_020_20261012_run2/image_0870.png']</a:t>
            </a:r>
          </a:p>
          <a:p/>
          <a:p>
            <a:r>
              <a:t>图：最终 run2 / image_0639、0745、0761、0870 的局部裁剪；代码：vision_node.py。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图和主指标同属最终run2，蓝去程、绿回程、紫标签估计，非RViz截图。run2五类四标签全，箱体1.004902m、返航5.253cm、Marker4.409–6.826cm。run1相同配置通过，Marker7.671–12.830cm，诚实显示波动。两次93源文件哈希一致，22视觉文件与基准一致，165回归测试通过。车体与墙体离散采样无重叠不是连续无碰撞证明。当前只验证已知仿真场地和合成图案。</a:t>
            </a:r>
          </a:p>
          <a:p/>
          <a:p>
            <a:r>
              <a:t>图片与证据来源：</a:t>
            </a:r>
          </a:p>
          <a:p>
            <a:r>
              <a:t>- 最终run2实际轨迹、标签估计和箱体初终位置｜最新成功运行记录重绘｜avs_ws/acceptance/speed_mixed_020_20261012_run2/result.json</a:t>
            </a:r>
          </a:p>
          <a:p/>
          <a:p>
            <a:r>
              <a:t>图与主指标：最终 run2；重复结果：最终 run1；165 项回归测试见 speed_tuning_validation。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六项创新，贯通观察、清障、定位与返航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面向狭窄救援场地的工程创新｜问题、机制与证据对应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图：v19 原始连续录屏 90 s；内容核对当前源码及 2026-10-12 验收。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01</a:t>
            </a:r>
          </a:p>
        </p:txBody>
      </p:sp>
      <p:pic>
        <p:nvPicPr>
          <p:cNvPr id="8" name="Picture 7" descr="scene_overview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52" y="1847088"/>
            <a:ext cx="5463815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25896"/>
            <a:ext cx="530352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真实仿真场地  /  3 × 3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019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5" y="20025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23682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云台扫描与多帧确认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27889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观察动作与任务闭环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019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6" y="20025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682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推障机构与控制协同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7889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被动推板、闭环与接触边界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735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5" y="33741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7398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移动障碍地图残影处理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41605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激光自由证据修正导航图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2735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33741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37398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YOLOv5 与多级核验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1605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图案、几何与时序共同判断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451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5" y="47457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51114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任务阶段的速度精度协同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5" y="55321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普通路段提速，精细阶段低速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4645152"/>
            <a:ext cx="2606040" cy="122529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4745736"/>
            <a:ext cx="457200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5111496"/>
            <a:ext cx="2359152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F4F7FC"/>
                </a:solidFill>
                <a:latin typeface="Noto Sans CJK SC"/>
              </a:defRPr>
            </a:pPr>
            <a:r>
              <a:t>时间同步定位与地图标注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5532120"/>
            <a:ext cx="2359152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拍摄时刻 TF 与稳健位置融合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01  云台扫描与多帧确认协同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底盘沿路线行驶，云台负责侧墙观察；所需目标确认后任务继续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/ image_0380、0395；代码：camera_scan_node、hazard_tracker、mission_node。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02</a:t>
            </a:r>
          </a:p>
        </p:txBody>
      </p:sp>
      <p:pic>
        <p:nvPicPr>
          <p:cNvPr id="8" name="Picture 7" descr="scan_stop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1847088"/>
            <a:ext cx="377951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27448"/>
            <a:ext cx="379476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同一停车点 · 扫视时刻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02352"/>
            <a:ext cx="379476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050" b="0">
                <a:solidFill>
                  <a:srgbClr val="A6B7CE"/>
                </a:solidFill>
                <a:latin typeface="Noto Sans CJK SC"/>
              </a:defRPr>
            </a:pPr>
            <a:r>
              <a:t>完整原图 / image_0380.png</a:t>
            </a:r>
          </a:p>
        </p:txBody>
      </p:sp>
      <p:pic>
        <p:nvPicPr>
          <p:cNvPr id="11" name="Picture 10" descr="scan_sto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028" y="1847088"/>
            <a:ext cx="3779519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8" y="4727448"/>
            <a:ext cx="379476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同一停车点 · 扫视时刻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5102352"/>
            <a:ext cx="3794760" cy="2286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050" b="0">
                <a:solidFill>
                  <a:srgbClr val="A6B7CE"/>
                </a:solidFill>
                <a:latin typeface="Noto Sans CJK SC"/>
              </a:defRPr>
            </a:pPr>
            <a:r>
              <a:t>完整原图 / image_0395.png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8" y="199339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084832"/>
            <a:ext cx="2953512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12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578608"/>
            <a:ext cx="29535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固定云台扫描周期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3127248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218688"/>
            <a:ext cx="2953512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连续 3 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712463"/>
            <a:ext cx="295351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危险标识任务确认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334256"/>
            <a:ext cx="2880360" cy="91440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当前帧显示框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 连续确认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700" b="0">
                <a:solidFill>
                  <a:srgbClr val="F4F7FC"/>
                </a:solidFill>
                <a:latin typeface="Noto Sans CJK SC"/>
              </a:defRPr>
            </a:pPr>
            <a:r>
              <a:t>→ 发布任务事件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到观察点</a:t>
            </a:r>
          </a:p>
        </p:txBody>
      </p:sp>
      <p:sp>
        <p:nvSpPr>
          <p:cNvPr id="23" name="Chevron 22"/>
          <p:cNvSpPr/>
          <p:nvPr/>
        </p:nvSpPr>
        <p:spPr>
          <a:xfrm>
            <a:off x="3122676" y="5715000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28416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9856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验证底盘已停</a:t>
            </a:r>
          </a:p>
        </p:txBody>
      </p:sp>
      <p:sp>
        <p:nvSpPr>
          <p:cNvPr id="26" name="Chevron 25"/>
          <p:cNvSpPr/>
          <p:nvPr/>
        </p:nvSpPr>
        <p:spPr>
          <a:xfrm>
            <a:off x="5993892" y="5715000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9632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云台左右观察</a:t>
            </a:r>
          </a:p>
        </p:txBody>
      </p:sp>
      <p:sp>
        <p:nvSpPr>
          <p:cNvPr id="29" name="Chevron 28"/>
          <p:cNvSpPr/>
          <p:nvPr/>
        </p:nvSpPr>
        <p:spPr>
          <a:xfrm>
            <a:off x="8865108" y="5715000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70848" y="5486400"/>
            <a:ext cx="2633472" cy="5852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5605272"/>
            <a:ext cx="2450592" cy="42976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700" b="1">
                <a:solidFill>
                  <a:srgbClr val="42D5BB"/>
                </a:solidFill>
                <a:latin typeface="Noto Sans CJK SC"/>
              </a:defRPr>
            </a:pPr>
            <a:r>
              <a:t>收到确认后继续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02  整车结构与闭环推进协同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被动 V 形推板降低机构复杂度；机械引导与里程计反馈共同完成推进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主图：当前 model.sdf 等比例渲染；小图：v19 原始录屏 175 s 的真实完整车辆。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7406640" cy="432511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ehicle_sdf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892" y="1965960"/>
            <a:ext cx="548640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1856231"/>
            <a:ext cx="14173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云台相机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988052" y="2221991"/>
            <a:ext cx="1572768" cy="1164946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960620" y="3359505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56231"/>
            <a:ext cx="150876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激光雷达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274820" y="2221991"/>
            <a:ext cx="45720" cy="857708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247388" y="3052267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21808"/>
            <a:ext cx="118872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驱动轮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25880" y="4692700"/>
            <a:ext cx="1961388" cy="994868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259836" y="4665268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5321808"/>
            <a:ext cx="1508760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V 形推板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811012" y="4961534"/>
            <a:ext cx="841248" cy="726034"/>
          </a:xfrm>
          <a:prstGeom prst="line">
            <a:avLst/>
          </a:prstGeom>
          <a:ln w="15240">
            <a:solidFill>
              <a:srgbClr val="42D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783580" y="4934102"/>
            <a:ext cx="54864" cy="54864"/>
          </a:xfrm>
          <a:prstGeom prst="ellipse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852160"/>
            <a:ext cx="5852160" cy="21945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200" b="0">
                <a:solidFill>
                  <a:srgbClr val="A6B7CE"/>
                </a:solidFill>
                <a:latin typeface="Noto Sans CJK SC"/>
              </a:defRPr>
            </a:pPr>
            <a:r>
              <a:t>按当前 SDF 等比例渲染 · 整车示意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1828800"/>
            <a:ext cx="3593592" cy="153619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ehicle_actua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980562"/>
            <a:ext cx="1417319" cy="94005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12096" y="2057400"/>
            <a:ext cx="1627632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真实整车参照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578608"/>
            <a:ext cx="1627632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A6B7CE"/>
                </a:solidFill>
                <a:latin typeface="Noto Sans CJK SC"/>
              </a:defRPr>
            </a:pPr>
            <a:r>
              <a:t>原录屏尺寸有限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7" y="3611880"/>
            <a:ext cx="3593592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703320"/>
            <a:ext cx="3300984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0.28 / 0.50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419709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推板宽 / 门洞宽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7" y="4800600"/>
            <a:ext cx="3593592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4892040"/>
            <a:ext cx="3300984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FFC466"/>
                </a:solidFill>
                <a:latin typeface="Noto Sans CJK SC"/>
              </a:defRPr>
            </a:pPr>
            <a:r>
              <a:t>4 cm / 0.12 rad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5385816"/>
            <a:ext cx="3300984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允许横偏 / 航向偏差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02  真实接触推障：对准、推进、脱离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箱体位移来自 Gazebo 动力学接触；车辆推进距离由里程计闭环控制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图：同一次 v19 原始连续录屏 128 / 135 / 160 s；参数读取当前 mission_params.yaml。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04</a:t>
            </a:r>
          </a:p>
        </p:txBody>
      </p:sp>
      <p:pic>
        <p:nvPicPr>
          <p:cNvPr id="8" name="Picture 7" descr="push_sequence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47088"/>
            <a:ext cx="10917936" cy="3639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486400"/>
            <a:ext cx="3584448" cy="8138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5577840"/>
            <a:ext cx="32918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0.10 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071616"/>
            <a:ext cx="32918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推障速度上限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5486400"/>
            <a:ext cx="3584448" cy="8138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577840"/>
            <a:ext cx="32918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1.08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6071616"/>
            <a:ext cx="32918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车体里程计推进目标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5486400"/>
            <a:ext cx="3584448" cy="813816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5577840"/>
            <a:ext cx="32918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FFC466"/>
                </a:solidFill>
                <a:latin typeface="Noto Sans CJK SC"/>
              </a:defRPr>
            </a:pPr>
            <a:r>
              <a:t>24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6071616"/>
            <a:ext cx="32918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推障超时即停车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02  有界接触与完整轮廓停车保护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推板、车轮一并检查；主动推障与普通避碰采用受限的接触边界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图：当前 footprint 与 motion_safety.py 参数绘制的原理示意；非实测扫掠轨迹。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05</a:t>
            </a:r>
          </a:p>
        </p:txBody>
      </p:sp>
      <p:pic>
        <p:nvPicPr>
          <p:cNvPr id="8" name="Picture 7" descr="完整轮廓停车保护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829" y="1865376"/>
            <a:ext cx="6773860" cy="28529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919472"/>
            <a:ext cx="3593592" cy="119786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5065776"/>
            <a:ext cx="330098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普通导航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605272"/>
            <a:ext cx="3300984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完整轮廓 + 双速度检查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4919472"/>
            <a:ext cx="3593592" cy="119786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5065776"/>
            <a:ext cx="330098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授权推障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605272"/>
            <a:ext cx="3300984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低速前方接触，侧后仍保护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919472"/>
            <a:ext cx="3593592" cy="119786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5065776"/>
            <a:ext cx="330098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42D5BB"/>
                </a:solidFill>
                <a:latin typeface="Noto Sans CJK SC"/>
              </a:defRPr>
            </a:pPr>
            <a:r>
              <a:t>转向脱离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5605272"/>
            <a:ext cx="3300984" cy="38404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例外固定：≤12 s / ≤6 cm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03  激光自由证据驱动的地图残影处理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清除旧箱体留下的静态占用，保持结构墙和当前位置障碍的保护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图：实际 rescue_map.pgm + navigation_map.yaml 允许区域；右侧为处理原理。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8" name="Picture 7" descr="实际地图与允许清理区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89" y="1810512"/>
            <a:ext cx="4412701" cy="45079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938528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2744" y="2048256"/>
            <a:ext cx="544982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01  旧占用残影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2744" y="2542032"/>
            <a:ext cx="5449824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箱体移走，保存地图仍可能堵路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40496" y="2999232"/>
            <a:ext cx="155448" cy="182880"/>
          </a:xfrm>
          <a:prstGeom prst="downArrow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0" y="3236976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2744" y="3346704"/>
            <a:ext cx="544982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02  自由证据累积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3840480"/>
            <a:ext cx="5449824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同一栅格累计 3 次独立扫描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40496" y="4297680"/>
            <a:ext cx="155448" cy="182880"/>
          </a:xfrm>
          <a:prstGeom prst="downArrow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4535424"/>
            <a:ext cx="5897880" cy="1024128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4645152"/>
            <a:ext cx="5449824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100" b="1">
                <a:solidFill>
                  <a:srgbClr val="42D5BB"/>
                </a:solidFill>
                <a:latin typeface="Noto Sans CJK SC"/>
              </a:defRPr>
            </a:pPr>
            <a:r>
              <a:t>03  派生导航图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5138928"/>
            <a:ext cx="5449824" cy="31089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清理限定区域，实时层标记新障碍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007608"/>
            <a:ext cx="5577840" cy="24688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200" b="0">
                <a:solidFill>
                  <a:srgbClr val="A6B7CE"/>
                </a:solidFill>
                <a:latin typeface="Noto Sans CJK SC"/>
              </a:defRPr>
            </a:pPr>
            <a:r>
              <a:t>处理原理 · 不是实测栅格前后对照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04  轻量 YOLOv5 与图案、几何、时序核验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同色负例训练 + 牌面验证 + 局部放大重检，减少场景干扰并恢复部分小目标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图：同帧 v19 / image_0462 算法回放；结果记录 vision_recovery_replay.json。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8" name="Picture 7" descr="recovery_same_frame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8083"/>
            <a:ext cx="7406640" cy="3431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5431536"/>
            <a:ext cx="7114032" cy="32004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同一输入帧：局部放大后重新进行 YOLO 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65376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47672"/>
            <a:ext cx="3310128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训练端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310128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小目标、斜视、模糊增强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同色物体与空场景负例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163824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246120"/>
            <a:ext cx="3310128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判断端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48456"/>
            <a:ext cx="3310128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颜色与白色图案核验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拟合实际牌面边界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462272"/>
            <a:ext cx="3602736" cy="117043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544568"/>
            <a:ext cx="3310128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恢复端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46904"/>
            <a:ext cx="3310128" cy="6217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已核验区域裁剪放大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再次 YOLO 分类确认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YOLO 候选</a:t>
            </a:r>
          </a:p>
        </p:txBody>
      </p:sp>
      <p:sp>
        <p:nvSpPr>
          <p:cNvPr id="21" name="Chevron 20"/>
          <p:cNvSpPr/>
          <p:nvPr/>
        </p:nvSpPr>
        <p:spPr>
          <a:xfrm>
            <a:off x="3122676" y="5966459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28416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图案与牌边核验</a:t>
            </a:r>
          </a:p>
        </p:txBody>
      </p:sp>
      <p:sp>
        <p:nvSpPr>
          <p:cNvPr id="24" name="Chevron 23"/>
          <p:cNvSpPr/>
          <p:nvPr/>
        </p:nvSpPr>
        <p:spPr>
          <a:xfrm>
            <a:off x="5993892" y="5966459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必要时区域重检</a:t>
            </a:r>
          </a:p>
        </p:txBody>
      </p:sp>
      <p:sp>
        <p:nvSpPr>
          <p:cNvPr id="27" name="Chevron 26"/>
          <p:cNvSpPr/>
          <p:nvPr/>
        </p:nvSpPr>
        <p:spPr>
          <a:xfrm>
            <a:off x="8865108" y="5966459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70848" y="5824728"/>
            <a:ext cx="2633472" cy="41148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5943600"/>
            <a:ext cx="2450592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400" b="1">
                <a:solidFill>
                  <a:srgbClr val="42D5BB"/>
                </a:solidFill>
                <a:latin typeface="Noto Sans CJK SC"/>
              </a:defRPr>
            </a:pPr>
            <a:r>
              <a:t>空间关联与确认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04  实际识别画面：五类标识与真实红箱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五类均选择实际分类框可见的原图；紫色 PUSH BARRIER 来自独立红箱检测器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/ image_0092、0077、0213、0335、0320、0775；完整原图拼排。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83664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FIRE · 火灾标识</a:t>
            </a:r>
          </a:p>
        </p:txBody>
      </p:sp>
      <p:pic>
        <p:nvPicPr>
          <p:cNvPr id="10" name="Picture 9" descr="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5" y="2249424"/>
            <a:ext cx="2011680" cy="1508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" y="3758183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image_0092.png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810512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883664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CHEMICAL · 化学标识</a:t>
            </a:r>
          </a:p>
        </p:txBody>
      </p:sp>
      <p:pic>
        <p:nvPicPr>
          <p:cNvPr id="14" name="Picture 13" descr="chem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249424"/>
            <a:ext cx="2011680" cy="1508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07408" y="3758183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image_0077.png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10512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83664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RADIATION · 辐射标识</a:t>
            </a:r>
          </a:p>
        </p:txBody>
      </p:sp>
      <p:pic>
        <p:nvPicPr>
          <p:cNvPr id="18" name="Picture 17" descr="radi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2249424"/>
            <a:ext cx="201168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38744" y="3758183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image_0213.png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78224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151376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ELECTRICAL · 电气标识</a:t>
            </a:r>
          </a:p>
        </p:txBody>
      </p:sp>
      <p:pic>
        <p:nvPicPr>
          <p:cNvPr id="22" name="Picture 21" descr="electr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155" y="4517136"/>
            <a:ext cx="2011680" cy="1508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6072" y="6025896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image_0335.png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4078224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4151376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BIOHAZARD · 生物危害</a:t>
            </a:r>
          </a:p>
        </p:txBody>
      </p:sp>
      <p:pic>
        <p:nvPicPr>
          <p:cNvPr id="26" name="Picture 25" descr="biohaz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492" y="4517136"/>
            <a:ext cx="2011680" cy="1508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07408" y="6025896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image_0320.png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4078224"/>
            <a:ext cx="3593592" cy="214884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151376"/>
            <a:ext cx="337413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1">
                <a:solidFill>
                  <a:srgbClr val="42D5BB"/>
                </a:solidFill>
                <a:latin typeface="Noto Sans CJK SC"/>
              </a:defRPr>
            </a:pPr>
            <a:r>
              <a:t>真实红箱 · PUSH BARRIER</a:t>
            </a:r>
          </a:p>
        </p:txBody>
      </p:sp>
      <p:pic>
        <p:nvPicPr>
          <p:cNvPr id="30" name="Picture 29" descr="real_red_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0828" y="4517136"/>
            <a:ext cx="2011680" cy="1508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38744" y="6025896"/>
            <a:ext cx="3355848" cy="18288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50" b="0">
                <a:solidFill>
                  <a:srgbClr val="A6B7CE"/>
                </a:solidFill>
                <a:latin typeface="Noto Sans CJK SC"/>
              </a:defRPr>
            </a:pPr>
            <a:r>
              <a:t>run2 / image_0775.png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05  面向任务阶段的速度与精度协同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普通路段提高效率，窄门与精细操作保留低速；位置到达和朝向对正分阶段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实际位置采样 + 当前阶段配置；颜色是阶段速度上限，不是实测速率。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8" name="Picture 7" descr="实测轨迹与速度档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89" y="1810512"/>
            <a:ext cx="4350596" cy="44897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94960" y="1892807"/>
            <a:ext cx="6281928" cy="101498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2002536"/>
            <a:ext cx="370332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普通路段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993391"/>
            <a:ext cx="196596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FC466"/>
                </a:solidFill>
                <a:latin typeface="Noto Sans CJK SC"/>
              </a:defRPr>
            </a:pPr>
            <a:r>
              <a:t>0.20 m/s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2496312"/>
            <a:ext cx="58978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到点容差 5 cm · 减速距离 0.20 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035808"/>
            <a:ext cx="6281928" cy="101498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3145536"/>
            <a:ext cx="370332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窄门 / 推障对正 / 最终起点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136391"/>
            <a:ext cx="196596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FC466"/>
                </a:solidFill>
                <a:latin typeface="Noto Sans CJK SC"/>
              </a:defRPr>
            </a:pPr>
            <a:r>
              <a:t>0.12 m/s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639312"/>
            <a:ext cx="58978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到点容差 2.5 cm · 减速距离 0.40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178808"/>
            <a:ext cx="6281928" cy="1014984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4288536"/>
            <a:ext cx="3703320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闭环推障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279392"/>
            <a:ext cx="1965960" cy="34747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2200" b="1">
                <a:solidFill>
                  <a:srgbClr val="FFC466"/>
                </a:solidFill>
                <a:latin typeface="Noto Sans CJK SC"/>
              </a:defRPr>
            </a:pPr>
            <a:r>
              <a:t>0.10 m/s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4782312"/>
            <a:ext cx="589788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横偏、航向、距离与超时共同约束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5532120"/>
            <a:ext cx="1935480" cy="57607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5650992"/>
            <a:ext cx="1752600" cy="420623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先到达位置</a:t>
            </a:r>
          </a:p>
        </p:txBody>
      </p:sp>
      <p:sp>
        <p:nvSpPr>
          <p:cNvPr id="23" name="Chevron 22"/>
          <p:cNvSpPr/>
          <p:nvPr/>
        </p:nvSpPr>
        <p:spPr>
          <a:xfrm>
            <a:off x="7362444" y="5756148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68184" y="5532120"/>
            <a:ext cx="1935480" cy="57607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9624" y="5650992"/>
            <a:ext cx="1752600" cy="420623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读取当前位置</a:t>
            </a:r>
          </a:p>
        </p:txBody>
      </p:sp>
      <p:sp>
        <p:nvSpPr>
          <p:cNvPr id="26" name="Chevron 25"/>
          <p:cNvSpPr/>
          <p:nvPr/>
        </p:nvSpPr>
        <p:spPr>
          <a:xfrm>
            <a:off x="9535668" y="5756148"/>
            <a:ext cx="155448" cy="128016"/>
          </a:xfrm>
          <a:prstGeom prst="chevron">
            <a:avLst/>
          </a:prstGeom>
          <a:solidFill>
            <a:srgbClr val="42D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41408" y="5532120"/>
            <a:ext cx="1935480" cy="576072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2848" y="5650992"/>
            <a:ext cx="1752600" cy="420623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再对正朝向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05  完整任务提速 7.6%，保留识别确认条件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评价完整任务耗时：包含行驶、停车、观察、推障、对正与返航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数据：speed_tuning_validation.json；1 次原速基准，2 次相同最终配置完整成功运行。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8" name="Picture 7" descr="完整任务耗时对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5" y="1920240"/>
            <a:ext cx="6751781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16368" y="1938528"/>
            <a:ext cx="4169663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2" y="2029968"/>
            <a:ext cx="3877055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5 类 + 4 标签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2523744"/>
            <a:ext cx="38770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两次完整运行的任务确认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6368" y="3099816"/>
            <a:ext cx="4169663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3191256"/>
            <a:ext cx="3877055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22 个文件哈希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685032"/>
            <a:ext cx="3877055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视觉相关文件与基准一致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343400"/>
            <a:ext cx="3794760" cy="3383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保留的观察条件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791456"/>
            <a:ext cx="3794760" cy="131673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12 s 云台扫描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3 帧危险标识确认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至少 4 次有效标签观测</a:t>
            </a:r>
          </a:p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F4F7FC"/>
                </a:solidFill>
                <a:latin typeface="Noto Sans CJK SC"/>
              </a:defRPr>
            </a:pPr>
            <a:r>
              <a:t>停车稳定与确认后观察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06  运动云台下的时间同步定位与地图标注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图像匹配拍摄时刻的实际云台姿态，避免旧图像与新姿态错配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图：最终 run2 / image_0639、0745、0761、0870 的局部裁剪；代码：vision_node.py。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T0 · 地图坐标</a:t>
            </a:r>
          </a:p>
        </p:txBody>
      </p:sp>
      <p:pic>
        <p:nvPicPr>
          <p:cNvPr id="10" name="Picture 9" descr="tag_0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19" y="2221992"/>
            <a:ext cx="1602105" cy="1325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3575304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image_0639.png / 裁背景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5656" y="1810512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1883664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T1 · 地图坐标</a:t>
            </a:r>
          </a:p>
        </p:txBody>
      </p:sp>
      <p:pic>
        <p:nvPicPr>
          <p:cNvPr id="14" name="Picture 13" descr="tag_1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184" y="2221992"/>
            <a:ext cx="1391087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15384" y="3575304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image_0745.png / 裁背景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04487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T2 · 地图坐标</a:t>
            </a:r>
          </a:p>
        </p:txBody>
      </p:sp>
      <p:pic>
        <p:nvPicPr>
          <p:cNvPr id="18" name="Picture 17" descr="tag_2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367" y="4315968"/>
            <a:ext cx="1219809" cy="1325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5669279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image_0761.png / 裁背景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05656" y="3904487"/>
            <a:ext cx="3447288" cy="196596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3977639"/>
            <a:ext cx="3236976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1">
                <a:solidFill>
                  <a:srgbClr val="42D5BB"/>
                </a:solidFill>
                <a:latin typeface="Noto Sans CJK SC"/>
              </a:defRPr>
            </a:pPr>
            <a:r>
              <a:t>T3 · 地图坐标</a:t>
            </a:r>
          </a:p>
        </p:txBody>
      </p:sp>
      <p:pic>
        <p:nvPicPr>
          <p:cNvPr id="22" name="Picture 21" descr="tag_3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111" y="4315968"/>
            <a:ext cx="1899233" cy="1325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15384" y="5669279"/>
            <a:ext cx="3218688" cy="16459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900" b="0">
                <a:solidFill>
                  <a:srgbClr val="A6B7CE"/>
                </a:solidFill>
                <a:latin typeface="Noto Sans CJK SC"/>
              </a:defRPr>
            </a:pPr>
            <a:r>
              <a:t>image_0870.png / 裁背景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929384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时间同步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368296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拍摄时刻 → 实际关节姿态 TF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907791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视觉测距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346703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已知标签尺寸 + 四角 PnP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886200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质量筛选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325112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重投影门限 + 离群点拒绝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864608"/>
            <a:ext cx="3602736" cy="32918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800" b="1">
                <a:solidFill>
                  <a:srgbClr val="42D5BB"/>
                </a:solidFill>
                <a:latin typeface="Noto Sans CJK SC"/>
              </a:defRPr>
            </a:pPr>
            <a:r>
              <a:t>稳健地图位置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03520"/>
            <a:ext cx="3602736" cy="46634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有效观测 + 中值与平滑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934456"/>
            <a:ext cx="3602736" cy="28346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400" b="0">
                <a:solidFill>
                  <a:srgbClr val="FFC466"/>
                </a:solidFill>
                <a:latin typeface="Noto Sans CJK SC"/>
              </a:defRPr>
            </a:pPr>
            <a:r>
              <a:t>图像 ID 与 RViz Marker 一一对应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9144000" cy="27432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100" b="0">
                <a:solidFill>
                  <a:srgbClr val="42D5BB"/>
                </a:solidFill>
                <a:latin typeface="Noto Sans CJK SC"/>
              </a:defRPr>
            </a:pPr>
            <a:r>
              <a:t>AVS  /  救援无人车 · 特色创新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338560" cy="594360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900" b="1">
                <a:solidFill>
                  <a:srgbClr val="F4F7FC"/>
                </a:solidFill>
                <a:latin typeface="Noto Sans CJK SC"/>
              </a:defRPr>
            </a:pPr>
            <a:r>
              <a:t>工程特色：独立、可追溯的全流程验收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80160"/>
            <a:ext cx="11338560" cy="4389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600" b="0">
                <a:solidFill>
                  <a:srgbClr val="A6B7CE"/>
                </a:solidFill>
                <a:latin typeface="Noto Sans CJK SC"/>
              </a:defRPr>
            </a:pPr>
            <a:r>
              <a:t>任务、视觉与控制不读取世界真值；验收旁路记录实际结果与源码版本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91656"/>
            <a:ext cx="11247120" cy="10972"/>
          </a:xfrm>
          <a:prstGeom prst="rect">
            <a:avLst/>
          </a:prstGeom>
          <a:solidFill>
            <a:srgbClr val="334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789920" cy="21031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860" b="0">
                <a:solidFill>
                  <a:srgbClr val="A6B7CE"/>
                </a:solidFill>
                <a:latin typeface="Noto Sans CJK SC"/>
              </a:defRPr>
            </a:pPr>
            <a:r>
              <a:t>图与主指标：最终 run2；重复结果：最终 run1；165 项回归测试见 speed_tuning_validation。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55664"/>
            <a:ext cx="384048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500"/>
              </a:spcAft>
              <a:defRPr sz="1100" b="1">
                <a:solidFill>
                  <a:srgbClr val="42D5BB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8" name="Picture 7" descr="trajectory_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266"/>
            <a:ext cx="3986784" cy="43356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60" y="1901952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993392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5 / 5  ·  4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48716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走廊类别 / 核心标签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901952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93392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1.0049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487168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箱体实际位移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063240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3154680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5.25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648456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返航位置误差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3063240"/>
            <a:ext cx="3355848" cy="914400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154680"/>
            <a:ext cx="3063240" cy="420624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400" b="1">
                <a:solidFill>
                  <a:srgbClr val="42D5BB"/>
                </a:solidFill>
                <a:latin typeface="Noto Sans CJK SC"/>
              </a:defRPr>
            </a:pPr>
            <a:r>
              <a:t>4.41–6.83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3648456"/>
            <a:ext cx="3063240" cy="25603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300" b="0">
                <a:solidFill>
                  <a:srgbClr val="A6B7CE"/>
                </a:solidFill>
                <a:latin typeface="Noto Sans CJK SC"/>
              </a:defRPr>
            </a:pPr>
            <a:r>
              <a:t>四 Marker 平面误差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270248"/>
            <a:ext cx="6986016" cy="1042415"/>
          </a:xfrm>
          <a:prstGeom prst="roundRect">
            <a:avLst>
              <a:gd name="adj" fmla="val 8000"/>
            </a:avLst>
          </a:prstGeom>
          <a:solidFill>
            <a:srgbClr val="1D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2896" y="4389120"/>
            <a:ext cx="6620256" cy="33832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2000" b="1">
                <a:solidFill>
                  <a:srgbClr val="42D5BB"/>
                </a:solidFill>
                <a:latin typeface="Noto Sans CJK SC"/>
              </a:defRPr>
            </a:pPr>
            <a:r>
              <a:t>同配置重复运行：两次完整验收均通过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4864608"/>
            <a:ext cx="6620256" cy="292608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500" b="0">
                <a:solidFill>
                  <a:srgbClr val="F4F7FC"/>
                </a:solidFill>
                <a:latin typeface="Noto Sans CJK SC"/>
              </a:defRPr>
            </a:pPr>
            <a:r>
              <a:t>第 1 次 Marker：7.67–12.83 cm；第 2 次：4.41–6.83 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5486400"/>
            <a:ext cx="6620256" cy="356616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900" b="1">
                <a:solidFill>
                  <a:srgbClr val="F4F7FC"/>
                </a:solidFill>
                <a:latin typeface="Noto Sans CJK SC"/>
              </a:defRPr>
            </a:pPr>
            <a:r>
              <a:t>图像 / 事件 / 轨迹 / 源码哈希组成证据链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5952744"/>
            <a:ext cx="6620256" cy="301752"/>
          </a:xfrm>
          <a:prstGeom prst="rect">
            <a:avLst/>
          </a:prstGeom>
          <a:noFill/>
        </p:spPr>
        <p:txBody>
          <a:bodyPr wrap="square" lIns="18288" rIns="18288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  <a:defRPr sz="1200" b="0">
                <a:solidFill>
                  <a:srgbClr val="A6B7CE"/>
                </a:solidFill>
                <a:latin typeface="Noto Sans CJK SC"/>
              </a:defRPr>
            </a:pPr>
            <a:r>
              <a:t>165 项回归测试通过；采样无重叠不等于连续无碰撞证明。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AVS作品特色创新点</dc:title>
  <dc:subject/>
  <dc:creator>AVS项目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