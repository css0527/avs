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开场：我们的特色在于围绕任务中实际出现的问题，把感知、机构、控制和地图处理组织为完整流程。四点分别回答怎么看、怎么推、推完怎么走、怎么辨别。</a:t>
            </a:r>
          </a:p>
          <a:p/>
          <a:p>
            <a:r>
              <a:t>证据来源：来源：项目源码、学习指南第 7 章；场地图为已有仿真截图。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底盘按路线走，物理云台承担左右观察。实际关节角进入 TF，图像使用曝光时刻变换。观察点停车等待识别，同一目标连续三个处理帧才确认，缺帧或空间跳变重新计数。这里强调观察动作与任务协同，第四点强调识别算法链。</a:t>
            </a:r>
          </a:p>
          <a:p/>
          <a:p>
            <a:r>
              <a:t>证据来源：来源：camera_scan_node.py、vision_node.py、hazard_tracker.py；图片为 v19 验收帧。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固定 V 形推板减少执行器复杂度，斜翼对小偏差具有引导趋势。软件限制横偏与航向误差，接触授权限定在车头窄窗口、低速、时间和距离内。不是力控，也不宣称任意偏移自动自定心。v19 独立验收箱体实际移动 0.9749 米。</a:t>
            </a:r>
          </a:p>
          <a:p/>
          <a:p>
            <a:r>
              <a:t>证据来源：来源：模型 SDF、mission_node.py、motion_safety.py；整车图按实际 model.sdf 几何与配色渲染。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推走箱体以后，原始静态地图中的旧占用格仍可能挡住门口。方案只在场地先验限定区域中，累计三个不同扫描时间戳的自由证据后，将对应栅格置为空闲。原始地图保持不变，发布派生导航图，实时障碍层仍标记箱体新位置。不是通用动态 SLAM。</a:t>
            </a:r>
          </a:p>
          <a:p/>
          <a:p>
            <a:r>
              <a:t>证据来源：来源：navigation_map_node.py；栅格图为处理原理示意。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第四点可以作为场景化视觉工程创新。旧权重曾将黄色车身、蓝色起点和红箱误报为 RADIATION、ELECTRICAL、FIRE，并出现框超出图案或跳变。当前做法补入同色负例，并联合图案、面板几何和连续帧确认。没有同条件前后量化对照，不声称误报降低某个百分比。</a:t>
            </a:r>
          </a:p>
          <a:p/>
          <a:p>
            <a:r>
              <a:t>证据来源：来源：权重 hazard_yolov5.json；yolov5_detector.py、panel_geometry.py、hazard_tracker.py；历史问题见学习指南。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上排和下排第一张覆盖五类图案，其余画面展示蓝色起点、黄色车身和红箱与墙面图案共存。红箱的紫色框来自专用障碍检测器，不是 FIRE 灾害分类。拼图展示本次运行的样例，不等于整段视频完全没有瞬时误框。</a:t>
            </a:r>
          </a:p>
          <a:p/>
          <a:p>
            <a:r>
              <a:t>证据来源：来源：acceptance/recording_yolov5_smac_v19/evidence；各帧编号见拼图。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四个创新围绕救援流程协作。v19 同次验收五类全部完成、四个核心标记完成、箱体位移 0.9749 米、返航误差 3.19 厘米。模型独立合成验证精确率 85.62%、召回率 70.81%，不能当成全程视频准确率。没有统一条件前后对照，不给出改进百分比。</a:t>
            </a:r>
          </a:p>
          <a:p/>
          <a:p>
            <a:r>
              <a:t>证据来源：来源：v19/evidence/evaluation.json；模型指标来自当前权重 JSON，两类证据分开引用。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2D5BB"/>
                </a:solidFill>
                <a:latin typeface="Noto Sans CJK SC"/>
              </a:defRPr>
            </a:pPr>
            <a:r>
              <a:t>AVS  /  救援无人车 · 特色创新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0080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4F7FC"/>
                </a:solidFill>
                <a:latin typeface="Noto Sans CJK SC"/>
              </a:defRPr>
            </a:pPr>
            <a:r>
              <a:t>四个创新点，贯通感知、动作与导航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A6B7CE"/>
                </a:solidFill>
                <a:latin typeface="Noto Sans CJK SC"/>
              </a:defRPr>
            </a:pPr>
            <a:r>
              <a:t>面向狭窄救援场地的工程创新｜从发现目标到清障、入室与返航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28232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A6B7CE"/>
                </a:solidFill>
                <a:latin typeface="Noto Sans CJK SC"/>
              </a:defRPr>
            </a:pPr>
            <a:r>
              <a:t>来源：项目源码、学习指南第 7 章；场地图为已有仿真截图。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2D5BB"/>
                </a:solidFill>
                <a:latin typeface="Noto Sans CJK SC"/>
              </a:defRPr>
            </a:pPr>
            <a:r>
              <a:t>01</a:t>
            </a:r>
          </a:p>
        </p:txBody>
      </p:sp>
      <p:pic>
        <p:nvPicPr>
          <p:cNvPr id="7" name="Picture 6" descr="rescue_navigation_verifi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43529"/>
            <a:ext cx="5852160" cy="35596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0" y="1828800"/>
            <a:ext cx="5120640" cy="932688"/>
          </a:xfrm>
          <a:prstGeom prst="roundRect">
            <a:avLst/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190195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42D5BB"/>
                </a:solidFill>
                <a:latin typeface="Noto Sans CJK SC"/>
              </a:defRPr>
            </a:pPr>
            <a:r>
              <a:t>01  主动扫描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26771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4F7FC"/>
                </a:solidFill>
                <a:latin typeface="Noto Sans CJK SC"/>
              </a:defRPr>
            </a:pPr>
            <a:r>
              <a:t>云台扫描 × 多帧确认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2889504"/>
            <a:ext cx="5120640" cy="932688"/>
          </a:xfrm>
          <a:prstGeom prst="roundRect">
            <a:avLst/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2962656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42D5BB"/>
                </a:solidFill>
                <a:latin typeface="Noto Sans CJK SC"/>
              </a:defRPr>
            </a:pPr>
            <a:r>
              <a:t>02  机构控制协同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3328415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4F7FC"/>
                </a:solidFill>
                <a:latin typeface="Noto Sans CJK SC"/>
              </a:defRPr>
            </a:pPr>
            <a:r>
              <a:t>被动 V 形推板 × 闭环推进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3950208"/>
            <a:ext cx="5120640" cy="932688"/>
          </a:xfrm>
          <a:prstGeom prst="roundRect">
            <a:avLst/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40233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42D5BB"/>
                </a:solidFill>
                <a:latin typeface="Noto Sans CJK SC"/>
              </a:defRPr>
            </a:pPr>
            <a:r>
              <a:t>03  移动障碍地图处理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4389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4F7FC"/>
                </a:solidFill>
                <a:latin typeface="Noto Sans CJK SC"/>
              </a:defRPr>
            </a:pPr>
            <a:r>
              <a:t>激光自由证据 × 残影清理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5010912"/>
            <a:ext cx="5120640" cy="932688"/>
          </a:xfrm>
          <a:prstGeom prst="roundRect">
            <a:avLst/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5084064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42D5BB"/>
                </a:solidFill>
                <a:latin typeface="Noto Sans CJK SC"/>
              </a:defRPr>
            </a:pPr>
            <a:r>
              <a:t>04  抗同色干扰识别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5449823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4F7FC"/>
                </a:solidFill>
                <a:latin typeface="Noto Sans CJK SC"/>
              </a:defRPr>
            </a:pPr>
            <a:r>
              <a:t>轻量 YOLOv5 × 图案与几何核验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2D5BB"/>
                </a:solidFill>
                <a:latin typeface="Noto Sans CJK SC"/>
              </a:defRPr>
            </a:pPr>
            <a:r>
              <a:t>AVS  /  救援无人车 · 特色创新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0080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4F7FC"/>
                </a:solidFill>
                <a:latin typeface="Noto Sans CJK SC"/>
              </a:defRPr>
            </a:pPr>
            <a:r>
              <a:t>01  云台主动扫描与多帧识别结合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A6B7CE"/>
                </a:solidFill>
                <a:latin typeface="Noto Sans CJK SC"/>
              </a:defRPr>
            </a:pPr>
            <a:r>
              <a:t>创新重点：把“车辆行驶”和“侧墙观察”分开，形成主动观察闭环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28232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A6B7CE"/>
                </a:solidFill>
                <a:latin typeface="Noto Sans CJK SC"/>
              </a:defRPr>
            </a:pPr>
            <a:r>
              <a:t>来源：camera_scan_node.py、vision_node.py、hazard_tracker.py；图片为 v19 验收帧。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2D5BB"/>
                </a:solidFill>
                <a:latin typeface="Noto Sans CJK SC"/>
              </a:defRPr>
            </a:pPr>
            <a:r>
              <a:t>02</a:t>
            </a:r>
          </a:p>
        </p:txBody>
      </p:sp>
      <p:pic>
        <p:nvPicPr>
          <p:cNvPr id="7" name="Picture 6" descr="image_02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20240"/>
            <a:ext cx="3657600" cy="2743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459028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42D5BB"/>
                </a:solidFill>
                <a:latin typeface="Noto Sans CJK SC"/>
              </a:defRPr>
            </a:pPr>
            <a:r>
              <a:t>远处观察</a:t>
            </a:r>
          </a:p>
        </p:txBody>
      </p:sp>
      <p:pic>
        <p:nvPicPr>
          <p:cNvPr id="9" name="Picture 8" descr="image_044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1920240"/>
            <a:ext cx="3657600" cy="2743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89120" y="459028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42D5BB"/>
                </a:solidFill>
                <a:latin typeface="Noto Sans CJK SC"/>
              </a:defRPr>
            </a:pPr>
            <a:r>
              <a:t>接近目标</a:t>
            </a:r>
          </a:p>
        </p:txBody>
      </p:sp>
      <p:pic>
        <p:nvPicPr>
          <p:cNvPr id="11" name="Picture 10" descr="image_052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0" y="1920240"/>
            <a:ext cx="3657600" cy="2743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29600" y="459028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42D5BB"/>
                </a:solidFill>
                <a:latin typeface="Noto Sans CJK SC"/>
              </a:defRPr>
            </a:pPr>
            <a:r>
              <a:t>当前帧识别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120640"/>
            <a:ext cx="2640330" cy="731520"/>
          </a:xfrm>
          <a:prstGeom prst="roundRect">
            <a:avLst/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5239512"/>
            <a:ext cx="242087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42D5BB"/>
                </a:solidFill>
                <a:latin typeface="Noto Sans CJK SC"/>
              </a:defRPr>
            </a:pPr>
            <a:r>
              <a:t>底盘沿路线行驶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7530" y="53035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7FC"/>
                </a:solidFill>
                <a:latin typeface="Noto Sans CJK SC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26130" y="5120640"/>
            <a:ext cx="2640330" cy="731520"/>
          </a:xfrm>
          <a:prstGeom prst="roundRect">
            <a:avLst/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35858" y="5239512"/>
            <a:ext cx="242087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42D5BB"/>
                </a:solidFill>
                <a:latin typeface="Noto Sans CJK SC"/>
              </a:defRPr>
            </a:pPr>
            <a:r>
              <a:t>云台左右扫描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6460" y="53035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7FC"/>
                </a:solidFill>
                <a:latin typeface="Noto Sans CJK SC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5060" y="5120640"/>
            <a:ext cx="2640330" cy="731520"/>
          </a:xfrm>
          <a:prstGeom prst="roundRect">
            <a:avLst/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4788" y="5239512"/>
            <a:ext cx="242087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42D5BB"/>
                </a:solidFill>
                <a:latin typeface="Noto Sans CJK SC"/>
              </a:defRPr>
            </a:pPr>
            <a:r>
              <a:t>观察点等待确认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35390" y="53035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7FC"/>
                </a:solidFill>
                <a:latin typeface="Noto Sans CJK SC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63990" y="5120640"/>
            <a:ext cx="2640330" cy="731520"/>
          </a:xfrm>
          <a:prstGeom prst="roundRect">
            <a:avLst/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73718" y="5239512"/>
            <a:ext cx="242087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42D5BB"/>
                </a:solidFill>
                <a:latin typeface="Noto Sans CJK SC"/>
              </a:defRPr>
            </a:pPr>
            <a:r>
              <a:t>连续 3 帧发布事件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989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A6B7CE"/>
                </a:solidFill>
                <a:latin typeface="Noto Sans CJK SC"/>
              </a:defRPr>
            </a:pPr>
            <a:r>
              <a:t>实际云台角 → TF；曝光时间戳 → 图像与姿态对应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2D5BB"/>
                </a:solidFill>
                <a:latin typeface="Noto Sans CJK SC"/>
              </a:defRPr>
            </a:pPr>
            <a:r>
              <a:t>AVS  /  救援无人车 · 特色创新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0080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4F7FC"/>
                </a:solidFill>
                <a:latin typeface="Noto Sans CJK SC"/>
              </a:defRPr>
            </a:pPr>
            <a:r>
              <a:t>02  推障机构与控制协同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A6B7CE"/>
                </a:solidFill>
                <a:latin typeface="Noto Sans CJK SC"/>
              </a:defRPr>
            </a:pPr>
            <a:r>
              <a:t>创新重点：被动机械引导 + 里程计闭环 + 有界接触安全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28232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A6B7CE"/>
                </a:solidFill>
                <a:latin typeface="Noto Sans CJK SC"/>
              </a:defRPr>
            </a:pPr>
            <a:r>
              <a:t>来源：模型 SDF、mission_node.py、motion_safety.py；整车图按实际 model.sdf 几何与配色渲染。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2D5BB"/>
                </a:solidFill>
                <a:latin typeface="Noto Sans CJK SC"/>
              </a:defRPr>
            </a:pPr>
            <a:r>
              <a:t>03</a:t>
            </a:r>
          </a:p>
        </p:txBody>
      </p:sp>
      <p:pic>
        <p:nvPicPr>
          <p:cNvPr id="7" name="Picture 6" descr="整车结构展示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624" y="1874519"/>
            <a:ext cx="3661751" cy="2880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47091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42D5BB"/>
                </a:solidFill>
                <a:latin typeface="Noto Sans CJK SC"/>
              </a:defRPr>
            </a:pPr>
            <a:r>
              <a:t>整车结构：推板 · 轮组 · 雷达 · 云台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23560" y="1938528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42D5BB"/>
                </a:solidFill>
                <a:latin typeface="Noto Sans CJK SC"/>
              </a:defRPr>
            </a:pPr>
            <a:r>
              <a:t>结构匹配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23560" y="2350008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4F7FC"/>
                </a:solidFill>
                <a:latin typeface="Noto Sans CJK SC"/>
              </a:defRPr>
            </a:pPr>
            <a:r>
              <a:t>推板 0.28 m / 门宽 0.50 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23560" y="292608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42D5BB"/>
                </a:solidFill>
                <a:latin typeface="Noto Sans CJK SC"/>
              </a:defRPr>
            </a:pPr>
            <a:r>
              <a:t>闭环约束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23560" y="333756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4F7FC"/>
                </a:solidFill>
                <a:latin typeface="Noto Sans CJK SC"/>
              </a:defRPr>
            </a:pPr>
            <a:r>
              <a:t>横偏 ≤ 4 cm / 航向误差 ≤ 0.12 rad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3560" y="3913632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42D5BB"/>
                </a:solidFill>
                <a:latin typeface="Noto Sans CJK SC"/>
              </a:defRPr>
            </a:pPr>
            <a:r>
              <a:t>接触约束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4325112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4F7FC"/>
                </a:solidFill>
                <a:latin typeface="Noto Sans CJK SC"/>
              </a:defRPr>
            </a:pPr>
            <a:r>
              <a:t>低速、有限时间与距离；侧后仍受保护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120640"/>
            <a:ext cx="2640330" cy="731520"/>
          </a:xfrm>
          <a:prstGeom prst="roundRect">
            <a:avLst/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5239512"/>
            <a:ext cx="242087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42D5BB"/>
                </a:solidFill>
                <a:latin typeface="Noto Sans CJK SC"/>
              </a:defRPr>
            </a:pPr>
            <a:r>
              <a:t>对准箱体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7530" y="53035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7FC"/>
                </a:solidFill>
                <a:latin typeface="Noto Sans CJK SC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26130" y="5120640"/>
            <a:ext cx="2640330" cy="731520"/>
          </a:xfrm>
          <a:prstGeom prst="roundRect">
            <a:avLst/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35858" y="5239512"/>
            <a:ext cx="242087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42D5BB"/>
                </a:solidFill>
                <a:latin typeface="Noto Sans CJK SC"/>
              </a:defRPr>
            </a:pPr>
            <a:r>
              <a:t>授权低速接触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66460" y="53035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7FC"/>
                </a:solidFill>
                <a:latin typeface="Noto Sans CJK SC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5060" y="5120640"/>
            <a:ext cx="2640330" cy="731520"/>
          </a:xfrm>
          <a:prstGeom prst="roundRect">
            <a:avLst/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4788" y="5239512"/>
            <a:ext cx="242087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42D5BB"/>
                </a:solidFill>
                <a:latin typeface="Noto Sans CJK SC"/>
              </a:defRPr>
            </a:pPr>
            <a:r>
              <a:t>闭环推进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35390" y="53035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7FC"/>
                </a:solidFill>
                <a:latin typeface="Noto Sans CJK SC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63990" y="5120640"/>
            <a:ext cx="2640330" cy="731520"/>
          </a:xfrm>
          <a:prstGeom prst="roundRect">
            <a:avLst/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73718" y="5239512"/>
            <a:ext cx="242087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42D5BB"/>
                </a:solidFill>
                <a:latin typeface="Noto Sans CJK SC"/>
              </a:defRPr>
            </a:pPr>
            <a:r>
              <a:t>脱离并恢复导航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989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FC466"/>
                </a:solidFill>
                <a:latin typeface="Noto Sans CJK SC"/>
              </a:defRPr>
            </a:pPr>
            <a:r>
              <a:t>同次 v19 仿真验收：箱体实际位移 0.9749 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2D5BB"/>
                </a:solidFill>
                <a:latin typeface="Noto Sans CJK SC"/>
              </a:defRPr>
            </a:pPr>
            <a:r>
              <a:t>AVS  /  救援无人车 · 特色创新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0080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4F7FC"/>
                </a:solidFill>
                <a:latin typeface="Noto Sans CJK SC"/>
              </a:defRPr>
            </a:pPr>
            <a:r>
              <a:t>03  针对移动障碍的地图残影处理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A6B7CE"/>
                </a:solidFill>
                <a:latin typeface="Noto Sans CJK SC"/>
              </a:defRPr>
            </a:pPr>
            <a:r>
              <a:t>创新重点：限定区域内用激光自由证据修正导航图，避免旧箱体位置持续堵路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28232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A6B7CE"/>
                </a:solidFill>
                <a:latin typeface="Noto Sans CJK SC"/>
              </a:defRPr>
            </a:pPr>
            <a:r>
              <a:t>来源：navigation_map_node.py；栅格图为处理原理示意。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2D5BB"/>
                </a:solidFill>
                <a:latin typeface="Noto Sans CJK SC"/>
              </a:defRPr>
            </a:pPr>
            <a: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65376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42D5BB"/>
                </a:solidFill>
                <a:latin typeface="Noto Sans CJK SC"/>
              </a:defRPr>
            </a:pPr>
            <a:r>
              <a:t>旧位置留下占用残影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42032"/>
            <a:ext cx="310896" cy="283464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05256" y="2542032"/>
            <a:ext cx="310896" cy="283464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61872" y="2542032"/>
            <a:ext cx="310896" cy="283464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618488" y="2542032"/>
            <a:ext cx="310896" cy="283464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75104" y="2542032"/>
            <a:ext cx="310896" cy="283464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31720" y="2542032"/>
            <a:ext cx="310896" cy="283464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88336" y="2542032"/>
            <a:ext cx="310896" cy="283464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44952" y="2542032"/>
            <a:ext cx="310896" cy="283464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2542032"/>
            <a:ext cx="310896" cy="283464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2871215"/>
            <a:ext cx="310896" cy="283464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5256" y="2871215"/>
            <a:ext cx="310896" cy="283464"/>
          </a:xfrm>
          <a:prstGeom prst="rect">
            <a:avLst/>
          </a:prstGeom>
          <a:solidFill>
            <a:srgbClr val="26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261872" y="2871215"/>
            <a:ext cx="310896" cy="283464"/>
          </a:xfrm>
          <a:prstGeom prst="rect">
            <a:avLst/>
          </a:prstGeom>
          <a:solidFill>
            <a:srgbClr val="26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618488" y="2871215"/>
            <a:ext cx="310896" cy="283464"/>
          </a:xfrm>
          <a:prstGeom prst="rect">
            <a:avLst/>
          </a:prstGeom>
          <a:solidFill>
            <a:srgbClr val="26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975104" y="2871215"/>
            <a:ext cx="310896" cy="283464"/>
          </a:xfrm>
          <a:prstGeom prst="rect">
            <a:avLst/>
          </a:prstGeom>
          <a:solidFill>
            <a:srgbClr val="26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331720" y="2871215"/>
            <a:ext cx="310896" cy="283464"/>
          </a:xfrm>
          <a:prstGeom prst="rect">
            <a:avLst/>
          </a:prstGeom>
          <a:solidFill>
            <a:srgbClr val="26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688336" y="2871215"/>
            <a:ext cx="310896" cy="283464"/>
          </a:xfrm>
          <a:prstGeom prst="rect">
            <a:avLst/>
          </a:prstGeom>
          <a:solidFill>
            <a:srgbClr val="26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044952" y="2871215"/>
            <a:ext cx="310896" cy="283464"/>
          </a:xfrm>
          <a:prstGeom prst="rect">
            <a:avLst/>
          </a:prstGeom>
          <a:solidFill>
            <a:srgbClr val="26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401568" y="2871215"/>
            <a:ext cx="310896" cy="283464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3200400"/>
            <a:ext cx="310896" cy="283464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5256" y="3200400"/>
            <a:ext cx="310896" cy="283464"/>
          </a:xfrm>
          <a:prstGeom prst="rect">
            <a:avLst/>
          </a:prstGeom>
          <a:solidFill>
            <a:srgbClr val="26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261872" y="3200400"/>
            <a:ext cx="310896" cy="283464"/>
          </a:xfrm>
          <a:prstGeom prst="rect">
            <a:avLst/>
          </a:prstGeom>
          <a:solidFill>
            <a:srgbClr val="26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618488" y="3200400"/>
            <a:ext cx="310896" cy="283464"/>
          </a:xfrm>
          <a:prstGeom prst="rect">
            <a:avLst/>
          </a:prstGeom>
          <a:solidFill>
            <a:srgbClr val="26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975104" y="3200400"/>
            <a:ext cx="310896" cy="283464"/>
          </a:xfrm>
          <a:prstGeom prst="rect">
            <a:avLst/>
          </a:prstGeom>
          <a:solidFill>
            <a:srgbClr val="26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331720" y="3200400"/>
            <a:ext cx="310896" cy="283464"/>
          </a:xfrm>
          <a:prstGeom prst="rect">
            <a:avLst/>
          </a:prstGeom>
          <a:solidFill>
            <a:srgbClr val="26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688336" y="3200400"/>
            <a:ext cx="310896" cy="283464"/>
          </a:xfrm>
          <a:prstGeom prst="rect">
            <a:avLst/>
          </a:prstGeom>
          <a:solidFill>
            <a:srgbClr val="26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044952" y="3200400"/>
            <a:ext cx="310896" cy="283464"/>
          </a:xfrm>
          <a:prstGeom prst="rect">
            <a:avLst/>
          </a:prstGeom>
          <a:solidFill>
            <a:srgbClr val="26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401568" y="3200400"/>
            <a:ext cx="310896" cy="283464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" y="3529584"/>
            <a:ext cx="310896" cy="283464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5256" y="3529584"/>
            <a:ext cx="310896" cy="283464"/>
          </a:xfrm>
          <a:prstGeom prst="rect">
            <a:avLst/>
          </a:prstGeom>
          <a:solidFill>
            <a:srgbClr val="26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261872" y="3529584"/>
            <a:ext cx="310896" cy="283464"/>
          </a:xfrm>
          <a:prstGeom prst="rect">
            <a:avLst/>
          </a:prstGeom>
          <a:solidFill>
            <a:srgbClr val="26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618488" y="3529584"/>
            <a:ext cx="310896" cy="283464"/>
          </a:xfrm>
          <a:prstGeom prst="rect">
            <a:avLst/>
          </a:prstGeom>
          <a:solidFill>
            <a:srgbClr val="26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975104" y="3529584"/>
            <a:ext cx="310896" cy="283464"/>
          </a:xfrm>
          <a:prstGeom prst="rect">
            <a:avLst/>
          </a:prstGeom>
          <a:solidFill>
            <a:srgbClr val="D84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331720" y="3529584"/>
            <a:ext cx="310896" cy="283464"/>
          </a:xfrm>
          <a:prstGeom prst="rect">
            <a:avLst/>
          </a:prstGeom>
          <a:solidFill>
            <a:srgbClr val="D84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688336" y="3529584"/>
            <a:ext cx="310896" cy="283464"/>
          </a:xfrm>
          <a:prstGeom prst="rect">
            <a:avLst/>
          </a:prstGeom>
          <a:solidFill>
            <a:srgbClr val="26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044952" y="3529584"/>
            <a:ext cx="310896" cy="283464"/>
          </a:xfrm>
          <a:prstGeom prst="rect">
            <a:avLst/>
          </a:prstGeom>
          <a:solidFill>
            <a:srgbClr val="26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401568" y="3529584"/>
            <a:ext cx="310896" cy="283464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48640" y="3858768"/>
            <a:ext cx="310896" cy="283464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05256" y="3858768"/>
            <a:ext cx="310896" cy="283464"/>
          </a:xfrm>
          <a:prstGeom prst="rect">
            <a:avLst/>
          </a:prstGeom>
          <a:solidFill>
            <a:srgbClr val="26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261872" y="3858768"/>
            <a:ext cx="310896" cy="283464"/>
          </a:xfrm>
          <a:prstGeom prst="rect">
            <a:avLst/>
          </a:prstGeom>
          <a:solidFill>
            <a:srgbClr val="26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618488" y="3858768"/>
            <a:ext cx="310896" cy="283464"/>
          </a:xfrm>
          <a:prstGeom prst="rect">
            <a:avLst/>
          </a:prstGeom>
          <a:solidFill>
            <a:srgbClr val="26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975104" y="3858768"/>
            <a:ext cx="310896" cy="283464"/>
          </a:xfrm>
          <a:prstGeom prst="rect">
            <a:avLst/>
          </a:prstGeom>
          <a:solidFill>
            <a:srgbClr val="D84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331720" y="3858768"/>
            <a:ext cx="310896" cy="283464"/>
          </a:xfrm>
          <a:prstGeom prst="rect">
            <a:avLst/>
          </a:prstGeom>
          <a:solidFill>
            <a:srgbClr val="D84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688336" y="3858768"/>
            <a:ext cx="310896" cy="283464"/>
          </a:xfrm>
          <a:prstGeom prst="rect">
            <a:avLst/>
          </a:prstGeom>
          <a:solidFill>
            <a:srgbClr val="26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044952" y="3858768"/>
            <a:ext cx="310896" cy="283464"/>
          </a:xfrm>
          <a:prstGeom prst="rect">
            <a:avLst/>
          </a:prstGeom>
          <a:solidFill>
            <a:srgbClr val="26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401568" y="3858768"/>
            <a:ext cx="310896" cy="283464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48640" y="4187952"/>
            <a:ext cx="310896" cy="283464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05256" y="4187952"/>
            <a:ext cx="310896" cy="283464"/>
          </a:xfrm>
          <a:prstGeom prst="rect">
            <a:avLst/>
          </a:prstGeom>
          <a:solidFill>
            <a:srgbClr val="26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261872" y="4187952"/>
            <a:ext cx="310896" cy="283464"/>
          </a:xfrm>
          <a:prstGeom prst="rect">
            <a:avLst/>
          </a:prstGeom>
          <a:solidFill>
            <a:srgbClr val="26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618488" y="4187952"/>
            <a:ext cx="310896" cy="283464"/>
          </a:xfrm>
          <a:prstGeom prst="rect">
            <a:avLst/>
          </a:prstGeom>
          <a:solidFill>
            <a:srgbClr val="26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975104" y="4187952"/>
            <a:ext cx="310896" cy="283464"/>
          </a:xfrm>
          <a:prstGeom prst="rect">
            <a:avLst/>
          </a:prstGeom>
          <a:solidFill>
            <a:srgbClr val="26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331720" y="4187952"/>
            <a:ext cx="310896" cy="283464"/>
          </a:xfrm>
          <a:prstGeom prst="rect">
            <a:avLst/>
          </a:prstGeom>
          <a:solidFill>
            <a:srgbClr val="26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688336" y="4187952"/>
            <a:ext cx="310896" cy="283464"/>
          </a:xfrm>
          <a:prstGeom prst="rect">
            <a:avLst/>
          </a:prstGeom>
          <a:solidFill>
            <a:srgbClr val="26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044952" y="4187952"/>
            <a:ext cx="310896" cy="283464"/>
          </a:xfrm>
          <a:prstGeom prst="rect">
            <a:avLst/>
          </a:prstGeom>
          <a:solidFill>
            <a:srgbClr val="26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401568" y="4187952"/>
            <a:ext cx="310896" cy="283464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48640" y="4517136"/>
            <a:ext cx="310896" cy="283464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05256" y="4517136"/>
            <a:ext cx="310896" cy="283464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261872" y="4517136"/>
            <a:ext cx="310896" cy="283464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618488" y="4517136"/>
            <a:ext cx="310896" cy="283464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975104" y="4517136"/>
            <a:ext cx="310896" cy="283464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2331720" y="4517136"/>
            <a:ext cx="310896" cy="283464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2688336" y="4517136"/>
            <a:ext cx="310896" cy="283464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044952" y="4517136"/>
            <a:ext cx="310896" cy="283464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401568" y="4517136"/>
            <a:ext cx="310896" cy="283464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48640" y="507492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4F7FC"/>
                </a:solidFill>
                <a:latin typeface="Noto Sans CJK SC"/>
              </a:defRPr>
            </a:pPr>
            <a:r>
              <a:t>旧箱体占用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89120" y="1865376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42D5BB"/>
                </a:solidFill>
                <a:latin typeface="Noto Sans CJK SC"/>
              </a:defRPr>
            </a:pPr>
            <a:r>
              <a:t>激光累计自由证据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389120" y="2542032"/>
            <a:ext cx="310896" cy="283464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745736" y="2542032"/>
            <a:ext cx="310896" cy="283464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5102352" y="2542032"/>
            <a:ext cx="310896" cy="283464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5458968" y="2542032"/>
            <a:ext cx="310896" cy="283464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5815583" y="2542032"/>
            <a:ext cx="310896" cy="283464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172200" y="2542032"/>
            <a:ext cx="310896" cy="283464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528816" y="2542032"/>
            <a:ext cx="310896" cy="283464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885431" y="2542032"/>
            <a:ext cx="310896" cy="283464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242048" y="2542032"/>
            <a:ext cx="310896" cy="283464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4389120" y="2871215"/>
            <a:ext cx="310896" cy="283464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4745736" y="2871215"/>
            <a:ext cx="310896" cy="283464"/>
          </a:xfrm>
          <a:prstGeom prst="rect">
            <a:avLst/>
          </a:prstGeom>
          <a:solidFill>
            <a:srgbClr val="26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5102352" y="2871215"/>
            <a:ext cx="310896" cy="283464"/>
          </a:xfrm>
          <a:prstGeom prst="rect">
            <a:avLst/>
          </a:prstGeom>
          <a:solidFill>
            <a:srgbClr val="26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5458968" y="2871215"/>
            <a:ext cx="310896" cy="283464"/>
          </a:xfrm>
          <a:prstGeom prst="rect">
            <a:avLst/>
          </a:prstGeom>
          <a:solidFill>
            <a:srgbClr val="26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5815583" y="2871215"/>
            <a:ext cx="310896" cy="283464"/>
          </a:xfrm>
          <a:prstGeom prst="rect">
            <a:avLst/>
          </a:prstGeom>
          <a:solidFill>
            <a:srgbClr val="26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172200" y="2871215"/>
            <a:ext cx="310896" cy="283464"/>
          </a:xfrm>
          <a:prstGeom prst="rect">
            <a:avLst/>
          </a:prstGeom>
          <a:solidFill>
            <a:srgbClr val="26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6528816" y="2871215"/>
            <a:ext cx="310896" cy="283464"/>
          </a:xfrm>
          <a:prstGeom prst="rect">
            <a:avLst/>
          </a:prstGeom>
          <a:solidFill>
            <a:srgbClr val="26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885431" y="2871215"/>
            <a:ext cx="310896" cy="283464"/>
          </a:xfrm>
          <a:prstGeom prst="rect">
            <a:avLst/>
          </a:prstGeom>
          <a:solidFill>
            <a:srgbClr val="26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242048" y="2871215"/>
            <a:ext cx="310896" cy="283464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4389120" y="3200400"/>
            <a:ext cx="310896" cy="283464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745736" y="3200400"/>
            <a:ext cx="310896" cy="283464"/>
          </a:xfrm>
          <a:prstGeom prst="rect">
            <a:avLst/>
          </a:prstGeom>
          <a:solidFill>
            <a:srgbClr val="26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5102352" y="3200400"/>
            <a:ext cx="310896" cy="283464"/>
          </a:xfrm>
          <a:prstGeom prst="rect">
            <a:avLst/>
          </a:prstGeom>
          <a:solidFill>
            <a:srgbClr val="26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5458968" y="3200400"/>
            <a:ext cx="310896" cy="283464"/>
          </a:xfrm>
          <a:prstGeom prst="rect">
            <a:avLst/>
          </a:prstGeom>
          <a:solidFill>
            <a:srgbClr val="26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5815583" y="3200400"/>
            <a:ext cx="310896" cy="283464"/>
          </a:xfrm>
          <a:prstGeom prst="rect">
            <a:avLst/>
          </a:prstGeom>
          <a:solidFill>
            <a:srgbClr val="26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6172200" y="3200400"/>
            <a:ext cx="310896" cy="283464"/>
          </a:xfrm>
          <a:prstGeom prst="rect">
            <a:avLst/>
          </a:prstGeom>
          <a:solidFill>
            <a:srgbClr val="26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6528816" y="3200400"/>
            <a:ext cx="310896" cy="283464"/>
          </a:xfrm>
          <a:prstGeom prst="rect">
            <a:avLst/>
          </a:prstGeom>
          <a:solidFill>
            <a:srgbClr val="26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6885431" y="3200400"/>
            <a:ext cx="310896" cy="283464"/>
          </a:xfrm>
          <a:prstGeom prst="rect">
            <a:avLst/>
          </a:prstGeom>
          <a:solidFill>
            <a:srgbClr val="26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7242048" y="3200400"/>
            <a:ext cx="310896" cy="283464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4389120" y="3529584"/>
            <a:ext cx="310896" cy="283464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4745736" y="3529584"/>
            <a:ext cx="310896" cy="283464"/>
          </a:xfrm>
          <a:prstGeom prst="rect">
            <a:avLst/>
          </a:prstGeom>
          <a:solidFill>
            <a:srgbClr val="26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5102352" y="3529584"/>
            <a:ext cx="310896" cy="283464"/>
          </a:xfrm>
          <a:prstGeom prst="rect">
            <a:avLst/>
          </a:prstGeom>
          <a:solidFill>
            <a:srgbClr val="26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5458968" y="3529584"/>
            <a:ext cx="310896" cy="283464"/>
          </a:xfrm>
          <a:prstGeom prst="rect">
            <a:avLst/>
          </a:prstGeom>
          <a:solidFill>
            <a:srgbClr val="26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5815583" y="3529584"/>
            <a:ext cx="310896" cy="283464"/>
          </a:xfrm>
          <a:prstGeom prst="rect">
            <a:avLst/>
          </a:prstGeom>
          <a:solidFill>
            <a:srgbClr val="FFC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6172200" y="3529584"/>
            <a:ext cx="310896" cy="283464"/>
          </a:xfrm>
          <a:prstGeom prst="rect">
            <a:avLst/>
          </a:prstGeom>
          <a:solidFill>
            <a:srgbClr val="FFC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6528816" y="3529584"/>
            <a:ext cx="310896" cy="283464"/>
          </a:xfrm>
          <a:prstGeom prst="rect">
            <a:avLst/>
          </a:prstGeom>
          <a:solidFill>
            <a:srgbClr val="26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6885431" y="3529584"/>
            <a:ext cx="310896" cy="283464"/>
          </a:xfrm>
          <a:prstGeom prst="rect">
            <a:avLst/>
          </a:prstGeom>
          <a:solidFill>
            <a:srgbClr val="26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7242048" y="3529584"/>
            <a:ext cx="310896" cy="283464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4389120" y="3858768"/>
            <a:ext cx="310896" cy="283464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4745736" y="3858768"/>
            <a:ext cx="310896" cy="283464"/>
          </a:xfrm>
          <a:prstGeom prst="rect">
            <a:avLst/>
          </a:prstGeom>
          <a:solidFill>
            <a:srgbClr val="26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5102352" y="3858768"/>
            <a:ext cx="310896" cy="283464"/>
          </a:xfrm>
          <a:prstGeom prst="rect">
            <a:avLst/>
          </a:prstGeom>
          <a:solidFill>
            <a:srgbClr val="26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5458968" y="3858768"/>
            <a:ext cx="310896" cy="283464"/>
          </a:xfrm>
          <a:prstGeom prst="rect">
            <a:avLst/>
          </a:prstGeom>
          <a:solidFill>
            <a:srgbClr val="26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815583" y="3858768"/>
            <a:ext cx="310896" cy="283464"/>
          </a:xfrm>
          <a:prstGeom prst="rect">
            <a:avLst/>
          </a:prstGeom>
          <a:solidFill>
            <a:srgbClr val="FFC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6172200" y="3858768"/>
            <a:ext cx="310896" cy="283464"/>
          </a:xfrm>
          <a:prstGeom prst="rect">
            <a:avLst/>
          </a:prstGeom>
          <a:solidFill>
            <a:srgbClr val="FFC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6528816" y="3858768"/>
            <a:ext cx="310896" cy="283464"/>
          </a:xfrm>
          <a:prstGeom prst="rect">
            <a:avLst/>
          </a:prstGeom>
          <a:solidFill>
            <a:srgbClr val="26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6885431" y="3858768"/>
            <a:ext cx="310896" cy="283464"/>
          </a:xfrm>
          <a:prstGeom prst="rect">
            <a:avLst/>
          </a:prstGeom>
          <a:solidFill>
            <a:srgbClr val="26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7242048" y="3858768"/>
            <a:ext cx="310896" cy="283464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4389120" y="4187952"/>
            <a:ext cx="310896" cy="283464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4745736" y="4187952"/>
            <a:ext cx="310896" cy="283464"/>
          </a:xfrm>
          <a:prstGeom prst="rect">
            <a:avLst/>
          </a:prstGeom>
          <a:solidFill>
            <a:srgbClr val="26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5102352" y="4187952"/>
            <a:ext cx="310896" cy="283464"/>
          </a:xfrm>
          <a:prstGeom prst="rect">
            <a:avLst/>
          </a:prstGeom>
          <a:solidFill>
            <a:srgbClr val="26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5458968" y="4187952"/>
            <a:ext cx="310896" cy="283464"/>
          </a:xfrm>
          <a:prstGeom prst="rect">
            <a:avLst/>
          </a:prstGeom>
          <a:solidFill>
            <a:srgbClr val="26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5815583" y="4187952"/>
            <a:ext cx="310896" cy="283464"/>
          </a:xfrm>
          <a:prstGeom prst="rect">
            <a:avLst/>
          </a:prstGeom>
          <a:solidFill>
            <a:srgbClr val="26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6172200" y="4187952"/>
            <a:ext cx="310896" cy="283464"/>
          </a:xfrm>
          <a:prstGeom prst="rect">
            <a:avLst/>
          </a:prstGeom>
          <a:solidFill>
            <a:srgbClr val="26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6528816" y="4187952"/>
            <a:ext cx="310896" cy="283464"/>
          </a:xfrm>
          <a:prstGeom prst="rect">
            <a:avLst/>
          </a:prstGeom>
          <a:solidFill>
            <a:srgbClr val="26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6885431" y="4187952"/>
            <a:ext cx="310896" cy="283464"/>
          </a:xfrm>
          <a:prstGeom prst="rect">
            <a:avLst/>
          </a:prstGeom>
          <a:solidFill>
            <a:srgbClr val="26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7242048" y="4187952"/>
            <a:ext cx="310896" cy="283464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389120" y="4517136"/>
            <a:ext cx="310896" cy="283464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745736" y="4517136"/>
            <a:ext cx="310896" cy="283464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5102352" y="4517136"/>
            <a:ext cx="310896" cy="283464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5458968" y="4517136"/>
            <a:ext cx="310896" cy="283464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5815583" y="4517136"/>
            <a:ext cx="310896" cy="283464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6172200" y="4517136"/>
            <a:ext cx="310896" cy="283464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6528816" y="4517136"/>
            <a:ext cx="310896" cy="283464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6885431" y="4517136"/>
            <a:ext cx="310896" cy="283464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7242048" y="4517136"/>
            <a:ext cx="310896" cy="283464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4389120" y="507492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4F7FC"/>
                </a:solidFill>
                <a:latin typeface="Noto Sans CJK SC"/>
              </a:defRPr>
            </a:pPr>
            <a:r>
              <a:t>累计 3 次空闲证据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8229600" y="1865376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42D5BB"/>
                </a:solidFill>
                <a:latin typeface="Noto Sans CJK SC"/>
              </a:defRPr>
            </a:pPr>
            <a:r>
              <a:t>派生地图恢复通路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8229600" y="2542032"/>
            <a:ext cx="310896" cy="283464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8586216" y="2542032"/>
            <a:ext cx="310896" cy="283464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8942832" y="2542032"/>
            <a:ext cx="310896" cy="283464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9299448" y="2542032"/>
            <a:ext cx="310896" cy="283464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9656064" y="2542032"/>
            <a:ext cx="310896" cy="283464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10012680" y="2542032"/>
            <a:ext cx="310896" cy="283464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10369296" y="2542032"/>
            <a:ext cx="310896" cy="283464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10725912" y="2542032"/>
            <a:ext cx="310896" cy="283464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11082528" y="2542032"/>
            <a:ext cx="310896" cy="283464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8229600" y="2871215"/>
            <a:ext cx="310896" cy="283464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8586216" y="2871215"/>
            <a:ext cx="310896" cy="283464"/>
          </a:xfrm>
          <a:prstGeom prst="rect">
            <a:avLst/>
          </a:prstGeom>
          <a:solidFill>
            <a:srgbClr val="26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8942832" y="2871215"/>
            <a:ext cx="310896" cy="283464"/>
          </a:xfrm>
          <a:prstGeom prst="rect">
            <a:avLst/>
          </a:prstGeom>
          <a:solidFill>
            <a:srgbClr val="26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9299448" y="2871215"/>
            <a:ext cx="310896" cy="283464"/>
          </a:xfrm>
          <a:prstGeom prst="rect">
            <a:avLst/>
          </a:prstGeom>
          <a:solidFill>
            <a:srgbClr val="26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9656064" y="2871215"/>
            <a:ext cx="310896" cy="283464"/>
          </a:xfrm>
          <a:prstGeom prst="rect">
            <a:avLst/>
          </a:prstGeom>
          <a:solidFill>
            <a:srgbClr val="26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10012680" y="2871215"/>
            <a:ext cx="310896" cy="283464"/>
          </a:xfrm>
          <a:prstGeom prst="rect">
            <a:avLst/>
          </a:prstGeom>
          <a:solidFill>
            <a:srgbClr val="26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10369296" y="2871215"/>
            <a:ext cx="310896" cy="283464"/>
          </a:xfrm>
          <a:prstGeom prst="rect">
            <a:avLst/>
          </a:prstGeom>
          <a:solidFill>
            <a:srgbClr val="26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10725912" y="2871215"/>
            <a:ext cx="310896" cy="283464"/>
          </a:xfrm>
          <a:prstGeom prst="rect">
            <a:avLst/>
          </a:prstGeom>
          <a:solidFill>
            <a:srgbClr val="26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11082528" y="2871215"/>
            <a:ext cx="310896" cy="283464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8229600" y="3200400"/>
            <a:ext cx="310896" cy="283464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8586216" y="3200400"/>
            <a:ext cx="310896" cy="283464"/>
          </a:xfrm>
          <a:prstGeom prst="rect">
            <a:avLst/>
          </a:prstGeom>
          <a:solidFill>
            <a:srgbClr val="26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8942832" y="3200400"/>
            <a:ext cx="310896" cy="283464"/>
          </a:xfrm>
          <a:prstGeom prst="rect">
            <a:avLst/>
          </a:prstGeom>
          <a:solidFill>
            <a:srgbClr val="26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9299448" y="3200400"/>
            <a:ext cx="310896" cy="283464"/>
          </a:xfrm>
          <a:prstGeom prst="rect">
            <a:avLst/>
          </a:prstGeom>
          <a:solidFill>
            <a:srgbClr val="26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9656064" y="3200400"/>
            <a:ext cx="310896" cy="283464"/>
          </a:xfrm>
          <a:prstGeom prst="rect">
            <a:avLst/>
          </a:prstGeom>
          <a:solidFill>
            <a:srgbClr val="26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10012680" y="3200400"/>
            <a:ext cx="310896" cy="283464"/>
          </a:xfrm>
          <a:prstGeom prst="rect">
            <a:avLst/>
          </a:prstGeom>
          <a:solidFill>
            <a:srgbClr val="26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10369296" y="3200400"/>
            <a:ext cx="310896" cy="283464"/>
          </a:xfrm>
          <a:prstGeom prst="rect">
            <a:avLst/>
          </a:prstGeom>
          <a:solidFill>
            <a:srgbClr val="26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10725912" y="3200400"/>
            <a:ext cx="310896" cy="283464"/>
          </a:xfrm>
          <a:prstGeom prst="rect">
            <a:avLst/>
          </a:prstGeom>
          <a:solidFill>
            <a:srgbClr val="26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11082528" y="3200400"/>
            <a:ext cx="310896" cy="283464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8229600" y="3529584"/>
            <a:ext cx="310896" cy="283464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8586216" y="3529584"/>
            <a:ext cx="310896" cy="283464"/>
          </a:xfrm>
          <a:prstGeom prst="rect">
            <a:avLst/>
          </a:prstGeom>
          <a:solidFill>
            <a:srgbClr val="26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8942832" y="3529584"/>
            <a:ext cx="310896" cy="283464"/>
          </a:xfrm>
          <a:prstGeom prst="rect">
            <a:avLst/>
          </a:prstGeom>
          <a:solidFill>
            <a:srgbClr val="26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9299448" y="3529584"/>
            <a:ext cx="310896" cy="283464"/>
          </a:xfrm>
          <a:prstGeom prst="rect">
            <a:avLst/>
          </a:prstGeom>
          <a:solidFill>
            <a:srgbClr val="26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9656064" y="3529584"/>
            <a:ext cx="310896" cy="283464"/>
          </a:xfrm>
          <a:prstGeom prst="rect">
            <a:avLst/>
          </a:prstGeom>
          <a:solidFill>
            <a:srgbClr val="42D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10012680" y="3529584"/>
            <a:ext cx="310896" cy="283464"/>
          </a:xfrm>
          <a:prstGeom prst="rect">
            <a:avLst/>
          </a:prstGeom>
          <a:solidFill>
            <a:srgbClr val="42D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10369296" y="3529584"/>
            <a:ext cx="310896" cy="283464"/>
          </a:xfrm>
          <a:prstGeom prst="rect">
            <a:avLst/>
          </a:prstGeom>
          <a:solidFill>
            <a:srgbClr val="26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10725912" y="3529584"/>
            <a:ext cx="310896" cy="283464"/>
          </a:xfrm>
          <a:prstGeom prst="rect">
            <a:avLst/>
          </a:prstGeom>
          <a:solidFill>
            <a:srgbClr val="26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11082528" y="3529584"/>
            <a:ext cx="310896" cy="283464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8229600" y="3858768"/>
            <a:ext cx="310896" cy="283464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8586216" y="3858768"/>
            <a:ext cx="310896" cy="283464"/>
          </a:xfrm>
          <a:prstGeom prst="rect">
            <a:avLst/>
          </a:prstGeom>
          <a:solidFill>
            <a:srgbClr val="26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8942832" y="3858768"/>
            <a:ext cx="310896" cy="283464"/>
          </a:xfrm>
          <a:prstGeom prst="rect">
            <a:avLst/>
          </a:prstGeom>
          <a:solidFill>
            <a:srgbClr val="26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9299448" y="3858768"/>
            <a:ext cx="310896" cy="283464"/>
          </a:xfrm>
          <a:prstGeom prst="rect">
            <a:avLst/>
          </a:prstGeom>
          <a:solidFill>
            <a:srgbClr val="26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9656064" y="3858768"/>
            <a:ext cx="310896" cy="283464"/>
          </a:xfrm>
          <a:prstGeom prst="rect">
            <a:avLst/>
          </a:prstGeom>
          <a:solidFill>
            <a:srgbClr val="42D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10012680" y="3858768"/>
            <a:ext cx="310896" cy="283464"/>
          </a:xfrm>
          <a:prstGeom prst="rect">
            <a:avLst/>
          </a:prstGeom>
          <a:solidFill>
            <a:srgbClr val="42D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10369296" y="3858768"/>
            <a:ext cx="310896" cy="283464"/>
          </a:xfrm>
          <a:prstGeom prst="rect">
            <a:avLst/>
          </a:prstGeom>
          <a:solidFill>
            <a:srgbClr val="26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10725912" y="3858768"/>
            <a:ext cx="310896" cy="283464"/>
          </a:xfrm>
          <a:prstGeom prst="rect">
            <a:avLst/>
          </a:prstGeom>
          <a:solidFill>
            <a:srgbClr val="26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11082528" y="3858768"/>
            <a:ext cx="310896" cy="283464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229600" y="4187952"/>
            <a:ext cx="310896" cy="283464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86216" y="4187952"/>
            <a:ext cx="310896" cy="283464"/>
          </a:xfrm>
          <a:prstGeom prst="rect">
            <a:avLst/>
          </a:prstGeom>
          <a:solidFill>
            <a:srgbClr val="26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942832" y="4187952"/>
            <a:ext cx="310896" cy="283464"/>
          </a:xfrm>
          <a:prstGeom prst="rect">
            <a:avLst/>
          </a:prstGeom>
          <a:solidFill>
            <a:srgbClr val="26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9299448" y="4187952"/>
            <a:ext cx="310896" cy="283464"/>
          </a:xfrm>
          <a:prstGeom prst="rect">
            <a:avLst/>
          </a:prstGeom>
          <a:solidFill>
            <a:srgbClr val="26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9656064" y="4187952"/>
            <a:ext cx="310896" cy="283464"/>
          </a:xfrm>
          <a:prstGeom prst="rect">
            <a:avLst/>
          </a:prstGeom>
          <a:solidFill>
            <a:srgbClr val="26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10012680" y="4187952"/>
            <a:ext cx="310896" cy="283464"/>
          </a:xfrm>
          <a:prstGeom prst="rect">
            <a:avLst/>
          </a:prstGeom>
          <a:solidFill>
            <a:srgbClr val="26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10369296" y="4187952"/>
            <a:ext cx="310896" cy="283464"/>
          </a:xfrm>
          <a:prstGeom prst="rect">
            <a:avLst/>
          </a:prstGeom>
          <a:solidFill>
            <a:srgbClr val="26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10725912" y="4187952"/>
            <a:ext cx="310896" cy="283464"/>
          </a:xfrm>
          <a:prstGeom prst="rect">
            <a:avLst/>
          </a:prstGeom>
          <a:solidFill>
            <a:srgbClr val="26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11082528" y="4187952"/>
            <a:ext cx="310896" cy="283464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8229600" y="4517136"/>
            <a:ext cx="310896" cy="283464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8586216" y="4517136"/>
            <a:ext cx="310896" cy="283464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8942832" y="4517136"/>
            <a:ext cx="310896" cy="283464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9299448" y="4517136"/>
            <a:ext cx="310896" cy="283464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9656064" y="4517136"/>
            <a:ext cx="310896" cy="283464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10012680" y="4517136"/>
            <a:ext cx="310896" cy="283464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10369296" y="4517136"/>
            <a:ext cx="310896" cy="283464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10725912" y="4517136"/>
            <a:ext cx="310896" cy="283464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11082528" y="4517136"/>
            <a:ext cx="310896" cy="283464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8229600" y="507492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4F7FC"/>
                </a:solidFill>
                <a:latin typeface="Noto Sans CJK SC"/>
              </a:defRPr>
            </a:pPr>
            <a:r>
              <a:t>清理旧位；新位仍避障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59436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FFC466"/>
                </a:solidFill>
                <a:latin typeface="Noto Sans CJK SC"/>
              </a:defRPr>
            </a:pPr>
            <a:r>
              <a:t>限定区域  +  多次扫描证据  +  保留结构墙  +  实时代价层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2D5BB"/>
                </a:solidFill>
                <a:latin typeface="Noto Sans CJK SC"/>
              </a:defRPr>
            </a:pPr>
            <a:r>
              <a:t>AVS  /  救援无人车 · 特色创新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0080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4F7FC"/>
                </a:solidFill>
                <a:latin typeface="Noto Sans CJK SC"/>
              </a:defRPr>
            </a:pPr>
            <a:r>
              <a:t>04  轻量 YOLOv5 与多级稳定确认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A6B7CE"/>
                </a:solidFill>
                <a:latin typeface="Noto Sans CJK SC"/>
              </a:defRPr>
            </a:pPr>
            <a:r>
              <a:t>创新重点：从“颜色像目标”走向“图案、边界与时序共同可信”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28232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A6B7CE"/>
                </a:solidFill>
                <a:latin typeface="Noto Sans CJK SC"/>
              </a:defRPr>
            </a:pPr>
            <a:r>
              <a:t>来源：权重 hazard_yolov5.json；yolov5_detector.py、panel_geometry.py、hazard_tracker.py；历史问题见学习指南。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2D5BB"/>
                </a:solidFill>
                <a:latin typeface="Noto Sans CJK SC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3657600" cy="2606040"/>
          </a:xfrm>
          <a:prstGeom prst="roundRect">
            <a:avLst/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1284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42D5BB"/>
                </a:solidFill>
                <a:latin typeface="Noto Sans CJK SC"/>
              </a:defRPr>
            </a:pPr>
            <a:r>
              <a:t>历史问题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70632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4F7FC"/>
                </a:solidFill>
                <a:latin typeface="Noto Sans CJK SC"/>
              </a:defRPr>
            </a:pPr>
            <a:r>
              <a:t>黄色车身 → RADIATION</a:t>
            </a:r>
          </a:p>
          <a:p>
            <a:pPr>
              <a:defRPr sz="1800" b="0">
                <a:solidFill>
                  <a:srgbClr val="F4F7FC"/>
                </a:solidFill>
                <a:latin typeface="Noto Sans CJK SC"/>
              </a:defRPr>
            </a:pPr>
            <a:r>
              <a:t>蓝色起点 → ELECTRICAL</a:t>
            </a:r>
          </a:p>
          <a:p>
            <a:pPr>
              <a:defRPr sz="1800" b="0">
                <a:solidFill>
                  <a:srgbClr val="F4F7FC"/>
                </a:solidFill>
                <a:latin typeface="Noto Sans CJK SC"/>
              </a:defRPr>
            </a:pPr>
            <a:r>
              <a:t>红色箱体 → FIRE</a:t>
            </a:r>
          </a:p>
          <a:p>
            <a:pPr>
              <a:defRPr sz="1800" b="0">
                <a:solidFill>
                  <a:srgbClr val="F4F7FC"/>
                </a:solidFill>
                <a:latin typeface="Noto Sans CJK SC"/>
              </a:defRPr>
            </a:pPr>
            <a:r>
              <a:t>候选框过大 / 在候选间跳变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011680"/>
            <a:ext cx="3657600" cy="2606040"/>
          </a:xfrm>
          <a:prstGeom prst="roundRect">
            <a:avLst/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221284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42D5BB"/>
                </a:solidFill>
                <a:latin typeface="Noto Sans CJK SC"/>
              </a:defRPr>
            </a:pPr>
            <a:r>
              <a:t>针对性改进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770632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4F7FC"/>
                </a:solidFill>
                <a:latin typeface="Noto Sans CJK SC"/>
              </a:defRPr>
            </a:pPr>
            <a:r>
              <a:t>同色物体与空场景负例</a:t>
            </a:r>
          </a:p>
          <a:p>
            <a:pPr>
              <a:defRPr sz="1800" b="0">
                <a:solidFill>
                  <a:srgbClr val="F4F7FC"/>
                </a:solidFill>
                <a:latin typeface="Noto Sans CJK SC"/>
              </a:defRPr>
            </a:pPr>
            <a:r>
              <a:t>轻量三尺度检测，320 输入</a:t>
            </a:r>
          </a:p>
          <a:p>
            <a:pPr>
              <a:defRPr sz="1800" b="0">
                <a:solidFill>
                  <a:srgbClr val="F4F7FC"/>
                </a:solidFill>
                <a:latin typeface="Noto Sans CJK SC"/>
              </a:defRPr>
            </a:pPr>
            <a:r>
              <a:t>图案核验 + 面板轮廓拟合</a:t>
            </a:r>
          </a:p>
          <a:p>
            <a:pPr>
              <a:defRPr sz="1800" b="0">
                <a:solidFill>
                  <a:srgbClr val="F4F7FC"/>
                </a:solidFill>
                <a:latin typeface="Noto Sans CJK SC"/>
              </a:defRPr>
            </a:pPr>
            <a:r>
              <a:t>空间关联 + 连续 3 帧确认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011680"/>
            <a:ext cx="3657600" cy="2606040"/>
          </a:xfrm>
          <a:prstGeom prst="roundRect">
            <a:avLst/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21284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42D5BB"/>
                </a:solidFill>
                <a:latin typeface="Noto Sans CJK SC"/>
              </a:defRPr>
            </a:pPr>
            <a:r>
              <a:t>本组贡献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770632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4F7FC"/>
                </a:solidFill>
                <a:latin typeface="Noto Sans CJK SC"/>
              </a:defRPr>
            </a:pPr>
            <a:r>
              <a:t>比赛图案训练与数据增强</a:t>
            </a:r>
          </a:p>
          <a:p>
            <a:pPr>
              <a:defRPr sz="1800" b="0">
                <a:solidFill>
                  <a:srgbClr val="F4F7FC"/>
                </a:solidFill>
                <a:latin typeface="Noto Sans CJK SC"/>
              </a:defRPr>
            </a:pPr>
            <a:r>
              <a:t>几何边界与时序验证链</a:t>
            </a:r>
          </a:p>
          <a:p>
            <a:pPr>
              <a:defRPr sz="1800" b="0">
                <a:solidFill>
                  <a:srgbClr val="F4F7FC"/>
                </a:solidFill>
                <a:latin typeface="Noto Sans CJK SC"/>
              </a:defRPr>
            </a:pPr>
            <a:r>
              <a:t>检测、显示和任务事件集成</a:t>
            </a:r>
          </a:p>
          <a:p>
            <a:pPr>
              <a:defRPr sz="1800" b="0">
                <a:solidFill>
                  <a:srgbClr val="F4F7FC"/>
                </a:solidFill>
                <a:latin typeface="Noto Sans CJK SC"/>
              </a:defRPr>
            </a:pPr>
            <a:r>
              <a:t>面向比赛场景的工程创新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120640"/>
            <a:ext cx="2066544" cy="731520"/>
          </a:xfrm>
          <a:prstGeom prst="roundRect">
            <a:avLst/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239512"/>
            <a:ext cx="18470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42D5BB"/>
                </a:solidFill>
                <a:latin typeface="Noto Sans CJK SC"/>
              </a:defRPr>
            </a:pPr>
            <a:r>
              <a:t>YOLO 候选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23744" y="53035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7FC"/>
                </a:solidFill>
                <a:latin typeface="Noto Sans CJK SC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52344" y="5120640"/>
            <a:ext cx="2066544" cy="731520"/>
          </a:xfrm>
          <a:prstGeom prst="roundRect">
            <a:avLst/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62072" y="5239512"/>
            <a:ext cx="18470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42D5BB"/>
                </a:solidFill>
                <a:latin typeface="Noto Sans CJK SC"/>
              </a:defRPr>
            </a:pPr>
            <a:r>
              <a:t>图案核验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18888" y="53035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7FC"/>
                </a:solidFill>
                <a:latin typeface="Noto Sans CJK SC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47488" y="5120640"/>
            <a:ext cx="2066544" cy="731520"/>
          </a:xfrm>
          <a:prstGeom prst="roundRect">
            <a:avLst/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57216" y="5239512"/>
            <a:ext cx="18470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42D5BB"/>
                </a:solidFill>
                <a:latin typeface="Noto Sans CJK SC"/>
              </a:defRPr>
            </a:pPr>
            <a:r>
              <a:t>牌边拟合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14032" y="53035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7FC"/>
                </a:solidFill>
                <a:latin typeface="Noto Sans CJK SC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42632" y="5120640"/>
            <a:ext cx="2066544" cy="731520"/>
          </a:xfrm>
          <a:prstGeom prst="roundRect">
            <a:avLst/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52360" y="5239512"/>
            <a:ext cx="18470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42D5BB"/>
                </a:solidFill>
                <a:latin typeface="Noto Sans CJK SC"/>
              </a:defRPr>
            </a:pPr>
            <a:r>
              <a:t>跨帧关联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09176" y="53035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7FC"/>
                </a:solidFill>
                <a:latin typeface="Noto Sans CJK SC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37776" y="5120640"/>
            <a:ext cx="2066544" cy="731520"/>
          </a:xfrm>
          <a:prstGeom prst="roundRect">
            <a:avLst/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47504" y="5239512"/>
            <a:ext cx="18470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42D5BB"/>
                </a:solidFill>
                <a:latin typeface="Noto Sans CJK SC"/>
              </a:defRPr>
            </a:pPr>
            <a:r>
              <a:t>确认事件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989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A6B7CE"/>
                </a:solidFill>
                <a:latin typeface="Noto Sans CJK SC"/>
              </a:defRPr>
            </a:pPr>
            <a:r>
              <a:t>YOLOv5 为现有架构；特色在于训练与验证链的场景化改进。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2D5BB"/>
                </a:solidFill>
                <a:latin typeface="Noto Sans CJK SC"/>
              </a:defRPr>
            </a:pPr>
            <a:r>
              <a:t>AVS  /  救援无人车 · 特色创新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0080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4F7FC"/>
                </a:solidFill>
                <a:latin typeface="Noto Sans CJK SC"/>
              </a:defRPr>
            </a:pPr>
            <a:r>
              <a:t>04  验收画面拼图：五类识别与同色干扰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A6B7CE"/>
                </a:solidFill>
                <a:latin typeface="Noto Sans CJK SC"/>
              </a:defRPr>
            </a:pPr>
            <a:r>
              <a:t>将 acceptance 中的实际图片缩小拼接，集中展示识别结果与复杂背景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28232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A6B7CE"/>
                </a:solidFill>
                <a:latin typeface="Noto Sans CJK SC"/>
              </a:defRPr>
            </a:pPr>
            <a:r>
              <a:t>来源：acceptance/recording_yolov5_smac_v19/evidence；各帧编号见拼图。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2D5BB"/>
                </a:solidFill>
                <a:latin typeface="Noto Sans CJK SC"/>
              </a:defRPr>
            </a:pPr>
            <a:r>
              <a:t>06</a:t>
            </a:r>
          </a:p>
        </p:txBody>
      </p:sp>
      <p:pic>
        <p:nvPicPr>
          <p:cNvPr id="7" name="Picture 6" descr="YOLOv5识别与同色干扰拼图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1055" y="1801368"/>
            <a:ext cx="8979408" cy="448970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2D5BB"/>
                </a:solidFill>
                <a:latin typeface="Noto Sans CJK SC"/>
              </a:defRPr>
            </a:pPr>
            <a:r>
              <a:t>AVS  /  救援无人车 · 特色创新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0080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4F7FC"/>
                </a:solidFill>
                <a:latin typeface="Noto Sans CJK SC"/>
              </a:defRPr>
            </a:pPr>
            <a:r>
              <a:t>创新落地：用同一次验收证明完整流程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A6B7CE"/>
                </a:solidFill>
                <a:latin typeface="Noto Sans CJK SC"/>
              </a:defRPr>
            </a:pPr>
            <a:r>
              <a:t>感知 → 清障 → 入室定位 → 自主返航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28232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A6B7CE"/>
                </a:solidFill>
                <a:latin typeface="Noto Sans CJK SC"/>
              </a:defRPr>
            </a:pPr>
            <a:r>
              <a:t>来源：v19/evidence/evaluation.json；模型指标来自当前权重 JSON，两类证据分开引用。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2D5BB"/>
                </a:solidFill>
                <a:latin typeface="Noto Sans CJK SC"/>
              </a:defRPr>
            </a:pPr>
            <a: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57400"/>
            <a:ext cx="2743200" cy="1645920"/>
          </a:xfrm>
          <a:prstGeom prst="roundRect">
            <a:avLst/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237744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2D5BB"/>
                </a:solidFill>
                <a:latin typeface="Noto Sans CJK SC"/>
              </a:defRPr>
            </a:pPr>
            <a:r>
              <a:t>5 /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309067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7FC"/>
                </a:solidFill>
                <a:latin typeface="Noto Sans CJK SC"/>
              </a:defRPr>
            </a:pPr>
            <a:r>
              <a:t>走廊类别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2057400"/>
            <a:ext cx="2743200" cy="1645920"/>
          </a:xfrm>
          <a:prstGeom prst="roundRect">
            <a:avLst/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02152" y="237744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2D5BB"/>
                </a:solidFill>
                <a:latin typeface="Noto Sans CJK SC"/>
              </a:defRPr>
            </a:pPr>
            <a:r>
              <a:t>4 /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2152" y="309067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7FC"/>
                </a:solidFill>
                <a:latin typeface="Noto Sans CJK SC"/>
              </a:defRPr>
            </a:pPr>
            <a:r>
              <a:t>核心 AprilTag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057400"/>
            <a:ext cx="2743200" cy="1645920"/>
          </a:xfrm>
          <a:prstGeom prst="roundRect">
            <a:avLst/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237744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2D5BB"/>
                </a:solidFill>
                <a:latin typeface="Noto Sans CJK SC"/>
              </a:defRPr>
            </a:pPr>
            <a:r>
              <a:t>0.9749 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309067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7FC"/>
                </a:solidFill>
                <a:latin typeface="Noto Sans CJK SC"/>
              </a:defRPr>
            </a:pPr>
            <a:r>
              <a:t>箱体实际位移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2057400"/>
            <a:ext cx="2743200" cy="1645920"/>
          </a:xfrm>
          <a:prstGeom prst="roundRect">
            <a:avLst/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62872" y="237744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2D5BB"/>
                </a:solidFill>
                <a:latin typeface="Noto Sans CJK SC"/>
              </a:defRPr>
            </a:pPr>
            <a:r>
              <a:t>3.19 cm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62872" y="309067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7FC"/>
                </a:solidFill>
                <a:latin typeface="Noto Sans CJK SC"/>
              </a:defRPr>
            </a:pPr>
            <a:r>
              <a:t>返航误差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069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4F7FC"/>
                </a:solidFill>
                <a:latin typeface="Noto Sans CJK SC"/>
              </a:defRPr>
            </a:pPr>
            <a:r>
              <a:t>独立合成验证：Precision 85.62%  /  Recall 70.81%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709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A6B7CE"/>
                </a:solidFill>
                <a:latin typeface="Noto Sans CJK SC"/>
              </a:defRPr>
            </a:pPr>
            <a:r>
              <a:t>160 张验证图；IoU ≥ 0.50；置信度 0.45；59 张无目标图中 2 张误报。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6235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FFC466"/>
                </a:solidFill>
                <a:latin typeface="Noto Sans CJK SC"/>
              </a:defRPr>
            </a:pPr>
            <a:r>
              <a:t>特色创新：主动观察、受约束接触、局部地图修正、视觉多级核验。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